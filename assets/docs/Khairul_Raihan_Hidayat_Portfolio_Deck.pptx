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645920"/>
            <a:ext cx="73152" cy="3474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645920"/>
            <a:ext cx="6858000" cy="3657600"/>
          </a:xfrm>
          <a:prstGeom prst="rect">
            <a:avLst/>
          </a:prstGeom>
          <a:noFill/>
        </p:spPr>
        <p:txBody>
          <a:bodyPr wrap="square" lIns="0" tIns="0" rIns="0" bIns="0">
            <a:spAutoFit/>
          </a:bodyPr>
          <a:lstStyle/>
          <a:p>
            <a:pPr>
              <a:spcAft>
                <a:spcPts val="1000"/>
              </a:spcAft>
              <a:defRPr sz="1000" b="1">
                <a:solidFill>
                  <a:srgbClr val="06B6D4"/>
                </a:solidFill>
                <a:latin typeface="JetBrains Mono"/>
              </a:defRPr>
            </a:pPr>
            <a:r>
              <a:t>EXECUTIVE PORTFOLIO • DATA &amp; AI ENGINEERING</a:t>
            </a:r>
          </a:p>
          <a:p>
            <a:pPr>
              <a:spcAft>
                <a:spcPts val="800"/>
              </a:spcAft>
              <a:defRPr sz="3600" b="1">
                <a:solidFill>
                  <a:srgbClr val="F8FAFC"/>
                </a:solidFill>
                <a:latin typeface="Outfit"/>
              </a:defRPr>
            </a:pPr>
            <a:r>
              <a:t>Khairul Raihan Hidayat</a:t>
            </a:r>
          </a:p>
          <a:p>
            <a:pPr>
              <a:spcAft>
                <a:spcPts val="1600"/>
              </a:spcAft>
              <a:defRPr sz="1600" b="1">
                <a:solidFill>
                  <a:srgbClr val="3B82F6"/>
                </a:solidFill>
                <a:latin typeface="Plus Jakarta Sans"/>
              </a:defRPr>
            </a:pPr>
            <a:r>
              <a:t>Data Science, Business Intelligence &amp; Agentic AI Specialist</a:t>
            </a:r>
          </a:p>
          <a:p>
            <a:pPr>
              <a:spcAft>
                <a:spcPts val="2000"/>
              </a:spcAft>
              <a:defRPr sz="1150">
                <a:solidFill>
                  <a:srgbClr val="94A3B8"/>
                </a:solidFill>
                <a:latin typeface="Plus Jakarta Sans"/>
              </a:defRPr>
            </a:pPr>
            <a:r>
              <a:t>Lulusan Sarjana Sistem Informasi (IPK 3.88 / 4.00, Magna Cum Laude) dari Universitas Budi Luhur. Fokus pada siklus analitik komprehensif: pemodelan Machine Learning (NLP), perancangan dasbor eksekutif di Tableau &amp; Looker Studio, serta orchestrasi alur kerja otonom berbasis Agentic AI (Antigravity).</a:t>
            </a:r>
          </a:p>
          <a:p>
            <a:pPr>
              <a:defRPr sz="950">
                <a:solidFill>
                  <a:srgbClr val="64748B"/>
                </a:solidFill>
                <a:latin typeface="JetBrains Mono"/>
              </a:defRPr>
            </a:pPr>
            <a:r>
              <a:t>Tangerang, Banten • khairulraihan617@gmail.com • +62 898-9518-334</a:t>
            </a:r>
          </a:p>
        </p:txBody>
      </p:sp>
      <p:sp>
        <p:nvSpPr>
          <p:cNvPr id="5" name="Rounded Rectangle 4"/>
          <p:cNvSpPr/>
          <p:nvPr/>
        </p:nvSpPr>
        <p:spPr>
          <a:xfrm>
            <a:off x="8229600" y="1371600"/>
            <a:ext cx="3200400" cy="41148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profile.jpg"/>
          <p:cNvPicPr>
            <a:picLocks noChangeAspect="1"/>
          </p:cNvPicPr>
          <p:nvPr/>
        </p:nvPicPr>
        <p:blipFill>
          <a:blip r:embed="rId2"/>
          <a:stretch>
            <a:fillRect/>
          </a:stretch>
        </p:blipFill>
        <p:spPr>
          <a:xfrm>
            <a:off x="8412480" y="1554480"/>
            <a:ext cx="2834640" cy="374903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400"/>
              </a:spcAft>
              <a:defRPr sz="950" b="1">
                <a:solidFill>
                  <a:srgbClr val="06B6D4"/>
                </a:solidFill>
                <a:latin typeface="JetBrains Mono"/>
              </a:defRPr>
            </a:pPr>
            <a:r>
              <a:t>PROFIL PROFESIONAL &amp; LANDASAN KERJA</a:t>
            </a:r>
          </a:p>
          <a:p>
            <a:pPr>
              <a:defRPr sz="2200" b="1">
                <a:solidFill>
                  <a:srgbClr val="F8FAFC"/>
                </a:solidFill>
                <a:latin typeface="Outfit"/>
              </a:defRPr>
            </a:pPr>
            <a:r>
              <a:t>Executive Summary</a:t>
            </a:r>
          </a:p>
          <a:p>
            <a:pPr>
              <a:defRPr sz="1100">
                <a:solidFill>
                  <a:srgbClr val="94A3B8"/>
                </a:solidFill>
                <a:latin typeface="Plus Jakarta Sans"/>
              </a:defRPr>
            </a:pPr>
            <a:r>
              <a:t>Sintesis kualifikasi akademis, etos analitis, dan proposisi nilai bisnis.</a:t>
            </a:r>
          </a:p>
        </p:txBody>
      </p:sp>
      <p:sp>
        <p:nvSpPr>
          <p:cNvPr id="4" name="Rounded Rectangle 3"/>
          <p:cNvSpPr/>
          <p:nvPr/>
        </p:nvSpPr>
        <p:spPr>
          <a:xfrm>
            <a:off x="731520" y="1691640"/>
            <a:ext cx="3364992" cy="438912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920240"/>
            <a:ext cx="2907792" cy="3931920"/>
          </a:xfrm>
          <a:prstGeom prst="rect">
            <a:avLst/>
          </a:prstGeom>
          <a:noFill/>
        </p:spPr>
        <p:txBody>
          <a:bodyPr wrap="square">
            <a:spAutoFit/>
          </a:bodyPr>
          <a:lstStyle/>
          <a:p>
            <a:pPr>
              <a:spcAft>
                <a:spcPts val="600"/>
              </a:spcAft>
              <a:defRPr sz="900" b="1">
                <a:solidFill>
                  <a:srgbClr val="06B6D4"/>
                </a:solidFill>
                <a:latin typeface="JetBrains Mono"/>
              </a:defRPr>
            </a:pPr>
            <a:r>
              <a:t>01 • AKADEMIS &amp; STATISTIK</a:t>
            </a:r>
          </a:p>
          <a:p>
            <a:pPr>
              <a:spcAft>
                <a:spcPts val="400"/>
              </a:spcAft>
              <a:defRPr sz="1600" b="1">
                <a:solidFill>
                  <a:srgbClr val="F8FAFC"/>
                </a:solidFill>
                <a:latin typeface="Outfit"/>
              </a:defRPr>
            </a:pPr>
            <a:r>
              <a:t>Universitas Budi Luhur</a:t>
            </a:r>
          </a:p>
          <a:p>
            <a:pPr>
              <a:spcAft>
                <a:spcPts val="1200"/>
              </a:spcAft>
              <a:defRPr sz="1100" b="1">
                <a:solidFill>
                  <a:srgbClr val="3B82F6"/>
                </a:solidFill>
                <a:latin typeface="Plus Jakarta Sans"/>
              </a:defRPr>
            </a:pPr>
            <a:r>
              <a:t>S.Kom Sistem Informasi (Data Science)</a:t>
            </a:r>
            <a:br/>
            <a:r>
              <a:t>IPK 3.88 / 4.00 (Magna Cum Laude)</a:t>
            </a:r>
          </a:p>
          <a:p>
            <a:pPr>
              <a:defRPr sz="1000">
                <a:solidFill>
                  <a:srgbClr val="94A3B8"/>
                </a:solidFill>
                <a:latin typeface="Plus Jakarta Sans"/>
              </a:defRPr>
            </a:pPr>
            <a:r>
              <a:t>• Penguasaan fondasi logika algoritma, kompleksitas komputasi, dan struktur data.</a:t>
            </a:r>
            <a:br/>
            <a:r>
              <a:t>• Pemodelan matematika &amp; statistika prediktif: Regresi, Klasifikasi Teks, dan K-Means.</a:t>
            </a:r>
            <a:br/>
            <a:r>
              <a:t>• Lulusan terbaik dengan portofolio riset komparasi algoritma NLP terpublikasi.</a:t>
            </a:r>
          </a:p>
        </p:txBody>
      </p:sp>
      <p:sp>
        <p:nvSpPr>
          <p:cNvPr id="6" name="Rounded Rectangle 5"/>
          <p:cNvSpPr/>
          <p:nvPr/>
        </p:nvSpPr>
        <p:spPr>
          <a:xfrm>
            <a:off x="4389120" y="1691640"/>
            <a:ext cx="3364992" cy="438912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617720" y="1920240"/>
            <a:ext cx="2907792" cy="3931920"/>
          </a:xfrm>
          <a:prstGeom prst="rect">
            <a:avLst/>
          </a:prstGeom>
          <a:noFill/>
        </p:spPr>
        <p:txBody>
          <a:bodyPr wrap="square">
            <a:spAutoFit/>
          </a:bodyPr>
          <a:lstStyle/>
          <a:p>
            <a:pPr>
              <a:spcAft>
                <a:spcPts val="600"/>
              </a:spcAft>
              <a:defRPr sz="900" b="1">
                <a:solidFill>
                  <a:srgbClr val="10B981"/>
                </a:solidFill>
                <a:latin typeface="JetBrains Mono"/>
              </a:defRPr>
            </a:pPr>
            <a:r>
              <a:t>02 • BUSINESS INTELLIGENCE</a:t>
            </a:r>
          </a:p>
          <a:p>
            <a:pPr>
              <a:spcAft>
                <a:spcPts val="400"/>
              </a:spcAft>
              <a:defRPr sz="1600" b="1">
                <a:solidFill>
                  <a:srgbClr val="F8FAFC"/>
                </a:solidFill>
                <a:latin typeface="Outfit"/>
              </a:defRPr>
            </a:pPr>
            <a:r>
              <a:t>Decision-Making BI</a:t>
            </a:r>
          </a:p>
          <a:p>
            <a:pPr>
              <a:spcAft>
                <a:spcPts val="1200"/>
              </a:spcAft>
              <a:defRPr sz="1100" b="1">
                <a:solidFill>
                  <a:srgbClr val="10B981"/>
                </a:solidFill>
                <a:latin typeface="Plus Jakarta Sans"/>
              </a:defRPr>
            </a:pPr>
            <a:r>
              <a:t>Tableau, SQL, Looker &amp; Excel Lanjutan</a:t>
            </a:r>
            <a:br/>
            <a:r>
              <a:t>Multi-Page Executive Dashboards</a:t>
            </a:r>
          </a:p>
          <a:p>
            <a:pPr>
              <a:defRPr sz="1000">
                <a:solidFill>
                  <a:srgbClr val="94A3B8"/>
                </a:solidFill>
                <a:latin typeface="Plus Jakarta Sans"/>
              </a:defRPr>
            </a:pPr>
            <a:r>
              <a:t>• Keahlian mendalam dalam Calculated Fields, agregasi dinamis, dan parameterisasi visual.</a:t>
            </a:r>
            <a:br/>
            <a:r>
              <a:t>• Transformasi data mentah puluhan ribu baris menjadi KPI yang actionable.</a:t>
            </a:r>
            <a:br/>
            <a:r>
              <a:t>• Visualisasi geospasial, matriks korelasi kinerja, dan pelaporan distribusi kompensasi.</a:t>
            </a:r>
          </a:p>
        </p:txBody>
      </p:sp>
      <p:sp>
        <p:nvSpPr>
          <p:cNvPr id="8" name="Rounded Rectangle 7"/>
          <p:cNvSpPr/>
          <p:nvPr/>
        </p:nvSpPr>
        <p:spPr>
          <a:xfrm>
            <a:off x="8046720" y="1691640"/>
            <a:ext cx="3364992" cy="438912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75320" y="1920240"/>
            <a:ext cx="2907792" cy="3931920"/>
          </a:xfrm>
          <a:prstGeom prst="rect">
            <a:avLst/>
          </a:prstGeom>
          <a:noFill/>
        </p:spPr>
        <p:txBody>
          <a:bodyPr wrap="square">
            <a:spAutoFit/>
          </a:bodyPr>
          <a:lstStyle/>
          <a:p>
            <a:pPr>
              <a:spcAft>
                <a:spcPts val="600"/>
              </a:spcAft>
              <a:defRPr sz="900" b="1">
                <a:solidFill>
                  <a:srgbClr val="8B5CF6"/>
                </a:solidFill>
                <a:latin typeface="JetBrains Mono"/>
              </a:defRPr>
            </a:pPr>
            <a:r>
              <a:t>03 • AGENTIC AI AUTOMATION</a:t>
            </a:r>
          </a:p>
          <a:p>
            <a:pPr>
              <a:spcAft>
                <a:spcPts val="400"/>
              </a:spcAft>
              <a:defRPr sz="1600" b="1">
                <a:solidFill>
                  <a:srgbClr val="F8FAFC"/>
                </a:solidFill>
                <a:latin typeface="Outfit"/>
              </a:defRPr>
            </a:pPr>
            <a:r>
              <a:t>Alur Kerja Otonom AI</a:t>
            </a:r>
          </a:p>
          <a:p>
            <a:pPr>
              <a:spcAft>
                <a:spcPts val="1200"/>
              </a:spcAft>
              <a:defRPr sz="1100" b="1">
                <a:solidFill>
                  <a:srgbClr val="8B5CF6"/>
                </a:solidFill>
                <a:latin typeface="Plus Jakarta Sans"/>
              </a:defRPr>
            </a:pPr>
            <a:r>
              <a:t>Antigravity, Scripting &amp; Multi-Tools</a:t>
            </a:r>
            <a:br/>
            <a:r>
              <a:t>Efisiensi Kurasi Waktu ~70%</a:t>
            </a:r>
          </a:p>
          <a:p>
            <a:pPr>
              <a:defRPr sz="1000">
                <a:solidFill>
                  <a:srgbClr val="94A3B8"/>
                </a:solidFill>
                <a:latin typeface="Plus Jakarta Sans"/>
              </a:defRPr>
            </a:pPr>
            <a:r>
              <a:t>• Desain autonomous workflow untuk membedah video panjang &amp; transkrip secara cepat.</a:t>
            </a:r>
            <a:br/>
            <a:r>
              <a:t>• Deteksi hook berpotensi retensi tinggi secara otomatis untuk kampanye konten.</a:t>
            </a:r>
            <a:br/>
            <a:r>
              <a:t>• Mengintegrasikan AI reasoning ke dalam eksekusi tugas teknis harian.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400"/>
              </a:spcAft>
              <a:defRPr sz="950" b="1">
                <a:solidFill>
                  <a:srgbClr val="06B6D4"/>
                </a:solidFill>
                <a:latin typeface="JetBrains Mono"/>
              </a:defRPr>
            </a:pPr>
            <a:r>
              <a:t>TAKSONOMI KEAHLIAN SESUAI CV</a:t>
            </a:r>
          </a:p>
          <a:p>
            <a:pPr>
              <a:defRPr sz="2200" b="1">
                <a:solidFill>
                  <a:srgbClr val="F8FAFC"/>
                </a:solidFill>
                <a:latin typeface="Outfit"/>
              </a:defRPr>
            </a:pPr>
            <a:r>
              <a:t>Core Competencies &amp; Tools Matrix</a:t>
            </a:r>
          </a:p>
          <a:p>
            <a:pPr>
              <a:defRPr sz="1100">
                <a:solidFill>
                  <a:srgbClr val="94A3B8"/>
                </a:solidFill>
                <a:latin typeface="Plus Jakarta Sans"/>
              </a:defRPr>
            </a:pPr>
            <a:r>
              <a:t>Klasifikasi keahlian teknis (Hard Skills) dan kompetensi interpersonal (Soft Skills).</a:t>
            </a:r>
          </a:p>
        </p:txBody>
      </p:sp>
      <p:sp>
        <p:nvSpPr>
          <p:cNvPr id="4" name="Rounded Rectangle 3"/>
          <p:cNvSpPr/>
          <p:nvPr/>
        </p:nvSpPr>
        <p:spPr>
          <a:xfrm>
            <a:off x="731520" y="1691640"/>
            <a:ext cx="5212080" cy="20574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783080"/>
            <a:ext cx="4846320" cy="1874520"/>
          </a:xfrm>
          <a:prstGeom prst="rect">
            <a:avLst/>
          </a:prstGeom>
          <a:noFill/>
        </p:spPr>
        <p:txBody>
          <a:bodyPr wrap="square">
            <a:spAutoFit/>
          </a:bodyPr>
          <a:lstStyle/>
          <a:p>
            <a:pPr>
              <a:spcAft>
                <a:spcPts val="600"/>
              </a:spcAft>
              <a:defRPr sz="1300" b="1">
                <a:solidFill>
                  <a:srgbClr val="06B6D4"/>
                </a:solidFill>
                <a:latin typeface="Outfit"/>
              </a:defRPr>
            </a:pPr>
            <a:r>
              <a:t>PEMROGRAMAN &amp; BASIS DATA</a:t>
            </a:r>
          </a:p>
          <a:p>
            <a:pPr>
              <a:defRPr sz="1050">
                <a:solidFill>
                  <a:srgbClr val="94A3B8"/>
                </a:solidFill>
                <a:latin typeface="Plus Jakarta Sans"/>
              </a:defRPr>
            </a:pPr>
            <a:r>
              <a:t>• Python: Pandas, NumPy, Scikit-Learn, NLTK, Streamlit, Matplotlib</a:t>
            </a:r>
            <a:br/>
            <a:r>
              <a:t>• SQL: Relational Schema, DDL/DML, Complex Joins, Aggregation</a:t>
            </a:r>
            <a:br/>
            <a:r>
              <a:t>• Tools: VS Code, Git / GitHub Version Control, Jupyter Notebook</a:t>
            </a:r>
          </a:p>
        </p:txBody>
      </p:sp>
      <p:sp>
        <p:nvSpPr>
          <p:cNvPr id="6" name="Rounded Rectangle 5"/>
          <p:cNvSpPr/>
          <p:nvPr/>
        </p:nvSpPr>
        <p:spPr>
          <a:xfrm>
            <a:off x="6217920" y="1691640"/>
            <a:ext cx="5212080" cy="20574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0" y="1783080"/>
            <a:ext cx="4846320" cy="1874520"/>
          </a:xfrm>
          <a:prstGeom prst="rect">
            <a:avLst/>
          </a:prstGeom>
          <a:noFill/>
        </p:spPr>
        <p:txBody>
          <a:bodyPr wrap="square">
            <a:spAutoFit/>
          </a:bodyPr>
          <a:lstStyle/>
          <a:p>
            <a:pPr>
              <a:spcAft>
                <a:spcPts val="600"/>
              </a:spcAft>
              <a:defRPr sz="1300" b="1">
                <a:solidFill>
                  <a:srgbClr val="10B981"/>
                </a:solidFill>
                <a:latin typeface="Outfit"/>
              </a:defRPr>
            </a:pPr>
            <a:r>
              <a:t>VISUALISASI DATA &amp; BUSINESS INTELLIGENCE</a:t>
            </a:r>
          </a:p>
          <a:p>
            <a:pPr>
              <a:defRPr sz="1050">
                <a:solidFill>
                  <a:srgbClr val="94A3B8"/>
                </a:solidFill>
                <a:latin typeface="Plus Jakarta Sans"/>
              </a:defRPr>
            </a:pPr>
            <a:r>
              <a:t>• Tableau Desktop &amp; Tableau Public: Calculated Fields, Parameter, Dashboard multi-page</a:t>
            </a:r>
            <a:br/>
            <a:r>
              <a:t>• Google Looker Studio: Pelaporan KPI real-time &amp; dasbor bisnis eksekutif</a:t>
            </a:r>
            <a:br/>
            <a:r>
              <a:t>• Microsoft Excel Lanjutan: Pivot Tables, Charts, XLOOKUP, Data Cleansing</a:t>
            </a:r>
          </a:p>
        </p:txBody>
      </p:sp>
      <p:sp>
        <p:nvSpPr>
          <p:cNvPr id="8" name="Rounded Rectangle 7"/>
          <p:cNvSpPr/>
          <p:nvPr/>
        </p:nvSpPr>
        <p:spPr>
          <a:xfrm>
            <a:off x="731520" y="3977639"/>
            <a:ext cx="5212080" cy="20574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069080"/>
            <a:ext cx="4846320" cy="1874520"/>
          </a:xfrm>
          <a:prstGeom prst="rect">
            <a:avLst/>
          </a:prstGeom>
          <a:noFill/>
        </p:spPr>
        <p:txBody>
          <a:bodyPr wrap="square">
            <a:spAutoFit/>
          </a:bodyPr>
          <a:lstStyle/>
          <a:p>
            <a:pPr>
              <a:spcAft>
                <a:spcPts val="600"/>
              </a:spcAft>
              <a:defRPr sz="1300" b="1">
                <a:solidFill>
                  <a:srgbClr val="3B82F6"/>
                </a:solidFill>
                <a:latin typeface="Outfit"/>
              </a:defRPr>
            </a:pPr>
            <a:r>
              <a:t>DATA SCIENCE, MACHINE LEARNING &amp; NLP</a:t>
            </a:r>
          </a:p>
          <a:p>
            <a:pPr>
              <a:defRPr sz="1050">
                <a:solidFill>
                  <a:srgbClr val="94A3B8"/>
                </a:solidFill>
                <a:latin typeface="Plus Jakarta Sans"/>
              </a:defRPr>
            </a:pPr>
            <a:r>
              <a:t>• Natural Language Processing (NLP): Tokenizing, Normalisasi Kata Slang, InSet Lexicon</a:t>
            </a:r>
            <a:br/>
            <a:r>
              <a:t>• Supervised Learning: Support Vector Machine (SVM/SVC), Multinomial Naive Bayes</a:t>
            </a:r>
            <a:br/>
            <a:r>
              <a:t>• Unsupervised Learning: K-Means Clustering, Customer Profiling, RapidMiner</a:t>
            </a:r>
          </a:p>
        </p:txBody>
      </p:sp>
      <p:sp>
        <p:nvSpPr>
          <p:cNvPr id="10" name="Rounded Rectangle 9"/>
          <p:cNvSpPr/>
          <p:nvPr/>
        </p:nvSpPr>
        <p:spPr>
          <a:xfrm>
            <a:off x="6217920" y="3977639"/>
            <a:ext cx="5212080" cy="20574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0" y="4069080"/>
            <a:ext cx="4846320" cy="1874520"/>
          </a:xfrm>
          <a:prstGeom prst="rect">
            <a:avLst/>
          </a:prstGeom>
          <a:noFill/>
        </p:spPr>
        <p:txBody>
          <a:bodyPr wrap="square">
            <a:spAutoFit/>
          </a:bodyPr>
          <a:lstStyle/>
          <a:p>
            <a:pPr>
              <a:spcAft>
                <a:spcPts val="600"/>
              </a:spcAft>
              <a:defRPr sz="1300" b="1">
                <a:solidFill>
                  <a:srgbClr val="8B5CF6"/>
                </a:solidFill>
                <a:latin typeface="Outfit"/>
              </a:defRPr>
            </a:pPr>
            <a:r>
              <a:t>AGENTIC AI, TOOLS &amp; SOFT SKILLS</a:t>
            </a:r>
          </a:p>
          <a:p>
            <a:pPr>
              <a:defRPr sz="1050">
                <a:solidFill>
                  <a:srgbClr val="94A3B8"/>
                </a:solidFill>
                <a:latin typeface="Plus Jakarta Sans"/>
              </a:defRPr>
            </a:pPr>
            <a:r>
              <a:t>• Agentic AI: Antigravity Autonomous Workflow, Task Orchestration, Prompt Craft</a:t>
            </a:r>
            <a:br/>
            <a:r>
              <a:t>• Desain &amp; Media: Figma, Canva, CapCut (9:16 Shorts Framing, Dynamic Captions)</a:t>
            </a:r>
            <a:br/>
            <a:r>
              <a:t>• Karakter Kerja: Critical Thinking, Analytical Synthesis, Communication &amp; Teamwork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400"/>
              </a:spcAft>
              <a:defRPr sz="950" b="1">
                <a:solidFill>
                  <a:srgbClr val="06B6D4"/>
                </a:solidFill>
                <a:latin typeface="JetBrains Mono"/>
              </a:defRPr>
            </a:pPr>
            <a:r>
              <a:t>PROYEK UNGGULAN 01 • TUGAS AKHIR / SKRIPSI</a:t>
            </a:r>
          </a:p>
          <a:p>
            <a:pPr>
              <a:defRPr sz="2200" b="1">
                <a:solidFill>
                  <a:srgbClr val="F8FAFC"/>
                </a:solidFill>
                <a:latin typeface="Outfit"/>
              </a:defRPr>
            </a:pPr>
            <a:r>
              <a:t>Analisis Sentimen Respons Netizen (YouTube)</a:t>
            </a:r>
          </a:p>
          <a:p>
            <a:pPr>
              <a:defRPr sz="1100">
                <a:solidFill>
                  <a:srgbClr val="94A3B8"/>
                </a:solidFill>
                <a:latin typeface="Plus Jakarta Sans"/>
              </a:defRPr>
            </a:pPr>
            <a:r>
              <a:t>Pemodelan komparatif SVM vs Naive Bayes pada data komentar YouTube berbahasa Indonesia.</a:t>
            </a:r>
          </a:p>
        </p:txBody>
      </p:sp>
      <p:sp>
        <p:nvSpPr>
          <p:cNvPr id="4" name="Rounded Rectangle 3"/>
          <p:cNvSpPr/>
          <p:nvPr/>
        </p:nvSpPr>
        <p:spPr>
          <a:xfrm>
            <a:off x="731520" y="1691640"/>
            <a:ext cx="6217920" cy="448056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5760720" cy="4114800"/>
          </a:xfrm>
          <a:prstGeom prst="rect">
            <a:avLst/>
          </a:prstGeom>
          <a:noFill/>
        </p:spPr>
        <p:txBody>
          <a:bodyPr wrap="square">
            <a:spAutoFit/>
          </a:bodyPr>
          <a:lstStyle/>
          <a:p>
            <a:pPr>
              <a:spcAft>
                <a:spcPts val="600"/>
              </a:spcAft>
              <a:defRPr sz="950" b="1">
                <a:solidFill>
                  <a:srgbClr val="06B6D4"/>
                </a:solidFill>
                <a:latin typeface="JetBrains Mono"/>
              </a:defRPr>
            </a:pPr>
            <a:r>
              <a:t>RINGKASAN &amp; LATAR BELAKANG</a:t>
            </a:r>
          </a:p>
          <a:p>
            <a:pPr>
              <a:spcAft>
                <a:spcPts val="1200"/>
              </a:spcAft>
              <a:defRPr sz="1050">
                <a:solidFill>
                  <a:srgbClr val="94A3B8"/>
                </a:solidFill>
                <a:latin typeface="Plus Jakarta Sans"/>
              </a:defRPr>
            </a:pPr>
            <a:r>
              <a:t>Bahasa ulasan netizen di media sosial sarat dengan bahasa tidak baku, singkatan, dan slang daerah. Riset ini merancang pipeline Machine Learning terintegrasi untuk mengekstraksi dan mengklasifikasikan persepsi publik secara otomatis berskala besar.</a:t>
            </a:r>
          </a:p>
          <a:p>
            <a:pPr>
              <a:spcAft>
                <a:spcPts val="600"/>
              </a:spcAft>
              <a:defRPr sz="950" b="1">
                <a:solidFill>
                  <a:srgbClr val="3B82F6"/>
                </a:solidFill>
                <a:latin typeface="JetBrains Mono"/>
              </a:defRPr>
            </a:pPr>
            <a:r>
              <a:t>FITUR KUNCI &amp; METODOLOGI RISET</a:t>
            </a:r>
          </a:p>
          <a:p>
            <a:pPr>
              <a:spcAft>
                <a:spcPts val="1200"/>
              </a:spcAft>
              <a:defRPr sz="1050">
                <a:solidFill>
                  <a:srgbClr val="94A3B8"/>
                </a:solidFill>
                <a:latin typeface="Plus Jakarta Sans"/>
              </a:defRPr>
            </a:pPr>
            <a:r>
              <a:t>1. Ekstraksi Data: Mengambil belasan ribu komentar YouTube via YouTube Data API v3.</a:t>
            </a:r>
            <a:br/>
            <a:r>
              <a:t>2. Normalisasi Teks: Kamus lokal kata baku (kamuskatabaku.xlsx) + leksikon InSet.</a:t>
            </a:r>
            <a:br/>
            <a:r>
              <a:t>3. Pemodelan: Komparasi algoritma Support Vector Machine (SVC) dan Naive Bayes.</a:t>
            </a:r>
            <a:br/>
            <a:r>
              <a:t>4. Deployment: Aplikasi web interaktif berbasis Streamlit untuk testing real-time.</a:t>
            </a:r>
          </a:p>
          <a:p>
            <a:pPr>
              <a:spcAft>
                <a:spcPts val="400"/>
              </a:spcAft>
              <a:defRPr sz="950" b="1">
                <a:solidFill>
                  <a:srgbClr val="10B981"/>
                </a:solidFill>
                <a:latin typeface="JetBrains Mono"/>
              </a:defRPr>
            </a:pPr>
            <a:r>
              <a:t>HASIL CAPAIAN AKURASI</a:t>
            </a:r>
          </a:p>
          <a:p>
            <a:pPr>
              <a:defRPr sz="1000">
                <a:solidFill>
                  <a:srgbClr val="F8FAFC"/>
                </a:solidFill>
                <a:latin typeface="Plus Jakarta Sans"/>
              </a:defRPr>
            </a:pPr>
            <a:r>
              <a:t>• Model SVM: Akurasi 92.4% (Precision &amp; Recall optimal)</a:t>
            </a:r>
            <a:br/>
            <a:r>
              <a:t>• Model Naive Bayes: Akurasi 91.6%</a:t>
            </a:r>
            <a:br/>
            <a:r>
              <a:t>• Tech Stack: Python, Streamlit, Scikit-Learn, NLTK, Pandas</a:t>
            </a:r>
          </a:p>
        </p:txBody>
      </p:sp>
      <p:sp>
        <p:nvSpPr>
          <p:cNvPr id="6" name="Rounded Rectangle 5"/>
          <p:cNvSpPr/>
          <p:nvPr/>
        </p:nvSpPr>
        <p:spPr>
          <a:xfrm>
            <a:off x="7132320" y="1691640"/>
            <a:ext cx="4297680" cy="448056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ject-nlp.jpg"/>
          <p:cNvPicPr>
            <a:picLocks noChangeAspect="1"/>
          </p:cNvPicPr>
          <p:nvPr/>
        </p:nvPicPr>
        <p:blipFill>
          <a:blip r:embed="rId2"/>
          <a:stretch>
            <a:fillRect/>
          </a:stretch>
        </p:blipFill>
        <p:spPr>
          <a:xfrm>
            <a:off x="7315200" y="1874519"/>
            <a:ext cx="3931920" cy="2377440"/>
          </a:xfrm>
          <a:prstGeom prst="rect">
            <a:avLst/>
          </a:prstGeom>
        </p:spPr>
      </p:pic>
      <p:sp>
        <p:nvSpPr>
          <p:cNvPr id="8" name="TextBox 7"/>
          <p:cNvSpPr txBox="1"/>
          <p:nvPr/>
        </p:nvSpPr>
        <p:spPr>
          <a:xfrm>
            <a:off x="7315200" y="4389120"/>
            <a:ext cx="3931920" cy="1645920"/>
          </a:xfrm>
          <a:prstGeom prst="rect">
            <a:avLst/>
          </a:prstGeom>
          <a:noFill/>
        </p:spPr>
        <p:txBody>
          <a:bodyPr wrap="square">
            <a:spAutoFit/>
          </a:bodyPr>
          <a:lstStyle/>
          <a:p>
            <a:pPr>
              <a:defRPr sz="900" b="1">
                <a:solidFill>
                  <a:srgbClr val="06B6D4"/>
                </a:solidFill>
                <a:latin typeface="JetBrains Mono"/>
              </a:defRPr>
            </a:pPr>
            <a:r>
              <a:t>METRIK UTAMA PROYEK</a:t>
            </a:r>
          </a:p>
          <a:p>
            <a:pPr>
              <a:spcAft>
                <a:spcPts val="400"/>
              </a:spcAft>
              <a:defRPr sz="1250" b="1">
                <a:solidFill>
                  <a:srgbClr val="10B981"/>
                </a:solidFill>
                <a:latin typeface="Outfit"/>
              </a:defRPr>
            </a:pPr>
            <a:r>
              <a:t>92.4% Akurasi SVM  |  12,500+ Komentar  |  91.6% Naive Bayes</a:t>
            </a:r>
          </a:p>
          <a:p>
            <a:pPr>
              <a:defRPr sz="950">
                <a:solidFill>
                  <a:srgbClr val="94A3B8"/>
                </a:solidFill>
                <a:latin typeface="Plus Jakarta Sans"/>
              </a:defRPr>
            </a:pPr>
            <a:r>
              <a:t>Teruji pada dataset riil komentar edukasi publik YouTube dengan pipeline preprocessing lengkap.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400"/>
              </a:spcAft>
              <a:defRPr sz="950" b="1">
                <a:solidFill>
                  <a:srgbClr val="06B6D4"/>
                </a:solidFill>
                <a:latin typeface="JetBrains Mono"/>
              </a:defRPr>
            </a:pPr>
            <a:r>
              <a:t>ARSITEKTUR PIPELINE NLP • SKRIPSI</a:t>
            </a:r>
          </a:p>
          <a:p>
            <a:pPr>
              <a:defRPr sz="2200" b="1">
                <a:solidFill>
                  <a:srgbClr val="F8FAFC"/>
                </a:solidFill>
                <a:latin typeface="Outfit"/>
              </a:defRPr>
            </a:pPr>
            <a:r>
              <a:t>Alur Data &amp; Sistem Klasifikasi Sentimen</a:t>
            </a:r>
          </a:p>
          <a:p>
            <a:pPr>
              <a:defRPr sz="1100">
                <a:solidFill>
                  <a:srgbClr val="94A3B8"/>
                </a:solidFill>
                <a:latin typeface="Plus Jakarta Sans"/>
              </a:defRPr>
            </a:pPr>
            <a:r>
              <a:t>Tahapan pengolahan data mentah dari YouTube API hingga pengujian interaktif di Streamlit.</a:t>
            </a:r>
          </a:p>
        </p:txBody>
      </p:sp>
      <p:sp>
        <p:nvSpPr>
          <p:cNvPr id="4" name="Rounded Rectangle 3"/>
          <p:cNvSpPr/>
          <p:nvPr/>
        </p:nvSpPr>
        <p:spPr>
          <a:xfrm>
            <a:off x="731520" y="1691640"/>
            <a:ext cx="2514600" cy="438912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874520"/>
            <a:ext cx="2185416" cy="4023360"/>
          </a:xfrm>
          <a:prstGeom prst="rect">
            <a:avLst/>
          </a:prstGeom>
          <a:noFill/>
        </p:spPr>
        <p:txBody>
          <a:bodyPr wrap="square">
            <a:spAutoFit/>
          </a:bodyPr>
          <a:lstStyle/>
          <a:p>
            <a:pPr>
              <a:spcAft>
                <a:spcPts val="600"/>
              </a:spcAft>
              <a:defRPr sz="900" b="1">
                <a:solidFill>
                  <a:srgbClr val="06B6D4"/>
                </a:solidFill>
                <a:latin typeface="JetBrains Mono"/>
              </a:defRPr>
            </a:pPr>
            <a:r>
              <a:t>TAHAP 01</a:t>
            </a:r>
          </a:p>
          <a:p>
            <a:pPr>
              <a:spcAft>
                <a:spcPts val="1000"/>
              </a:spcAft>
              <a:defRPr sz="1400" b="1">
                <a:solidFill>
                  <a:srgbClr val="F8FAFC"/>
                </a:solidFill>
                <a:latin typeface="Outfit"/>
              </a:defRPr>
            </a:pPr>
            <a:r>
              <a:t>Ekstraksi &amp; Scraping</a:t>
            </a:r>
          </a:p>
          <a:p>
            <a:pPr>
              <a:defRPr sz="980">
                <a:solidFill>
                  <a:srgbClr val="94A3B8"/>
                </a:solidFill>
                <a:latin typeface="Plus Jakarta Sans"/>
              </a:defRPr>
            </a:pPr>
            <a:r>
              <a:t>• YouTube Data API v3</a:t>
            </a:r>
            <a:br/>
            <a:r>
              <a:t>• Pengambilan komentar terstruktur (Author, Comment, Likes, Date)</a:t>
            </a:r>
            <a:br/>
            <a:r>
              <a:t>• Penyimpanan dataset_mentah.csv</a:t>
            </a:r>
            <a:br/>
            <a:r>
              <a:t>• 12.500+ sampel data ulasan netizen.</a:t>
            </a:r>
          </a:p>
        </p:txBody>
      </p:sp>
      <p:sp>
        <p:nvSpPr>
          <p:cNvPr id="6" name="Rounded Rectangle 5"/>
          <p:cNvSpPr/>
          <p:nvPr/>
        </p:nvSpPr>
        <p:spPr>
          <a:xfrm>
            <a:off x="3465576" y="1691640"/>
            <a:ext cx="2514600" cy="438912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30168" y="1874520"/>
            <a:ext cx="2185416" cy="4023360"/>
          </a:xfrm>
          <a:prstGeom prst="rect">
            <a:avLst/>
          </a:prstGeom>
          <a:noFill/>
        </p:spPr>
        <p:txBody>
          <a:bodyPr wrap="square">
            <a:spAutoFit/>
          </a:bodyPr>
          <a:lstStyle/>
          <a:p>
            <a:pPr>
              <a:spcAft>
                <a:spcPts val="600"/>
              </a:spcAft>
              <a:defRPr sz="900" b="1">
                <a:solidFill>
                  <a:srgbClr val="3B82F6"/>
                </a:solidFill>
                <a:latin typeface="JetBrains Mono"/>
              </a:defRPr>
            </a:pPr>
            <a:r>
              <a:t>TAHAP 02</a:t>
            </a:r>
          </a:p>
          <a:p>
            <a:pPr>
              <a:spcAft>
                <a:spcPts val="1000"/>
              </a:spcAft>
              <a:defRPr sz="1400" b="1">
                <a:solidFill>
                  <a:srgbClr val="F8FAFC"/>
                </a:solidFill>
                <a:latin typeface="Outfit"/>
              </a:defRPr>
            </a:pPr>
            <a:r>
              <a:t>Text Preprocessing</a:t>
            </a:r>
          </a:p>
          <a:p>
            <a:pPr>
              <a:defRPr sz="980">
                <a:solidFill>
                  <a:srgbClr val="94A3B8"/>
                </a:solidFill>
                <a:latin typeface="Plus Jakarta Sans"/>
              </a:defRPr>
            </a:pPr>
            <a:r>
              <a:t>• Case Folding &amp; Cleansing teks</a:t>
            </a:r>
            <a:br/>
            <a:r>
              <a:t>• Kamus Kata Baku (kamuskatabaku.xlsx) untuk normalisasi slang</a:t>
            </a:r>
            <a:br/>
            <a:r>
              <a:t>• Stopword Removal bahasa Indonesia</a:t>
            </a:r>
            <a:br/>
            <a:r>
              <a:t>• Pembobotan Leksikon InSet.</a:t>
            </a:r>
          </a:p>
        </p:txBody>
      </p:sp>
      <p:sp>
        <p:nvSpPr>
          <p:cNvPr id="8" name="Rounded Rectangle 7"/>
          <p:cNvSpPr/>
          <p:nvPr/>
        </p:nvSpPr>
        <p:spPr>
          <a:xfrm>
            <a:off x="6199632" y="1691640"/>
            <a:ext cx="2514600" cy="438912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64224" y="1874520"/>
            <a:ext cx="2185416" cy="4023360"/>
          </a:xfrm>
          <a:prstGeom prst="rect">
            <a:avLst/>
          </a:prstGeom>
          <a:noFill/>
        </p:spPr>
        <p:txBody>
          <a:bodyPr wrap="square">
            <a:spAutoFit/>
          </a:bodyPr>
          <a:lstStyle/>
          <a:p>
            <a:pPr>
              <a:spcAft>
                <a:spcPts val="600"/>
              </a:spcAft>
              <a:defRPr sz="900" b="1">
                <a:solidFill>
                  <a:srgbClr val="8B5CF6"/>
                </a:solidFill>
                <a:latin typeface="JetBrains Mono"/>
              </a:defRPr>
            </a:pPr>
            <a:r>
              <a:t>TAHAP 03</a:t>
            </a:r>
          </a:p>
          <a:p>
            <a:pPr>
              <a:spcAft>
                <a:spcPts val="1000"/>
              </a:spcAft>
              <a:defRPr sz="1400" b="1">
                <a:solidFill>
                  <a:srgbClr val="F8FAFC"/>
                </a:solidFill>
                <a:latin typeface="Outfit"/>
              </a:defRPr>
            </a:pPr>
            <a:r>
              <a:t>Feature &amp; Training</a:t>
            </a:r>
          </a:p>
          <a:p>
            <a:pPr>
              <a:defRPr sz="980">
                <a:solidFill>
                  <a:srgbClr val="94A3B8"/>
                </a:solidFill>
                <a:latin typeface="Plus Jakarta Sans"/>
              </a:defRPr>
            </a:pPr>
            <a:r>
              <a:t>• CountVectorizer / TF-IDF</a:t>
            </a:r>
            <a:br/>
            <a:r>
              <a:t>• Split Train-Test (80:20)</a:t>
            </a:r>
            <a:br/>
            <a:r>
              <a:t>• Pelatihan SVM (Linear/RBF kernel)</a:t>
            </a:r>
            <a:br/>
            <a:r>
              <a:t>• Evaluasi Confusion Matrix &amp; Classification Report (F1-score).</a:t>
            </a:r>
          </a:p>
        </p:txBody>
      </p:sp>
      <p:sp>
        <p:nvSpPr>
          <p:cNvPr id="10" name="Rounded Rectangle 9"/>
          <p:cNvSpPr/>
          <p:nvPr/>
        </p:nvSpPr>
        <p:spPr>
          <a:xfrm>
            <a:off x="8933688" y="1691640"/>
            <a:ext cx="2514600" cy="438912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98280" y="1874520"/>
            <a:ext cx="2185416" cy="4023360"/>
          </a:xfrm>
          <a:prstGeom prst="rect">
            <a:avLst/>
          </a:prstGeom>
          <a:noFill/>
        </p:spPr>
        <p:txBody>
          <a:bodyPr wrap="square">
            <a:spAutoFit/>
          </a:bodyPr>
          <a:lstStyle/>
          <a:p>
            <a:pPr>
              <a:spcAft>
                <a:spcPts val="600"/>
              </a:spcAft>
              <a:defRPr sz="900" b="1">
                <a:solidFill>
                  <a:srgbClr val="10B981"/>
                </a:solidFill>
                <a:latin typeface="JetBrains Mono"/>
              </a:defRPr>
            </a:pPr>
            <a:r>
              <a:t>TAHAP 04</a:t>
            </a:r>
          </a:p>
          <a:p>
            <a:pPr>
              <a:spcAft>
                <a:spcPts val="1000"/>
              </a:spcAft>
              <a:defRPr sz="1400" b="1">
                <a:solidFill>
                  <a:srgbClr val="F8FAFC"/>
                </a:solidFill>
                <a:latin typeface="Outfit"/>
              </a:defRPr>
            </a:pPr>
            <a:r>
              <a:t>Streamlit Deployment</a:t>
            </a:r>
          </a:p>
          <a:p>
            <a:pPr>
              <a:defRPr sz="980">
                <a:solidFill>
                  <a:srgbClr val="94A3B8"/>
                </a:solidFill>
                <a:latin typeface="Plus Jakarta Sans"/>
              </a:defRPr>
            </a:pPr>
            <a:r>
              <a:t>• Dasbor visualisasi responsif (App.py)</a:t>
            </a:r>
            <a:br/>
            <a:r>
              <a:t>• Console uji kalimat langsung</a:t>
            </a:r>
            <a:br/>
            <a:r>
              <a:t>• Visualisasi WordCloud kata positif vs negatif</a:t>
            </a:r>
            <a:br/>
            <a:r>
              <a:t>• Grafik perbandingan performa algoritma.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400"/>
              </a:spcAft>
              <a:defRPr sz="950" b="1">
                <a:solidFill>
                  <a:srgbClr val="06B6D4"/>
                </a:solidFill>
                <a:latin typeface="JetBrains Mono"/>
              </a:defRPr>
            </a:pPr>
            <a:r>
              <a:t>PROYEK UNGGULAN 02 • BUSINESS INTELLIGENCE</a:t>
            </a:r>
          </a:p>
          <a:p>
            <a:pPr>
              <a:defRPr sz="2200" b="1">
                <a:solidFill>
                  <a:srgbClr val="F8FAFC"/>
                </a:solidFill>
                <a:latin typeface="Outfit"/>
              </a:defRPr>
            </a:pPr>
            <a:r>
              <a:t>Human Resources (HR) Analytics Dashboard</a:t>
            </a:r>
          </a:p>
          <a:p>
            <a:pPr>
              <a:defRPr sz="1100">
                <a:solidFill>
                  <a:srgbClr val="94A3B8"/>
                </a:solidFill>
                <a:latin typeface="Plus Jakarta Sans"/>
              </a:defRPr>
            </a:pPr>
            <a:r>
              <a:t>Perancangan dasbor eksekutif SDM dua halaman di Tableau menganalisis 8.950 catatan karyawan.</a:t>
            </a:r>
          </a:p>
        </p:txBody>
      </p:sp>
      <p:sp>
        <p:nvSpPr>
          <p:cNvPr id="4" name="Rounded Rectangle 3"/>
          <p:cNvSpPr/>
          <p:nvPr/>
        </p:nvSpPr>
        <p:spPr>
          <a:xfrm>
            <a:off x="731520" y="1691640"/>
            <a:ext cx="5303520" cy="448056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846320" cy="4114800"/>
          </a:xfrm>
          <a:prstGeom prst="rect">
            <a:avLst/>
          </a:prstGeom>
          <a:noFill/>
        </p:spPr>
        <p:txBody>
          <a:bodyPr wrap="square">
            <a:spAutoFit/>
          </a:bodyPr>
          <a:lstStyle/>
          <a:p>
            <a:pPr>
              <a:spcAft>
                <a:spcPts val="600"/>
              </a:spcAft>
              <a:defRPr sz="950" b="1">
                <a:solidFill>
                  <a:srgbClr val="10B981"/>
                </a:solidFill>
                <a:latin typeface="JetBrains Mono"/>
              </a:defRPr>
            </a:pPr>
            <a:r>
              <a:t>OVERVIEW PROYEK &amp; KEBUTUHAN BISNIS</a:t>
            </a:r>
          </a:p>
          <a:p>
            <a:pPr>
              <a:spcAft>
                <a:spcPts val="1200"/>
              </a:spcAft>
              <a:defRPr sz="1050">
                <a:solidFill>
                  <a:srgbClr val="94A3B8"/>
                </a:solidFill>
                <a:latin typeface="Plus Jakarta Sans"/>
              </a:defRPr>
            </a:pPr>
            <a:r>
              <a:t>Membangun dasbor analitik SDM interaktif dua halaman (HR Overview &amp; Employee Directory) berdasarkan simulasi dataset riil 8.950 karyawan untuk memonitor retensi, mengidentifikasi tren perputaran tenaga kerja, serta mengevaluasi kesetaraan kompensasi per departemen.</a:t>
            </a:r>
          </a:p>
          <a:p>
            <a:pPr>
              <a:spcAft>
                <a:spcPts val="600"/>
              </a:spcAft>
              <a:defRPr sz="950" b="1">
                <a:solidFill>
                  <a:srgbClr val="06B6D4"/>
                </a:solidFill>
                <a:latin typeface="JetBrains Mono"/>
              </a:defRPr>
            </a:pPr>
            <a:r>
              <a:t>METRIK KUNCI &amp; INSIGHT BISNIS</a:t>
            </a:r>
          </a:p>
          <a:p>
            <a:pPr>
              <a:defRPr sz="1050">
                <a:solidFill>
                  <a:srgbClr val="94A3B8"/>
                </a:solidFill>
                <a:latin typeface="Plus Jakarta Sans"/>
              </a:defRPr>
            </a:pPr>
            <a:r>
              <a:t>• Total Karyawan: 8.950 orang (7.984 Aktif / 89.2% retensi, 966 Terminasi)</a:t>
            </a:r>
            <a:br/>
            <a:r>
              <a:t>• Departemen Kunci: Operations (2.429 aktif), Sales (1.634 aktif), Customer Service, IT</a:t>
            </a:r>
            <a:br/>
            <a:r>
              <a:t>• Analisis Demografi: Rasio Gender (46% Pria, 54% Wanita), Sebaran Usia &amp; Pendidikan</a:t>
            </a:r>
            <a:br/>
            <a:r>
              <a:t>• Geospasial: State Map sebaran tenaga kerja (HQ 70% vs Branch 30%)</a:t>
            </a:r>
            <a:br/>
            <a:r>
              <a:t>• Kompensasi &amp; Kinerja: Scatter plot korelasi gaji vs usia &amp; matriks rating performa.</a:t>
            </a:r>
          </a:p>
        </p:txBody>
      </p:sp>
      <p:sp>
        <p:nvSpPr>
          <p:cNvPr id="6" name="Rounded Rectangle 5"/>
          <p:cNvSpPr/>
          <p:nvPr/>
        </p:nvSpPr>
        <p:spPr>
          <a:xfrm>
            <a:off x="6217920" y="1691640"/>
            <a:ext cx="5212080" cy="448056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ject-hr-analytics.png"/>
          <p:cNvPicPr>
            <a:picLocks noChangeAspect="1"/>
          </p:cNvPicPr>
          <p:nvPr/>
        </p:nvPicPr>
        <p:blipFill>
          <a:blip r:embed="rId2"/>
          <a:stretch>
            <a:fillRect/>
          </a:stretch>
        </p:blipFill>
        <p:spPr>
          <a:xfrm>
            <a:off x="6400800" y="1874519"/>
            <a:ext cx="4846320" cy="2926080"/>
          </a:xfrm>
          <a:prstGeom prst="rect">
            <a:avLst/>
          </a:prstGeom>
        </p:spPr>
      </p:pic>
      <p:sp>
        <p:nvSpPr>
          <p:cNvPr id="8" name="TextBox 7"/>
          <p:cNvSpPr txBox="1"/>
          <p:nvPr/>
        </p:nvSpPr>
        <p:spPr>
          <a:xfrm>
            <a:off x="6400800" y="4937760"/>
            <a:ext cx="4846320" cy="1097280"/>
          </a:xfrm>
          <a:prstGeom prst="rect">
            <a:avLst/>
          </a:prstGeom>
          <a:noFill/>
        </p:spPr>
        <p:txBody>
          <a:bodyPr wrap="square">
            <a:spAutoFit/>
          </a:bodyPr>
          <a:lstStyle/>
          <a:p>
            <a:pPr>
              <a:defRPr sz="900" b="1">
                <a:solidFill>
                  <a:srgbClr val="10B981"/>
                </a:solidFill>
                <a:latin typeface="JetBrains Mono"/>
              </a:defRPr>
            </a:pPr>
            <a:r>
              <a:t>IMPLEMENTASI TEKNIS TABLEAU</a:t>
            </a:r>
          </a:p>
          <a:p>
            <a:pPr>
              <a:defRPr sz="950">
                <a:solidFill>
                  <a:srgbClr val="94A3B8"/>
                </a:solidFill>
                <a:latin typeface="Plus Jakarta Sans"/>
              </a:defRPr>
            </a:pPr>
            <a:r>
              <a:t>Mengembangkan Calculated Fields khusus, Interactive Action Filters, Dark Theme UI, dan Ekspor Laporan.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400"/>
              </a:spcAft>
              <a:defRPr sz="950" b="1">
                <a:solidFill>
                  <a:srgbClr val="06B6D4"/>
                </a:solidFill>
                <a:latin typeface="JetBrains Mono"/>
              </a:defRPr>
            </a:pPr>
            <a:r>
              <a:t>PROYEK UNGGULAN 03 • AGENTIC AI AUTOMATION</a:t>
            </a:r>
          </a:p>
          <a:p>
            <a:pPr>
              <a:defRPr sz="2200" b="1">
                <a:solidFill>
                  <a:srgbClr val="F8FAFC"/>
                </a:solidFill>
                <a:latin typeface="Outfit"/>
              </a:defRPr>
            </a:pPr>
            <a:r>
              <a:t>AI Content Workflow &amp; Analytics Specialist</a:t>
            </a:r>
          </a:p>
          <a:p>
            <a:pPr>
              <a:defRPr sz="1100">
                <a:solidFill>
                  <a:srgbClr val="94A3B8"/>
                </a:solidFill>
                <a:latin typeface="Plus Jakarta Sans"/>
              </a:defRPr>
            </a:pPr>
            <a:r>
              <a:t>Otomasi kurasi konten video pendek menggunakan Antigravity dan alur kerja AI terorkestrasi.</a:t>
            </a:r>
          </a:p>
        </p:txBody>
      </p:sp>
      <p:sp>
        <p:nvSpPr>
          <p:cNvPr id="4" name="Rounded Rectangle 3"/>
          <p:cNvSpPr/>
          <p:nvPr/>
        </p:nvSpPr>
        <p:spPr>
          <a:xfrm>
            <a:off x="731520" y="1691640"/>
            <a:ext cx="5486400" cy="448056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5029200" cy="4114800"/>
          </a:xfrm>
          <a:prstGeom prst="rect">
            <a:avLst/>
          </a:prstGeom>
          <a:noFill/>
        </p:spPr>
        <p:txBody>
          <a:bodyPr wrap="square">
            <a:spAutoFit/>
          </a:bodyPr>
          <a:lstStyle/>
          <a:p>
            <a:pPr>
              <a:spcAft>
                <a:spcPts val="600"/>
              </a:spcAft>
              <a:defRPr sz="950" b="1">
                <a:solidFill>
                  <a:srgbClr val="8B5CF6"/>
                </a:solidFill>
                <a:latin typeface="JetBrains Mono"/>
              </a:defRPr>
            </a:pPr>
            <a:r>
              <a:t>TANTANGAN &amp; MASALAH</a:t>
            </a:r>
          </a:p>
          <a:p>
            <a:pPr>
              <a:spcAft>
                <a:spcPts val="1200"/>
              </a:spcAft>
              <a:defRPr sz="1050">
                <a:solidFill>
                  <a:srgbClr val="94A3B8"/>
                </a:solidFill>
                <a:latin typeface="Plus Jakarta Sans"/>
              </a:defRPr>
            </a:pPr>
            <a:r>
              <a:t>Menonton dan mengkurasi momen bernilai tinggi (high-retention hooks) dari video panjang berdurasi puluhan menit membutuhkan waktu kerja manual yang sangat besar, membatasi skalabilitas kampanye konten.</a:t>
            </a:r>
          </a:p>
          <a:p>
            <a:pPr>
              <a:spcAft>
                <a:spcPts val="600"/>
              </a:spcAft>
              <a:defRPr sz="950" b="1">
                <a:solidFill>
                  <a:srgbClr val="06B6D4"/>
                </a:solidFill>
                <a:latin typeface="JetBrains Mono"/>
              </a:defRPr>
            </a:pPr>
            <a:r>
              <a:t>SOLUSI BERBASIS AGENTIC AI</a:t>
            </a:r>
          </a:p>
          <a:p>
            <a:pPr>
              <a:defRPr sz="1050">
                <a:solidFill>
                  <a:srgbClr val="94A3B8"/>
                </a:solidFill>
                <a:latin typeface="Plus Jakarta Sans"/>
              </a:defRPr>
            </a:pPr>
            <a:r>
              <a:t>• Mengembangkan workflow otonom dengan Antigravity untuk menganalisis transkrip dan konteks video.</a:t>
            </a:r>
            <a:br/>
            <a:r>
              <a:t>• Deteksi hook berpotensi engagement tinggi secara instan menggunakan structured prompts.</a:t>
            </a:r>
            <a:br/>
            <a:r>
              <a:t>• Ekstraksi klip 9:16 di CapCut dengan dynamic captions dan ritme visual teroptimasi.</a:t>
            </a:r>
            <a:br/>
            <a:r>
              <a:t>• Penyelarasan metadata YouTube (titles, tags, description) untuk memaksimalkan algoritma.</a:t>
            </a:r>
          </a:p>
        </p:txBody>
      </p:sp>
      <p:sp>
        <p:nvSpPr>
          <p:cNvPr id="6" name="Rounded Rectangle 5"/>
          <p:cNvSpPr/>
          <p:nvPr/>
        </p:nvSpPr>
        <p:spPr>
          <a:xfrm>
            <a:off x="6492240" y="1691640"/>
            <a:ext cx="4937760" cy="132588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766560" y="1828800"/>
            <a:ext cx="4389120" cy="1051560"/>
          </a:xfrm>
          <a:prstGeom prst="rect">
            <a:avLst/>
          </a:prstGeom>
          <a:noFill/>
        </p:spPr>
        <p:txBody>
          <a:bodyPr wrap="none">
            <a:spAutoFit/>
          </a:bodyPr>
          <a:lstStyle/>
          <a:p>
            <a:pPr>
              <a:defRPr sz="1600" b="1">
                <a:solidFill>
                  <a:srgbClr val="10B981"/>
                </a:solidFill>
                <a:latin typeface="Outfit"/>
              </a:defRPr>
            </a:pPr>
            <a:r>
              <a:t>~70% EFISIENSI WAKTU KERJA</a:t>
            </a:r>
          </a:p>
          <a:p>
            <a:pPr>
              <a:defRPr sz="950">
                <a:solidFill>
                  <a:srgbClr val="94A3B8"/>
                </a:solidFill>
                <a:latin typeface="Plus Jakarta Sans"/>
              </a:defRPr>
            </a:pPr>
            <a:r>
              <a:t>Memangkas waktu kurasi manual dari 3 jam menjadi kurang dari 45 menit per video panjang.</a:t>
            </a:r>
          </a:p>
        </p:txBody>
      </p:sp>
      <p:sp>
        <p:nvSpPr>
          <p:cNvPr id="8" name="Rounded Rectangle 7"/>
          <p:cNvSpPr/>
          <p:nvPr/>
        </p:nvSpPr>
        <p:spPr>
          <a:xfrm>
            <a:off x="6492240" y="3246120"/>
            <a:ext cx="4937760" cy="132588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766560" y="3383280"/>
            <a:ext cx="4389120" cy="1051560"/>
          </a:xfrm>
          <a:prstGeom prst="rect">
            <a:avLst/>
          </a:prstGeom>
          <a:noFill/>
        </p:spPr>
        <p:txBody>
          <a:bodyPr wrap="none">
            <a:spAutoFit/>
          </a:bodyPr>
          <a:lstStyle/>
          <a:p>
            <a:pPr>
              <a:defRPr sz="1600" b="1">
                <a:solidFill>
                  <a:srgbClr val="3B82F6"/>
                </a:solidFill>
                <a:latin typeface="Outfit"/>
              </a:defRPr>
            </a:pPr>
            <a:r>
              <a:t>9:16 SHORTS FORMATTING</a:t>
            </a:r>
          </a:p>
          <a:p>
            <a:pPr>
              <a:defRPr sz="950">
                <a:solidFill>
                  <a:srgbClr val="94A3B8"/>
                </a:solidFill>
                <a:latin typeface="Plus Jakarta Sans"/>
              </a:defRPr>
            </a:pPr>
            <a:r>
              <a:t>Pengemasan klip terstandarisasi untuk YouTube Shorts dengan dynamic subtitle &amp; visual pacing.</a:t>
            </a:r>
          </a:p>
        </p:txBody>
      </p:sp>
      <p:sp>
        <p:nvSpPr>
          <p:cNvPr id="10" name="Rounded Rectangle 9"/>
          <p:cNvSpPr/>
          <p:nvPr/>
        </p:nvSpPr>
        <p:spPr>
          <a:xfrm>
            <a:off x="6492240" y="4800600"/>
            <a:ext cx="4937760" cy="13716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66560" y="4937760"/>
            <a:ext cx="4389120" cy="1097280"/>
          </a:xfrm>
          <a:prstGeom prst="rect">
            <a:avLst/>
          </a:prstGeom>
          <a:noFill/>
        </p:spPr>
        <p:txBody>
          <a:bodyPr wrap="none">
            <a:spAutoFit/>
          </a:bodyPr>
          <a:lstStyle/>
          <a:p>
            <a:pPr>
              <a:defRPr sz="1600" b="1">
                <a:solidFill>
                  <a:srgbClr val="8B5CF6"/>
                </a:solidFill>
                <a:latin typeface="Outfit"/>
              </a:defRPr>
            </a:pPr>
            <a:r>
              <a:t>100% AUTOMATED HOOK PIPELINE</a:t>
            </a:r>
          </a:p>
          <a:p>
            <a:pPr>
              <a:defRPr sz="950">
                <a:solidFill>
                  <a:srgbClr val="94A3B8"/>
                </a:solidFill>
                <a:latin typeface="Plus Jakarta Sans"/>
              </a:defRPr>
            </a:pPr>
            <a:r>
              <a:t>Alur kerja agentic AI yang konsisten untuk memenuhi target campaign Content Reward berskala tinggi.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400"/>
              </a:spcAft>
              <a:defRPr sz="950" b="1">
                <a:solidFill>
                  <a:srgbClr val="06B6D4"/>
                </a:solidFill>
                <a:latin typeface="JetBrains Mono"/>
              </a:defRPr>
            </a:pPr>
            <a:r>
              <a:t>PROYEK TAMBAHAN 04 • COMMERCIAL ANALYTICS</a:t>
            </a:r>
          </a:p>
          <a:p>
            <a:pPr>
              <a:defRPr sz="2200" b="1">
                <a:solidFill>
                  <a:srgbClr val="F8FAFC"/>
                </a:solidFill>
                <a:latin typeface="Outfit"/>
              </a:defRPr>
            </a:pPr>
            <a:r>
              <a:t>Amazon Sales &amp; Revenue Performance Dashboard</a:t>
            </a:r>
          </a:p>
          <a:p>
            <a:pPr>
              <a:defRPr sz="1100">
                <a:solidFill>
                  <a:srgbClr val="94A3B8"/>
                </a:solidFill>
                <a:latin typeface="Plus Jakarta Sans"/>
              </a:defRPr>
            </a:pPr>
            <a:r>
              <a:t>Analisis data transaksi penjualan regional Amazon untuk strategi margin laba dan rantai pasok.</a:t>
            </a:r>
          </a:p>
        </p:txBody>
      </p:sp>
      <p:sp>
        <p:nvSpPr>
          <p:cNvPr id="4" name="Rounded Rectangle 3"/>
          <p:cNvSpPr/>
          <p:nvPr/>
        </p:nvSpPr>
        <p:spPr>
          <a:xfrm>
            <a:off x="731520" y="1691640"/>
            <a:ext cx="5303520" cy="448056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19"/>
            <a:ext cx="4846320" cy="4114800"/>
          </a:xfrm>
          <a:prstGeom prst="rect">
            <a:avLst/>
          </a:prstGeom>
          <a:noFill/>
        </p:spPr>
        <p:txBody>
          <a:bodyPr wrap="square">
            <a:spAutoFit/>
          </a:bodyPr>
          <a:lstStyle/>
          <a:p>
            <a:pPr>
              <a:spcAft>
                <a:spcPts val="600"/>
              </a:spcAft>
              <a:defRPr sz="950" b="1">
                <a:solidFill>
                  <a:srgbClr val="F59E0B"/>
                </a:solidFill>
                <a:latin typeface="JetBrains Mono"/>
              </a:defRPr>
            </a:pPr>
            <a:r>
              <a:t>LATAR BELAKANG &amp; KEBUTUHAN BISNIS</a:t>
            </a:r>
          </a:p>
          <a:p>
            <a:pPr>
              <a:spcAft>
                <a:spcPts val="1200"/>
              </a:spcAft>
              <a:defRPr sz="1050">
                <a:solidFill>
                  <a:srgbClr val="94A3B8"/>
                </a:solidFill>
                <a:latin typeface="Plus Jakarta Sans"/>
              </a:defRPr>
            </a:pPr>
            <a:r>
              <a:t>Dataset penjualan e-commerce berskala regional membutuhkan sentralisasi visual agar eksekutif dapat mengevaluasi disparitas profit margin antar kategori produk serta performa komparatif antara saluran penjualan Online dan Offline.</a:t>
            </a:r>
          </a:p>
          <a:p>
            <a:pPr>
              <a:spcAft>
                <a:spcPts val="600"/>
              </a:spcAft>
              <a:defRPr sz="950" b="1">
                <a:solidFill>
                  <a:srgbClr val="06B6D4"/>
                </a:solidFill>
                <a:latin typeface="JetBrains Mono"/>
              </a:defRPr>
            </a:pPr>
            <a:r>
              <a:t>FITUR ANALITIK UTAMA</a:t>
            </a:r>
          </a:p>
          <a:p>
            <a:pPr>
              <a:defRPr sz="1050">
                <a:solidFill>
                  <a:srgbClr val="94A3B8"/>
                </a:solidFill>
                <a:latin typeface="Plus Jakarta Sans"/>
              </a:defRPr>
            </a:pPr>
            <a:r>
              <a:t>• Agregasi Metrik Komersial: Total Revenue, Total Cost, Total Profit, Units Sold.</a:t>
            </a:r>
            <a:br/>
            <a:r>
              <a:t>• Waktu Kirim (Ship Days): Identifikasi hambatan logistik antar prioritas pesanan (Critical, High, Medium, Low).</a:t>
            </a:r>
            <a:br/>
            <a:r>
              <a:t>• Komparasi Saluran: Online vs Offline channel volume di berbagai benua pasar.</a:t>
            </a:r>
            <a:br/>
            <a:r>
              <a:t>• Tech Stack: Tableau Desktop, SQL Querying, Data Modeling, Excel.</a:t>
            </a:r>
          </a:p>
        </p:txBody>
      </p:sp>
      <p:sp>
        <p:nvSpPr>
          <p:cNvPr id="6" name="Rounded Rectangle 5"/>
          <p:cNvSpPr/>
          <p:nvPr/>
        </p:nvSpPr>
        <p:spPr>
          <a:xfrm>
            <a:off x="6217920" y="1691640"/>
            <a:ext cx="5212080" cy="448056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ject-tableau.jpg"/>
          <p:cNvPicPr>
            <a:picLocks noChangeAspect="1"/>
          </p:cNvPicPr>
          <p:nvPr/>
        </p:nvPicPr>
        <p:blipFill>
          <a:blip r:embed="rId2"/>
          <a:stretch>
            <a:fillRect/>
          </a:stretch>
        </p:blipFill>
        <p:spPr>
          <a:xfrm>
            <a:off x="6400800" y="1874519"/>
            <a:ext cx="4846320" cy="2926080"/>
          </a:xfrm>
          <a:prstGeom prst="rect">
            <a:avLst/>
          </a:prstGeom>
        </p:spPr>
      </p:pic>
      <p:sp>
        <p:nvSpPr>
          <p:cNvPr id="8" name="TextBox 7"/>
          <p:cNvSpPr txBox="1"/>
          <p:nvPr/>
        </p:nvSpPr>
        <p:spPr>
          <a:xfrm>
            <a:off x="6400800" y="4937760"/>
            <a:ext cx="4846320" cy="1097280"/>
          </a:xfrm>
          <a:prstGeom prst="rect">
            <a:avLst/>
          </a:prstGeom>
          <a:noFill/>
        </p:spPr>
        <p:txBody>
          <a:bodyPr wrap="square">
            <a:spAutoFit/>
          </a:bodyPr>
          <a:lstStyle/>
          <a:p>
            <a:pPr>
              <a:defRPr sz="900" b="1">
                <a:solidFill>
                  <a:srgbClr val="F59E0B"/>
                </a:solidFill>
                <a:latin typeface="JetBrains Mono"/>
              </a:defRPr>
            </a:pPr>
            <a:r>
              <a:t>IMPAK BISNIS &amp; STRATEGI KOMERSIAL</a:t>
            </a:r>
          </a:p>
          <a:p>
            <a:pPr>
              <a:defRPr sz="950">
                <a:solidFill>
                  <a:srgbClr val="94A3B8"/>
                </a:solidFill>
                <a:latin typeface="Plus Jakarta Sans"/>
              </a:defRPr>
            </a:pPr>
            <a:r>
              <a:t>Membantu manajer penjualan memetakan produk dengan ROI tertinggi dan memangkas jeda logistik pengiriman.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lIns="0" tIns="0" rIns="0" bIns="0">
            <a:spAutoFit/>
          </a:bodyPr>
          <a:lstStyle/>
          <a:p>
            <a:pPr>
              <a:spcAft>
                <a:spcPts val="400"/>
              </a:spcAft>
              <a:defRPr sz="950" b="1">
                <a:solidFill>
                  <a:srgbClr val="06B6D4"/>
                </a:solidFill>
                <a:latin typeface="JetBrains Mono"/>
              </a:defRPr>
            </a:pPr>
            <a:r>
              <a:t>KREDENSIAL &amp; BAHASA</a:t>
            </a:r>
          </a:p>
          <a:p>
            <a:pPr>
              <a:defRPr sz="2200" b="1">
                <a:solidFill>
                  <a:srgbClr val="F8FAFC"/>
                </a:solidFill>
                <a:latin typeface="Outfit"/>
              </a:defRPr>
            </a:pPr>
            <a:r>
              <a:t>Sertifikasi &amp; Kualifikasi Resmi</a:t>
            </a:r>
          </a:p>
          <a:p>
            <a:pPr>
              <a:defRPr sz="1100">
                <a:solidFill>
                  <a:srgbClr val="94A3B8"/>
                </a:solidFill>
                <a:latin typeface="Plus Jakarta Sans"/>
              </a:defRPr>
            </a:pPr>
            <a:r>
              <a:t>Pengakuan kompetensi teknis dari institusi akademis dan platform teknologi terkemuka.</a:t>
            </a:r>
          </a:p>
        </p:txBody>
      </p:sp>
      <p:sp>
        <p:nvSpPr>
          <p:cNvPr id="4" name="Rounded Rectangle 3"/>
          <p:cNvSpPr/>
          <p:nvPr/>
        </p:nvSpPr>
        <p:spPr>
          <a:xfrm>
            <a:off x="731520" y="1691640"/>
            <a:ext cx="5212080" cy="20574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874520"/>
            <a:ext cx="4754880" cy="1691640"/>
          </a:xfrm>
          <a:prstGeom prst="rect">
            <a:avLst/>
          </a:prstGeom>
          <a:noFill/>
        </p:spPr>
        <p:txBody>
          <a:bodyPr wrap="square">
            <a:spAutoFit/>
          </a:bodyPr>
          <a:lstStyle/>
          <a:p>
            <a:pPr>
              <a:spcAft>
                <a:spcPts val="400"/>
              </a:spcAft>
              <a:defRPr sz="1300" b="1">
                <a:solidFill>
                  <a:srgbClr val="3B82F6"/>
                </a:solidFill>
                <a:latin typeface="Outfit"/>
              </a:defRPr>
            </a:pPr>
            <a:r>
              <a:t>ALGORITHM CERTIFICATION</a:t>
            </a:r>
          </a:p>
          <a:p>
            <a:pPr>
              <a:spcAft>
                <a:spcPts val="800"/>
              </a:spcAft>
              <a:defRPr sz="950" b="1">
                <a:solidFill>
                  <a:srgbClr val="F8FAFC"/>
                </a:solidFill>
                <a:latin typeface="JetBrains Mono"/>
              </a:defRPr>
            </a:pPr>
            <a:r>
              <a:t>Universitas Budi Luhur • April 2024</a:t>
            </a:r>
          </a:p>
          <a:p>
            <a:pPr>
              <a:defRPr sz="1000">
                <a:solidFill>
                  <a:srgbClr val="94A3B8"/>
                </a:solidFill>
                <a:latin typeface="Plus Jakarta Sans"/>
              </a:defRPr>
            </a:pPr>
            <a:r>
              <a:t>Penguasaan logika algoritma, kompleksitas waktu komputasi, dan struktur data fundamental.</a:t>
            </a:r>
          </a:p>
        </p:txBody>
      </p:sp>
      <p:sp>
        <p:nvSpPr>
          <p:cNvPr id="6" name="Rounded Rectangle 5"/>
          <p:cNvSpPr/>
          <p:nvPr/>
        </p:nvSpPr>
        <p:spPr>
          <a:xfrm>
            <a:off x="6217920" y="1691640"/>
            <a:ext cx="5212080" cy="20574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46520" y="1874520"/>
            <a:ext cx="4754880" cy="1691640"/>
          </a:xfrm>
          <a:prstGeom prst="rect">
            <a:avLst/>
          </a:prstGeom>
          <a:noFill/>
        </p:spPr>
        <p:txBody>
          <a:bodyPr wrap="square">
            <a:spAutoFit/>
          </a:bodyPr>
          <a:lstStyle/>
          <a:p>
            <a:pPr>
              <a:spcAft>
                <a:spcPts val="400"/>
              </a:spcAft>
              <a:defRPr sz="1300" b="1">
                <a:solidFill>
                  <a:srgbClr val="10B981"/>
                </a:solidFill>
                <a:latin typeface="Outfit"/>
              </a:defRPr>
            </a:pPr>
            <a:r>
              <a:t>INTRODUCTION TO DATA ANALYTICS</a:t>
            </a:r>
          </a:p>
          <a:p>
            <a:pPr>
              <a:spcAft>
                <a:spcPts val="800"/>
              </a:spcAft>
              <a:defRPr sz="950" b="1">
                <a:solidFill>
                  <a:srgbClr val="F8FAFC"/>
                </a:solidFill>
                <a:latin typeface="JetBrains Mono"/>
              </a:defRPr>
            </a:pPr>
            <a:r>
              <a:t>RevoU Tech Academy • 2024</a:t>
            </a:r>
          </a:p>
          <a:p>
            <a:pPr>
              <a:defRPr sz="1000">
                <a:solidFill>
                  <a:srgbClr val="94A3B8"/>
                </a:solidFill>
                <a:latin typeface="Plus Jakarta Sans"/>
              </a:defRPr>
            </a:pPr>
            <a:r>
              <a:t>Metodologi analisis data bisnis, exploratory data analysis (EDA), dan visualisasi data praktis.</a:t>
            </a:r>
          </a:p>
        </p:txBody>
      </p:sp>
      <p:sp>
        <p:nvSpPr>
          <p:cNvPr id="8" name="Rounded Rectangle 7"/>
          <p:cNvSpPr/>
          <p:nvPr/>
        </p:nvSpPr>
        <p:spPr>
          <a:xfrm>
            <a:off x="731520" y="3977639"/>
            <a:ext cx="5212080" cy="20574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160519"/>
            <a:ext cx="4754880" cy="1691640"/>
          </a:xfrm>
          <a:prstGeom prst="rect">
            <a:avLst/>
          </a:prstGeom>
          <a:noFill/>
        </p:spPr>
        <p:txBody>
          <a:bodyPr wrap="square">
            <a:spAutoFit/>
          </a:bodyPr>
          <a:lstStyle/>
          <a:p>
            <a:pPr>
              <a:spcAft>
                <a:spcPts val="400"/>
              </a:spcAft>
              <a:defRPr sz="1300" b="1">
                <a:solidFill>
                  <a:srgbClr val="06B6D4"/>
                </a:solidFill>
                <a:latin typeface="Outfit"/>
              </a:defRPr>
            </a:pPr>
            <a:r>
              <a:t>PYTHON FUNDAMENTAL FOR DATA SCIENCE</a:t>
            </a:r>
          </a:p>
          <a:p>
            <a:pPr>
              <a:spcAft>
                <a:spcPts val="800"/>
              </a:spcAft>
              <a:defRPr sz="950" b="1">
                <a:solidFill>
                  <a:srgbClr val="F8FAFC"/>
                </a:solidFill>
                <a:latin typeface="JetBrains Mono"/>
              </a:defRPr>
            </a:pPr>
            <a:r>
              <a:t>DQLab Academy • Desember 2023</a:t>
            </a:r>
          </a:p>
          <a:p>
            <a:pPr>
              <a:defRPr sz="1000">
                <a:solidFill>
                  <a:srgbClr val="94A3B8"/>
                </a:solidFill>
                <a:latin typeface="Plus Jakarta Sans"/>
              </a:defRPr>
            </a:pPr>
            <a:r>
              <a:t>Sintaks Python dasar, manipulasi array &amp; dataframe (Pandas/NumPy), dan pemrosesan data ilmiah.</a:t>
            </a:r>
          </a:p>
        </p:txBody>
      </p:sp>
      <p:sp>
        <p:nvSpPr>
          <p:cNvPr id="10" name="Rounded Rectangle 9"/>
          <p:cNvSpPr/>
          <p:nvPr/>
        </p:nvSpPr>
        <p:spPr>
          <a:xfrm>
            <a:off x="6217920" y="3977639"/>
            <a:ext cx="5212080" cy="205740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4160519"/>
            <a:ext cx="4754880" cy="1691640"/>
          </a:xfrm>
          <a:prstGeom prst="rect">
            <a:avLst/>
          </a:prstGeom>
          <a:noFill/>
        </p:spPr>
        <p:txBody>
          <a:bodyPr wrap="square">
            <a:spAutoFit/>
          </a:bodyPr>
          <a:lstStyle/>
          <a:p>
            <a:pPr>
              <a:spcAft>
                <a:spcPts val="400"/>
              </a:spcAft>
              <a:defRPr sz="1300" b="1">
                <a:solidFill>
                  <a:srgbClr val="8B5CF6"/>
                </a:solidFill>
                <a:latin typeface="Outfit"/>
              </a:defRPr>
            </a:pPr>
            <a:r>
              <a:t>R FUNDAMENTAL FOR DATA SCIENCE</a:t>
            </a:r>
          </a:p>
          <a:p>
            <a:pPr>
              <a:spcAft>
                <a:spcPts val="800"/>
              </a:spcAft>
              <a:defRPr sz="950" b="1">
                <a:solidFill>
                  <a:srgbClr val="F8FAFC"/>
                </a:solidFill>
                <a:latin typeface="JetBrains Mono"/>
              </a:defRPr>
            </a:pPr>
            <a:r>
              <a:t>DQLab Academy • Desember 2023</a:t>
            </a:r>
          </a:p>
          <a:p>
            <a:pPr>
              <a:defRPr sz="1000">
                <a:solidFill>
                  <a:srgbClr val="94A3B8"/>
                </a:solidFill>
                <a:latin typeface="Plus Jakarta Sans"/>
              </a:defRPr>
            </a:pPr>
            <a:r>
              <a:t>Komputasi statistik, struktur dataframe, dan visualisasi data dasar dalam bahasa 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90B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1371600" y="1097280"/>
            <a:ext cx="9448495" cy="4663440"/>
          </a:xfrm>
          <a:prstGeom prst="roundRect">
            <a:avLst>
              <a:gd name="adj" fmla="val 4000"/>
            </a:avLst>
          </a:prstGeom>
          <a:solidFill>
            <a:srgbClr val="121822"/>
          </a:solidFill>
          <a:ln w="15240">
            <a:solidFill>
              <a:srgbClr val="232F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645920" y="1371600"/>
            <a:ext cx="8869680" cy="4114800"/>
          </a:xfrm>
          <a:prstGeom prst="rect">
            <a:avLst/>
          </a:prstGeom>
          <a:noFill/>
        </p:spPr>
        <p:txBody>
          <a:bodyPr wrap="square">
            <a:spAutoFit/>
          </a:bodyPr>
          <a:lstStyle/>
          <a:p>
            <a:pPr>
              <a:spcAft>
                <a:spcPts val="800"/>
              </a:spcAft>
              <a:defRPr sz="1000" b="1">
                <a:solidFill>
                  <a:srgbClr val="06B6D4"/>
                </a:solidFill>
                <a:latin typeface="JetBrains Mono"/>
              </a:defRPr>
            </a:pPr>
            <a:r>
              <a:t>KOLABORASI &amp; KESEMPATAN KARIR</a:t>
            </a:r>
          </a:p>
          <a:p>
            <a:pPr>
              <a:spcAft>
                <a:spcPts val="1400"/>
              </a:spcAft>
              <a:defRPr sz="2800" b="1">
                <a:solidFill>
                  <a:srgbClr val="F8FAFC"/>
                </a:solidFill>
                <a:latin typeface="Outfit"/>
              </a:defRPr>
            </a:pPr>
            <a:r>
              <a:t>Siap Berkontribusi Nyata dalam Analitik Data &amp; AI</a:t>
            </a:r>
          </a:p>
          <a:p>
            <a:pPr>
              <a:spcAft>
                <a:spcPts val="2400"/>
              </a:spcAft>
              <a:defRPr sz="1200">
                <a:solidFill>
                  <a:srgbClr val="94A3B8"/>
                </a:solidFill>
                <a:latin typeface="Plus Jakarta Sans"/>
              </a:defRPr>
            </a:pPr>
            <a:r>
              <a:t>Terbuka untuk posisi Data Scientist, Data Analyst, Business Intelligence Specialist, atau AI Workflow Automation Specialist. Membawa kombinasi ketajaman akademis (IPK 3.88), keterampilan visualisasi Tableau, pemodelan Machine Learning Python, dan adaptabilitas Agentic AI.</a:t>
            </a:r>
          </a:p>
          <a:p>
            <a:pPr>
              <a:spcAft>
                <a:spcPts val="600"/>
              </a:spcAft>
              <a:defRPr sz="950" b="1">
                <a:solidFill>
                  <a:srgbClr val="3B82F6"/>
                </a:solidFill>
                <a:latin typeface="JetBrains Mono"/>
              </a:defRPr>
            </a:pPr>
            <a:r>
              <a:t>INFORMASI KONTAK RESMI:</a:t>
            </a:r>
          </a:p>
          <a:p>
            <a:pPr>
              <a:defRPr sz="1100" b="1">
                <a:solidFill>
                  <a:srgbClr val="F8FAFC"/>
                </a:solidFill>
                <a:latin typeface="Plus Jakarta Sans"/>
              </a:defRPr>
            </a:pPr>
            <a:r>
              <a:t>• Email: khairulraihan617@gmail.com</a:t>
            </a:r>
            <a:br/>
            <a:r>
              <a:t>• WhatsApp / Telepon: +62 898-9518-334</a:t>
            </a:r>
            <a:br/>
            <a:r>
              <a:t>• LinkedIn: linkedin.com/in/khairul-raihan-hidayat-0a4b62334/</a:t>
            </a:r>
            <a:br/>
            <a:r>
              <a:t>• GitHub: github.com/KhairulRaihan</a:t>
            </a:r>
            <a:br/>
            <a:r>
              <a:t>• Portofolio Web: https://khairulraihan.github.io/</a:t>
            </a:r>
            <a:br/>
            <a:r>
              <a:t>• Lokasi: Kota Tangerang, Banten, Indonesia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