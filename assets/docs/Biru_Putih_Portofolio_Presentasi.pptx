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3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Open Sauce Heavy" charset="1" panose="00000A00000000000000"/>
      <p:regular r:id="rId17"/>
    </p:embeddedFont>
    <p:embeddedFont>
      <p:font typeface="DM Sans Bold" charset="1" panose="00000000000000000000"/>
      <p:regular r:id="rId18"/>
    </p:embeddedFont>
    <p:embeddedFont>
      <p:font typeface="DM Sans" charset="1" panose="00000000000000000000"/>
      <p:regular r:id="rId19"/>
    </p:embeddedFont>
    <p:embeddedFont>
      <p:font typeface="Open Sauce Bold" charset="1" panose="000008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png"/><Relationship Id="rId6" Type="http://schemas.openxmlformats.org/officeDocument/2006/relationships/image" Target="../media/image13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952316" y="5876459"/>
            <a:ext cx="4523632" cy="4410541"/>
            <a:chOff x="0" y="0"/>
            <a:chExt cx="508000" cy="495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470199" y="-35638"/>
            <a:ext cx="11568854" cy="10322638"/>
            <a:chOff x="0" y="0"/>
            <a:chExt cx="5877546" cy="524440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877546" cy="5244408"/>
            </a:xfrm>
            <a:custGeom>
              <a:avLst/>
              <a:gdLst/>
              <a:ahLst/>
              <a:cxnLst/>
              <a:rect r="r" b="b" t="t" l="l"/>
              <a:pathLst>
                <a:path h="5244408" w="5877546">
                  <a:moveTo>
                    <a:pt x="5877546" y="0"/>
                  </a:moveTo>
                  <a:lnTo>
                    <a:pt x="3762559" y="5244408"/>
                  </a:lnTo>
                  <a:lnTo>
                    <a:pt x="0" y="5244408"/>
                  </a:lnTo>
                  <a:lnTo>
                    <a:pt x="2090369" y="0"/>
                  </a:lnTo>
                  <a:lnTo>
                    <a:pt x="5877546" y="0"/>
                  </a:lnTo>
                  <a:close/>
                </a:path>
              </a:pathLst>
            </a:custGeom>
            <a:blipFill>
              <a:blip r:embed="rId2"/>
              <a:stretch>
                <a:fillRect l="0" t="-33978" r="0" b="-33978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470199" y="5333265"/>
            <a:ext cx="1842672" cy="1796605"/>
            <a:chOff x="0" y="0"/>
            <a:chExt cx="508000" cy="4953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24300" y="-35638"/>
            <a:ext cx="4523632" cy="4410541"/>
            <a:chOff x="0" y="0"/>
            <a:chExt cx="508000" cy="4953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619916" y="0"/>
            <a:ext cx="3519250" cy="2895883"/>
            <a:chOff x="0" y="0"/>
            <a:chExt cx="601918" cy="4953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01918" cy="495300"/>
            </a:xfrm>
            <a:custGeom>
              <a:avLst/>
              <a:gdLst/>
              <a:ahLst/>
              <a:cxnLst/>
              <a:rect r="r" b="b" t="t" l="l"/>
              <a:pathLst>
                <a:path h="495300" w="601918">
                  <a:moveTo>
                    <a:pt x="230188" y="0"/>
                  </a:moveTo>
                  <a:lnTo>
                    <a:pt x="601918" y="0"/>
                  </a:lnTo>
                  <a:lnTo>
                    <a:pt x="371731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254000" y="-38100"/>
              <a:ext cx="93918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81628" y="7659022"/>
            <a:ext cx="1842672" cy="1796605"/>
            <a:chOff x="0" y="0"/>
            <a:chExt cx="508000" cy="4953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9" id="19"/>
          <p:cNvSpPr/>
          <p:nvPr/>
        </p:nvSpPr>
        <p:spPr>
          <a:xfrm>
            <a:off x="2772250" y="1706555"/>
            <a:ext cx="7847666" cy="0"/>
          </a:xfrm>
          <a:prstGeom prst="line">
            <a:avLst/>
          </a:prstGeom>
          <a:ln cap="flat" w="38100">
            <a:solidFill>
              <a:srgbClr val="0F243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1406675" y="2657758"/>
            <a:ext cx="10739544" cy="2162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17682"/>
              </a:lnSpc>
              <a:spcBef>
                <a:spcPct val="0"/>
              </a:spcBef>
            </a:pPr>
            <a:r>
              <a:rPr lang="en-US" b="true" sz="12630">
                <a:solidFill>
                  <a:srgbClr val="0F2437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</a:t>
            </a:r>
            <a:r>
              <a:rPr lang="en-US" b="true" sz="12630" strike="noStrike" u="none">
                <a:solidFill>
                  <a:srgbClr val="0F2437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ortofolio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06675" y="1371742"/>
            <a:ext cx="2492100" cy="62201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5114"/>
              </a:lnSpc>
            </a:pPr>
            <a:r>
              <a:rPr sz="3600" b="1">
                <a:solidFill>
                  <a:srgbClr val="0F2437"/>
                </a:solidFill>
                <a:latin typeface="DM Sans Bold"/>
              </a:rPr>
              <a:t>2024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06675" y="6080760"/>
            <a:ext cx="8229600" cy="62694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5164"/>
              </a:lnSpc>
              <a:spcBef>
                <a:spcPct val="0"/>
              </a:spcBef>
            </a:pPr>
            <a:r>
              <a:rPr sz="2600" b="0">
                <a:solidFill>
                  <a:srgbClr val="2E5C7C"/>
                </a:solidFill>
                <a:latin typeface="DM Sans"/>
              </a:rPr>
              <a:t>Data Analyst &amp; Agentic AI Specialist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06675" y="4709160"/>
            <a:ext cx="8961120" cy="106863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8712"/>
              </a:lnSpc>
            </a:pPr>
            <a:r>
              <a:rPr sz="4200" b="1">
                <a:solidFill>
                  <a:srgbClr val="0F2437"/>
                </a:solidFill>
                <a:latin typeface="DM Sans Bold"/>
              </a:rPr>
              <a:t>Khairul Raihan Hidayat, S.Kom.</a:t>
            </a:r>
          </a:p>
        </p:txBody>
      </p:sp>
      <p:sp>
        <p:nvSpPr>
          <p:cNvPr name="AutoShape 24" id="24"/>
          <p:cNvSpPr/>
          <p:nvPr/>
        </p:nvSpPr>
        <p:spPr>
          <a:xfrm>
            <a:off x="1406675" y="5034033"/>
            <a:ext cx="7089824" cy="0"/>
          </a:xfrm>
          <a:prstGeom prst="line">
            <a:avLst/>
          </a:prstGeom>
          <a:ln cap="flat" w="11430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-1910855" y="7810358"/>
            <a:ext cx="3916513" cy="2895883"/>
            <a:chOff x="0" y="0"/>
            <a:chExt cx="669864" cy="4953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69864" cy="495300"/>
            </a:xfrm>
            <a:custGeom>
              <a:avLst/>
              <a:gdLst/>
              <a:ahLst/>
              <a:cxnLst/>
              <a:rect r="r" b="b" t="t" l="l"/>
              <a:pathLst>
                <a:path h="495300" w="669864">
                  <a:moveTo>
                    <a:pt x="230188" y="0"/>
                  </a:moveTo>
                  <a:lnTo>
                    <a:pt x="669864" y="0"/>
                  </a:lnTo>
                  <a:lnTo>
                    <a:pt x="439677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7" id="27"/>
            <p:cNvSpPr txBox="true"/>
            <p:nvPr/>
          </p:nvSpPr>
          <p:spPr>
            <a:xfrm>
              <a:off x="254000" y="-38100"/>
              <a:ext cx="161864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27547" y="8839058"/>
            <a:ext cx="3156222" cy="2895883"/>
            <a:chOff x="0" y="0"/>
            <a:chExt cx="539827" cy="4953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9827" cy="495300"/>
            </a:xfrm>
            <a:custGeom>
              <a:avLst/>
              <a:gdLst/>
              <a:ahLst/>
              <a:cxnLst/>
              <a:rect r="r" b="b" t="t" l="l"/>
              <a:pathLst>
                <a:path h="495300" w="539827">
                  <a:moveTo>
                    <a:pt x="230188" y="0"/>
                  </a:moveTo>
                  <a:lnTo>
                    <a:pt x="539827" y="0"/>
                  </a:lnTo>
                  <a:lnTo>
                    <a:pt x="309640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254000" y="-38100"/>
              <a:ext cx="31827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1C4462">
                <a:alpha val="100000"/>
              </a:srgbClr>
            </a:gs>
            <a:gs pos="100000">
              <a:srgbClr val="0C1824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42608" y="4655196"/>
            <a:ext cx="12294113" cy="0"/>
          </a:xfrm>
          <a:prstGeom prst="line">
            <a:avLst/>
          </a:prstGeom>
          <a:ln cap="flat" w="3810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242608" y="5673985"/>
            <a:ext cx="12294113" cy="0"/>
          </a:xfrm>
          <a:prstGeom prst="line">
            <a:avLst/>
          </a:prstGeom>
          <a:ln cap="flat" w="3810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242608" y="6692774"/>
            <a:ext cx="12294113" cy="0"/>
          </a:xfrm>
          <a:prstGeom prst="line">
            <a:avLst/>
          </a:prstGeom>
          <a:ln cap="flat" w="3810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flipV="true">
            <a:off x="1242608" y="7711562"/>
            <a:ext cx="12294113" cy="0"/>
          </a:xfrm>
          <a:prstGeom prst="line">
            <a:avLst/>
          </a:prstGeom>
          <a:ln cap="flat" w="3810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1242608" y="8730351"/>
            <a:ext cx="12294113" cy="0"/>
          </a:xfrm>
          <a:prstGeom prst="line">
            <a:avLst/>
          </a:prstGeom>
          <a:ln cap="flat" w="3810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2946260" y="6335658"/>
            <a:ext cx="4095165" cy="3992786"/>
            <a:chOff x="0" y="0"/>
            <a:chExt cx="508000" cy="4953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366089" y="5143500"/>
            <a:ext cx="6516479" cy="5216907"/>
            <a:chOff x="0" y="0"/>
            <a:chExt cx="618683" cy="4953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18683" cy="495300"/>
            </a:xfrm>
            <a:custGeom>
              <a:avLst/>
              <a:gdLst/>
              <a:ahLst/>
              <a:cxnLst/>
              <a:rect r="r" b="b" t="t" l="l"/>
              <a:pathLst>
                <a:path h="495300" w="618683">
                  <a:moveTo>
                    <a:pt x="230188" y="0"/>
                  </a:moveTo>
                  <a:lnTo>
                    <a:pt x="618683" y="0"/>
                  </a:lnTo>
                  <a:lnTo>
                    <a:pt x="388496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254000" y="-38100"/>
              <a:ext cx="110683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2050101" y="1362075"/>
            <a:ext cx="4881232" cy="291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11051"/>
              </a:lnSpc>
            </a:pPr>
            <a:r>
              <a:rPr lang="en-US" b="true" sz="12144" strike="noStrike" u="non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Daftar Isi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2608" y="3948316"/>
            <a:ext cx="4006760" cy="49974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3639"/>
              </a:lnSpc>
            </a:pPr>
            <a:r>
              <a:rPr sz="3800" b="0">
                <a:solidFill>
                  <a:srgbClr val="FFFFFF"/>
                </a:solidFill>
                <a:latin typeface="DM Sans"/>
              </a:rPr>
              <a:t>Ringkasan Profil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42608" y="4967105"/>
            <a:ext cx="4006760" cy="49974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3639"/>
              </a:lnSpc>
            </a:pPr>
            <a:r>
              <a:rPr sz="3800" b="0">
                <a:solidFill>
                  <a:srgbClr val="FFFFFF"/>
                </a:solidFill>
                <a:latin typeface="DM Sans"/>
              </a:rPr>
              <a:t>Latar Belakang Pendidikan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42608" y="5985894"/>
            <a:ext cx="4006760" cy="49974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3639"/>
              </a:lnSpc>
            </a:pPr>
            <a:r>
              <a:rPr sz="3800" b="0">
                <a:solidFill>
                  <a:srgbClr val="FFFFFF"/>
                </a:solidFill>
                <a:latin typeface="DM Sans"/>
              </a:rPr>
              <a:t>Keahlian Teknis &amp; Alat Kerja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2608" y="7004683"/>
            <a:ext cx="2992537" cy="49974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3639"/>
              </a:lnSpc>
            </a:pPr>
            <a:r>
              <a:rPr sz="3800" b="0">
                <a:solidFill>
                  <a:srgbClr val="FFFFFF"/>
                </a:solidFill>
                <a:latin typeface="DM Sans"/>
              </a:rPr>
              <a:t>Studi Kasus &amp; Riset Skripsi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42608" y="8023472"/>
            <a:ext cx="1738909" cy="49974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3639"/>
              </a:lnSpc>
            </a:pPr>
            <a:r>
              <a:rPr sz="3800" b="0">
                <a:solidFill>
                  <a:srgbClr val="FFFFFF"/>
                </a:solidFill>
                <a:latin typeface="DM Sans"/>
              </a:rPr>
              <a:t>Dampak, Metodologi &amp; Kontak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04585" y="-228118"/>
            <a:ext cx="3191015" cy="2841058"/>
            <a:chOff x="0" y="0"/>
            <a:chExt cx="521017" cy="46387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017" cy="463877"/>
            </a:xfrm>
            <a:custGeom>
              <a:avLst/>
              <a:gdLst/>
              <a:ahLst/>
              <a:cxnLst/>
              <a:rect r="r" b="b" t="t" l="l"/>
              <a:pathLst>
                <a:path h="463877" w="521017">
                  <a:moveTo>
                    <a:pt x="230188" y="0"/>
                  </a:moveTo>
                  <a:lnTo>
                    <a:pt x="521017" y="0"/>
                  </a:lnTo>
                  <a:lnTo>
                    <a:pt x="290829" y="463877"/>
                  </a:lnTo>
                  <a:lnTo>
                    <a:pt x="0" y="463877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13017" cy="5019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084644" y="6891998"/>
            <a:ext cx="4095165" cy="3992786"/>
            <a:chOff x="0" y="0"/>
            <a:chExt cx="508000" cy="4953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838002" y="6371494"/>
            <a:ext cx="3242588" cy="3161523"/>
            <a:chOff x="0" y="0"/>
            <a:chExt cx="508000" cy="4953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1135323" y="1288637"/>
            <a:ext cx="10102404" cy="7599755"/>
            <a:chOff x="0" y="0"/>
            <a:chExt cx="6971426" cy="524440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971426" cy="5244408"/>
            </a:xfrm>
            <a:custGeom>
              <a:avLst/>
              <a:gdLst/>
              <a:ahLst/>
              <a:cxnLst/>
              <a:rect r="r" b="b" t="t" l="l"/>
              <a:pathLst>
                <a:path h="5244408" w="6971426">
                  <a:moveTo>
                    <a:pt x="6971426" y="0"/>
                  </a:moveTo>
                  <a:lnTo>
                    <a:pt x="4462814" y="5244408"/>
                  </a:lnTo>
                  <a:lnTo>
                    <a:pt x="0" y="5244408"/>
                  </a:lnTo>
                  <a:lnTo>
                    <a:pt x="2479410" y="0"/>
                  </a:lnTo>
                  <a:lnTo>
                    <a:pt x="6971426" y="0"/>
                  </a:lnTo>
                  <a:close/>
                </a:path>
              </a:pathLst>
            </a:custGeom>
            <a:blipFill>
              <a:blip r:embed="rId2"/>
              <a:stretch>
                <a:fillRect l="-4755" t="0" r="-7944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-47823" y="408493"/>
            <a:ext cx="3445364" cy="3033509"/>
            <a:chOff x="0" y="0"/>
            <a:chExt cx="562546" cy="4953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533910" y="7163060"/>
            <a:ext cx="2575104" cy="2194847"/>
            <a:chOff x="0" y="0"/>
            <a:chExt cx="581111" cy="4953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-644226" y="8260483"/>
            <a:ext cx="1791408" cy="1526877"/>
            <a:chOff x="0" y="0"/>
            <a:chExt cx="581111" cy="4953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509244" y="2056433"/>
            <a:ext cx="6419073" cy="2520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9853"/>
              </a:lnSpc>
            </a:pPr>
            <a:r>
              <a:rPr lang="en-US" b="true" sz="8877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Ringk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a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s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a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n P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r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of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i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405181" y="4699619"/>
            <a:ext cx="8523135" cy="348932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r" marL="0" indent="0" lvl="1">
              <a:lnSpc>
                <a:spcPts val="3499"/>
              </a:lnSpc>
            </a:pPr>
            <a:r>
              <a:rPr sz="2000" b="0">
                <a:solidFill>
                  <a:srgbClr val="0F2437"/>
                </a:solidFill>
                <a:latin typeface="DM Sans"/>
              </a:rPr>
              <a:t>Lulusan Sarjana Komputer (S.Kom) Sistem Informasi konsentrasi Data Science dari Universitas Budi Luhur dengan predikat Magna Cum Laude (IPK 3.88/4.00).</a:t>
            </a:r>
          </a:p>
          <a:p/>
          <a:p>
            <a:r>
              <a:rPr sz="2000" b="0">
                <a:solidFill>
                  <a:srgbClr val="0F2437"/>
                </a:solidFill>
                <a:latin typeface="DM Sans"/>
              </a:rPr>
              <a:t>Memiliki spesialisasi dalam analisis data eksploratif, pemodelan prediktif Machine Learning (NLP), visualisasi Business Intelligence dengan Tableau, serta automasi alur kerja cerdas berbasis Agentic AI.</a:t>
            </a:r>
          </a:p>
          <a:p/>
          <a:p>
            <a:r>
              <a:rPr sz="2000" b="0">
                <a:solidFill>
                  <a:srgbClr val="0F2437"/>
                </a:solidFill>
                <a:latin typeface="DM Sans"/>
              </a:rPr>
              <a:t>Berpengalaman mengolah dataset skala besar, membangun model klasifikasi akurasi tinggi (92%+), dan merancang dasbor analitik interaktif untuk mendukung pengambilan keputusan bisnis yang presisi dan terukur.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0F2437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1C4462">
                <a:alpha val="100000"/>
              </a:srgbClr>
            </a:gs>
            <a:gs pos="100000">
              <a:srgbClr val="0C1824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5240529" y="434034"/>
            <a:ext cx="3331258" cy="2640666"/>
            <a:chOff x="0" y="0"/>
            <a:chExt cx="624832" cy="495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24832" cy="495300"/>
            </a:xfrm>
            <a:custGeom>
              <a:avLst/>
              <a:gdLst/>
              <a:ahLst/>
              <a:cxnLst/>
              <a:rect r="r" b="b" t="t" l="l"/>
              <a:pathLst>
                <a:path h="495300" w="624832">
                  <a:moveTo>
                    <a:pt x="230188" y="0"/>
                  </a:moveTo>
                  <a:lnTo>
                    <a:pt x="624832" y="0"/>
                  </a:lnTo>
                  <a:lnTo>
                    <a:pt x="394644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116832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0800000">
            <a:off x="12573611" y="1366449"/>
            <a:ext cx="6732645" cy="4456676"/>
            <a:chOff x="0" y="0"/>
            <a:chExt cx="748243" cy="4953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48243" cy="495300"/>
            </a:xfrm>
            <a:custGeom>
              <a:avLst/>
              <a:gdLst/>
              <a:ahLst/>
              <a:cxnLst/>
              <a:rect r="r" b="b" t="t" l="l"/>
              <a:pathLst>
                <a:path h="495300" w="748243">
                  <a:moveTo>
                    <a:pt x="230188" y="0"/>
                  </a:moveTo>
                  <a:lnTo>
                    <a:pt x="748243" y="0"/>
                  </a:lnTo>
                  <a:lnTo>
                    <a:pt x="518056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254000" y="-38100"/>
              <a:ext cx="240243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473464" y="8137578"/>
            <a:ext cx="4344182" cy="2903390"/>
            <a:chOff x="0" y="0"/>
            <a:chExt cx="741090" cy="4953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41090" cy="495300"/>
            </a:xfrm>
            <a:custGeom>
              <a:avLst/>
              <a:gdLst/>
              <a:ahLst/>
              <a:cxnLst/>
              <a:rect r="r" b="b" t="t" l="l"/>
              <a:pathLst>
                <a:path h="495300" w="741090">
                  <a:moveTo>
                    <a:pt x="230188" y="0"/>
                  </a:moveTo>
                  <a:lnTo>
                    <a:pt x="741090" y="0"/>
                  </a:lnTo>
                  <a:lnTo>
                    <a:pt x="51090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254000" y="-38100"/>
              <a:ext cx="23309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39082" y="4046250"/>
            <a:ext cx="15116792" cy="4845412"/>
            <a:chOff x="0" y="0"/>
            <a:chExt cx="1307515" cy="419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07515" cy="419100"/>
            </a:xfrm>
            <a:custGeom>
              <a:avLst/>
              <a:gdLst/>
              <a:ahLst/>
              <a:cxnLst/>
              <a:rect r="r" b="b" t="t" l="l"/>
              <a:pathLst>
                <a:path h="419100" w="1307515">
                  <a:moveTo>
                    <a:pt x="10003" y="0"/>
                  </a:moveTo>
                  <a:lnTo>
                    <a:pt x="1297512" y="0"/>
                  </a:lnTo>
                  <a:cubicBezTo>
                    <a:pt x="1300165" y="0"/>
                    <a:pt x="1302709" y="1054"/>
                    <a:pt x="1304585" y="2930"/>
                  </a:cubicBezTo>
                  <a:cubicBezTo>
                    <a:pt x="1306461" y="4806"/>
                    <a:pt x="1307515" y="7350"/>
                    <a:pt x="1307515" y="10003"/>
                  </a:cubicBezTo>
                  <a:lnTo>
                    <a:pt x="1307515" y="409097"/>
                  </a:lnTo>
                  <a:cubicBezTo>
                    <a:pt x="1307515" y="411750"/>
                    <a:pt x="1306461" y="414294"/>
                    <a:pt x="1304585" y="416170"/>
                  </a:cubicBezTo>
                  <a:cubicBezTo>
                    <a:pt x="1302709" y="418046"/>
                    <a:pt x="1300165" y="419100"/>
                    <a:pt x="1297512" y="419100"/>
                  </a:cubicBezTo>
                  <a:lnTo>
                    <a:pt x="10003" y="419100"/>
                  </a:lnTo>
                  <a:cubicBezTo>
                    <a:pt x="7350" y="419100"/>
                    <a:pt x="4806" y="418046"/>
                    <a:pt x="2930" y="416170"/>
                  </a:cubicBezTo>
                  <a:cubicBezTo>
                    <a:pt x="1054" y="414294"/>
                    <a:pt x="0" y="411750"/>
                    <a:pt x="0" y="409097"/>
                  </a:cubicBezTo>
                  <a:lnTo>
                    <a:pt x="0" y="10003"/>
                  </a:lnTo>
                  <a:cubicBezTo>
                    <a:pt x="0" y="7350"/>
                    <a:pt x="1054" y="4806"/>
                    <a:pt x="2930" y="2930"/>
                  </a:cubicBezTo>
                  <a:cubicBezTo>
                    <a:pt x="4806" y="1054"/>
                    <a:pt x="7350" y="0"/>
                    <a:pt x="1000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307515" cy="457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99602" y="4194685"/>
            <a:ext cx="4836168" cy="4548542"/>
            <a:chOff x="0" y="0"/>
            <a:chExt cx="458757" cy="4314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58757" cy="431473"/>
            </a:xfrm>
            <a:custGeom>
              <a:avLst/>
              <a:gdLst/>
              <a:ahLst/>
              <a:cxnLst/>
              <a:rect r="r" b="b" t="t" l="l"/>
              <a:pathLst>
                <a:path h="431473" w="458757">
                  <a:moveTo>
                    <a:pt x="31266" y="0"/>
                  </a:moveTo>
                  <a:lnTo>
                    <a:pt x="427491" y="0"/>
                  </a:lnTo>
                  <a:cubicBezTo>
                    <a:pt x="444758" y="0"/>
                    <a:pt x="458757" y="13998"/>
                    <a:pt x="458757" y="31266"/>
                  </a:cubicBezTo>
                  <a:lnTo>
                    <a:pt x="458757" y="400206"/>
                  </a:lnTo>
                  <a:cubicBezTo>
                    <a:pt x="458757" y="417474"/>
                    <a:pt x="444758" y="431473"/>
                    <a:pt x="427491" y="431473"/>
                  </a:cubicBezTo>
                  <a:lnTo>
                    <a:pt x="31266" y="431473"/>
                  </a:lnTo>
                  <a:cubicBezTo>
                    <a:pt x="22974" y="431473"/>
                    <a:pt x="15021" y="428179"/>
                    <a:pt x="9158" y="422315"/>
                  </a:cubicBezTo>
                  <a:cubicBezTo>
                    <a:pt x="3294" y="416452"/>
                    <a:pt x="0" y="408499"/>
                    <a:pt x="0" y="400206"/>
                  </a:cubicBezTo>
                  <a:lnTo>
                    <a:pt x="0" y="31266"/>
                  </a:lnTo>
                  <a:cubicBezTo>
                    <a:pt x="0" y="22974"/>
                    <a:pt x="3294" y="15021"/>
                    <a:pt x="9158" y="9158"/>
                  </a:cubicBezTo>
                  <a:cubicBezTo>
                    <a:pt x="15021" y="3294"/>
                    <a:pt x="22974" y="0"/>
                    <a:pt x="3126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458757" cy="4695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480143" y="4194685"/>
            <a:ext cx="4836168" cy="4548542"/>
            <a:chOff x="0" y="0"/>
            <a:chExt cx="458757" cy="43147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58757" cy="431473"/>
            </a:xfrm>
            <a:custGeom>
              <a:avLst/>
              <a:gdLst/>
              <a:ahLst/>
              <a:cxnLst/>
              <a:rect r="r" b="b" t="t" l="l"/>
              <a:pathLst>
                <a:path h="431473" w="458757">
                  <a:moveTo>
                    <a:pt x="31266" y="0"/>
                  </a:moveTo>
                  <a:lnTo>
                    <a:pt x="427491" y="0"/>
                  </a:lnTo>
                  <a:cubicBezTo>
                    <a:pt x="444758" y="0"/>
                    <a:pt x="458757" y="13998"/>
                    <a:pt x="458757" y="31266"/>
                  </a:cubicBezTo>
                  <a:lnTo>
                    <a:pt x="458757" y="400206"/>
                  </a:lnTo>
                  <a:cubicBezTo>
                    <a:pt x="458757" y="417474"/>
                    <a:pt x="444758" y="431473"/>
                    <a:pt x="427491" y="431473"/>
                  </a:cubicBezTo>
                  <a:lnTo>
                    <a:pt x="31266" y="431473"/>
                  </a:lnTo>
                  <a:cubicBezTo>
                    <a:pt x="22974" y="431473"/>
                    <a:pt x="15021" y="428179"/>
                    <a:pt x="9158" y="422315"/>
                  </a:cubicBezTo>
                  <a:cubicBezTo>
                    <a:pt x="3294" y="416452"/>
                    <a:pt x="0" y="408499"/>
                    <a:pt x="0" y="400206"/>
                  </a:cubicBezTo>
                  <a:lnTo>
                    <a:pt x="0" y="31266"/>
                  </a:lnTo>
                  <a:cubicBezTo>
                    <a:pt x="0" y="22974"/>
                    <a:pt x="3294" y="15021"/>
                    <a:pt x="9158" y="9158"/>
                  </a:cubicBezTo>
                  <a:cubicBezTo>
                    <a:pt x="15021" y="3294"/>
                    <a:pt x="22974" y="0"/>
                    <a:pt x="3126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458757" cy="4695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459186" y="4196928"/>
            <a:ext cx="4836168" cy="4548542"/>
            <a:chOff x="0" y="0"/>
            <a:chExt cx="458757" cy="43147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8757" cy="431473"/>
            </a:xfrm>
            <a:custGeom>
              <a:avLst/>
              <a:gdLst/>
              <a:ahLst/>
              <a:cxnLst/>
              <a:rect r="r" b="b" t="t" l="l"/>
              <a:pathLst>
                <a:path h="431473" w="458757">
                  <a:moveTo>
                    <a:pt x="31266" y="0"/>
                  </a:moveTo>
                  <a:lnTo>
                    <a:pt x="427491" y="0"/>
                  </a:lnTo>
                  <a:cubicBezTo>
                    <a:pt x="444758" y="0"/>
                    <a:pt x="458757" y="13998"/>
                    <a:pt x="458757" y="31266"/>
                  </a:cubicBezTo>
                  <a:lnTo>
                    <a:pt x="458757" y="400206"/>
                  </a:lnTo>
                  <a:cubicBezTo>
                    <a:pt x="458757" y="417474"/>
                    <a:pt x="444758" y="431473"/>
                    <a:pt x="427491" y="431473"/>
                  </a:cubicBezTo>
                  <a:lnTo>
                    <a:pt x="31266" y="431473"/>
                  </a:lnTo>
                  <a:cubicBezTo>
                    <a:pt x="22974" y="431473"/>
                    <a:pt x="15021" y="428179"/>
                    <a:pt x="9158" y="422315"/>
                  </a:cubicBezTo>
                  <a:cubicBezTo>
                    <a:pt x="3294" y="416452"/>
                    <a:pt x="0" y="408499"/>
                    <a:pt x="0" y="400206"/>
                  </a:cubicBezTo>
                  <a:lnTo>
                    <a:pt x="0" y="31266"/>
                  </a:lnTo>
                  <a:cubicBezTo>
                    <a:pt x="0" y="22974"/>
                    <a:pt x="3294" y="15021"/>
                    <a:pt x="9158" y="9158"/>
                  </a:cubicBezTo>
                  <a:cubicBezTo>
                    <a:pt x="15021" y="3294"/>
                    <a:pt x="22974" y="0"/>
                    <a:pt x="3126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58757" cy="4695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11685441" y="4728595"/>
            <a:ext cx="3275990" cy="0"/>
          </a:xfrm>
          <a:prstGeom prst="line">
            <a:avLst/>
          </a:prstGeom>
          <a:ln cap="flat" w="1905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8613047" y="4993135"/>
            <a:ext cx="1243200" cy="0"/>
          </a:xfrm>
          <a:prstGeom prst="line">
            <a:avLst/>
          </a:prstGeom>
          <a:ln cap="flat" w="4762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9558780" y="4468695"/>
            <a:ext cx="1476432" cy="46297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r" marL="0" indent="0" lvl="1">
              <a:lnSpc>
                <a:spcPts val="3881"/>
              </a:lnSpc>
              <a:spcBef>
                <a:spcPct val="0"/>
              </a:spcBef>
            </a:pPr>
            <a:r>
              <a:rPr sz="2500" b="1">
                <a:solidFill>
                  <a:srgbClr val="0F2437"/>
                </a:solidFill>
                <a:latin typeface="DM Sans Bold"/>
              </a:rPr>
              <a:t>2024</a:t>
            </a:r>
          </a:p>
        </p:txBody>
      </p:sp>
      <p:sp>
        <p:nvSpPr>
          <p:cNvPr name="AutoShape 26" id="26"/>
          <p:cNvSpPr/>
          <p:nvPr/>
        </p:nvSpPr>
        <p:spPr>
          <a:xfrm flipV="true">
            <a:off x="6725641" y="4728595"/>
            <a:ext cx="3238295" cy="0"/>
          </a:xfrm>
          <a:prstGeom prst="line">
            <a:avLst/>
          </a:prstGeom>
          <a:ln cap="flat" w="1905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1765869" y="4728595"/>
            <a:ext cx="2236826" cy="0"/>
          </a:xfrm>
          <a:prstGeom prst="line">
            <a:avLst/>
          </a:prstGeom>
          <a:ln cap="flat" w="19050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TextBox 28" id="28"/>
          <p:cNvSpPr txBox="true"/>
          <p:nvPr/>
        </p:nvSpPr>
        <p:spPr>
          <a:xfrm rot="0">
            <a:off x="4136616" y="4468695"/>
            <a:ext cx="1954074" cy="47217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 marL="0" indent="0" lvl="1">
              <a:lnSpc>
                <a:spcPts val="3967"/>
              </a:lnSpc>
              <a:spcBef>
                <a:spcPct val="0"/>
              </a:spcBef>
            </a:pPr>
            <a:r>
              <a:rPr sz="2500" b="1">
                <a:solidFill>
                  <a:srgbClr val="0F2437"/>
                </a:solidFill>
                <a:latin typeface="DM Sans Bold"/>
              </a:rPr>
              <a:t>2020 - 2024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5434" y="10184626"/>
            <a:ext cx="3242364" cy="6134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5039"/>
              </a:lnSpc>
            </a:pP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3172812" y="5143500"/>
            <a:ext cx="2917878" cy="2917878"/>
          </a:xfrm>
          <a:custGeom>
            <a:avLst/>
            <a:gdLst/>
            <a:ahLst/>
            <a:cxnLst/>
            <a:rect r="r" b="b" t="t" l="l"/>
            <a:pathLst>
              <a:path h="2917878" w="2917878">
                <a:moveTo>
                  <a:pt x="0" y="0"/>
                </a:moveTo>
                <a:lnTo>
                  <a:pt x="2917878" y="0"/>
                </a:lnTo>
                <a:lnTo>
                  <a:pt x="2917878" y="2917878"/>
                </a:lnTo>
                <a:lnTo>
                  <a:pt x="0" y="29178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8117334" y="5143500"/>
            <a:ext cx="2917878" cy="2917878"/>
          </a:xfrm>
          <a:custGeom>
            <a:avLst/>
            <a:gdLst/>
            <a:ahLst/>
            <a:cxnLst/>
            <a:rect r="r" b="b" t="t" l="l"/>
            <a:pathLst>
              <a:path h="2917878" w="2917878">
                <a:moveTo>
                  <a:pt x="0" y="0"/>
                </a:moveTo>
                <a:lnTo>
                  <a:pt x="2917878" y="0"/>
                </a:lnTo>
                <a:lnTo>
                  <a:pt x="2917878" y="2917878"/>
                </a:lnTo>
                <a:lnTo>
                  <a:pt x="0" y="29178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13061856" y="5143500"/>
            <a:ext cx="2917878" cy="2917878"/>
          </a:xfrm>
          <a:custGeom>
            <a:avLst/>
            <a:gdLst/>
            <a:ahLst/>
            <a:cxnLst/>
            <a:rect r="r" b="b" t="t" l="l"/>
            <a:pathLst>
              <a:path h="2917878" w="2917878">
                <a:moveTo>
                  <a:pt x="0" y="0"/>
                </a:moveTo>
                <a:lnTo>
                  <a:pt x="2917879" y="0"/>
                </a:lnTo>
                <a:lnTo>
                  <a:pt x="2917879" y="2917878"/>
                </a:lnTo>
                <a:lnTo>
                  <a:pt x="0" y="29178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765869" y="5870750"/>
            <a:ext cx="3958508" cy="10065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996"/>
              </a:lnSpc>
            </a:pPr>
            <a:r>
              <a:rPr sz="2800" b="1">
                <a:solidFill>
                  <a:srgbClr val="0F2437"/>
                </a:solidFill>
                <a:latin typeface="DM Sans Bold"/>
              </a:rPr>
              <a:t>Sarjana</a:t>
            </a:r>
          </a:p>
          <a:p>
            <a:r>
              <a:rPr sz="2800" b="1">
                <a:solidFill>
                  <a:srgbClr val="0F2437"/>
                </a:solidFill>
                <a:latin typeface="DM Sans Bold"/>
              </a:rPr>
              <a:t>Sistem Informasi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765869" y="6893414"/>
            <a:ext cx="4073975" cy="104410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266"/>
              </a:lnSpc>
            </a:pPr>
            <a:r>
              <a:rPr sz="2200" b="0">
                <a:solidFill>
                  <a:srgbClr val="2E5C7C"/>
                </a:solidFill>
                <a:latin typeface="DM Sans"/>
              </a:rPr>
              <a:t>Universitas Budi Luhur</a:t>
            </a:r>
          </a:p>
          <a:p>
            <a:r>
              <a:rPr sz="2200" b="0">
                <a:solidFill>
                  <a:srgbClr val="2E5C7C"/>
                </a:solidFill>
                <a:latin typeface="DM Sans"/>
              </a:rPr>
              <a:t>IPK 3.88 / 4.00 (Magna Cum Laude)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33365" y="1882122"/>
            <a:ext cx="6968562" cy="990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7669"/>
              </a:lnSpc>
            </a:pPr>
            <a:r>
              <a:rPr lang="en-US" b="true" sz="6909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Latar Belakang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33365" y="2948788"/>
            <a:ext cx="6968562" cy="658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5100"/>
              </a:lnSpc>
            </a:pPr>
            <a:r>
              <a:rPr lang="en-US" b="true" sz="4594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Pendidikan &amp; Pelatihan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502312" y="4468695"/>
            <a:ext cx="1476432" cy="46297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r" marL="0" indent="0" lvl="1">
              <a:lnSpc>
                <a:spcPts val="3881"/>
              </a:lnSpc>
              <a:spcBef>
                <a:spcPct val="0"/>
              </a:spcBef>
            </a:pPr>
            <a:r>
              <a:rPr sz="2500" b="1">
                <a:solidFill>
                  <a:srgbClr val="0F2437"/>
                </a:solidFill>
                <a:latin typeface="DM Sans Bold"/>
              </a:rPr>
              <a:t>2024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725641" y="5870750"/>
            <a:ext cx="3958508" cy="10065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996"/>
              </a:lnSpc>
            </a:pPr>
            <a:r>
              <a:rPr sz="2800" b="1">
                <a:solidFill>
                  <a:srgbClr val="0F2437"/>
                </a:solidFill>
                <a:latin typeface="DM Sans Bold"/>
              </a:rPr>
              <a:t>Mini Course</a:t>
            </a:r>
          </a:p>
          <a:p>
            <a:r>
              <a:rPr sz="2800" b="1">
                <a:solidFill>
                  <a:srgbClr val="0F2437"/>
                </a:solidFill>
                <a:latin typeface="DM Sans Bold"/>
              </a:rPr>
              <a:t>Data Analytics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725641" y="6893414"/>
            <a:ext cx="4073975" cy="104410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266"/>
              </a:lnSpc>
            </a:pPr>
            <a:r>
              <a:rPr sz="2400" b="0">
                <a:solidFill>
                  <a:srgbClr val="2E5C7C"/>
                </a:solidFill>
                <a:latin typeface="DM Sans"/>
              </a:rPr>
              <a:t>RevoU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685441" y="5870750"/>
            <a:ext cx="4399479" cy="10065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996"/>
              </a:lnSpc>
            </a:pPr>
            <a:r>
              <a:rPr sz="2600" b="1">
                <a:solidFill>
                  <a:srgbClr val="0F2437"/>
                </a:solidFill>
                <a:latin typeface="DM Sans Bold"/>
              </a:rPr>
              <a:t>Python Data Science &amp;</a:t>
            </a:r>
          </a:p>
          <a:p>
            <a:r>
              <a:rPr sz="2600" b="1">
                <a:solidFill>
                  <a:srgbClr val="0F2437"/>
                </a:solidFill>
                <a:latin typeface="DM Sans Bold"/>
              </a:rPr>
              <a:t>Visualization Mastery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685441" y="6893414"/>
            <a:ext cx="4073975" cy="104410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266"/>
              </a:lnSpc>
            </a:pPr>
            <a:r>
              <a:rPr sz="2400" b="0">
                <a:solidFill>
                  <a:srgbClr val="2E5C7C"/>
                </a:solidFill>
                <a:latin typeface="DM Sans"/>
              </a:rPr>
              <a:t>DQLab Academy</a:t>
            </a:r>
          </a:p>
        </p:txBody>
      </p:sp>
      <p:grpSp>
        <p:nvGrpSpPr>
          <p:cNvPr name="Group 42" id="42"/>
          <p:cNvGrpSpPr/>
          <p:nvPr/>
        </p:nvGrpSpPr>
        <p:grpSpPr>
          <a:xfrm rot="-10800000">
            <a:off x="12197546" y="-1197770"/>
            <a:ext cx="4097808" cy="3607960"/>
            <a:chOff x="0" y="0"/>
            <a:chExt cx="562546" cy="4953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4" id="44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-10800000">
            <a:off x="-782145" y="9258300"/>
            <a:ext cx="3297579" cy="2903390"/>
            <a:chOff x="0" y="0"/>
            <a:chExt cx="562546" cy="4953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7" id="47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203083" y="1255111"/>
            <a:ext cx="9065742" cy="1273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9853"/>
              </a:lnSpc>
            </a:pPr>
            <a:r>
              <a:rPr lang="en-US" b="true" sz="8877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Keahl</a:t>
            </a:r>
            <a:r>
              <a:rPr lang="en-US" b="true" sz="8877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ian Tek</a:t>
            </a:r>
            <a:r>
              <a:rPr lang="en-US" b="true" sz="8877" strike="noStrike" u="non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nis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800577" y="5844377"/>
            <a:ext cx="7468248" cy="2794330"/>
            <a:chOff x="0" y="0"/>
            <a:chExt cx="804631" cy="30106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04631" cy="301062"/>
            </a:xfrm>
            <a:custGeom>
              <a:avLst/>
              <a:gdLst/>
              <a:ahLst/>
              <a:cxnLst/>
              <a:rect r="r" b="b" t="t" l="l"/>
              <a:pathLst>
                <a:path h="301062" w="804631">
                  <a:moveTo>
                    <a:pt x="20247" y="0"/>
                  </a:moveTo>
                  <a:lnTo>
                    <a:pt x="784384" y="0"/>
                  </a:lnTo>
                  <a:cubicBezTo>
                    <a:pt x="789754" y="0"/>
                    <a:pt x="794904" y="2133"/>
                    <a:pt x="798701" y="5930"/>
                  </a:cubicBezTo>
                  <a:cubicBezTo>
                    <a:pt x="802498" y="9727"/>
                    <a:pt x="804631" y="14877"/>
                    <a:pt x="804631" y="20247"/>
                  </a:cubicBezTo>
                  <a:lnTo>
                    <a:pt x="804631" y="280815"/>
                  </a:lnTo>
                  <a:cubicBezTo>
                    <a:pt x="804631" y="286185"/>
                    <a:pt x="802498" y="291335"/>
                    <a:pt x="798701" y="295132"/>
                  </a:cubicBezTo>
                  <a:cubicBezTo>
                    <a:pt x="794904" y="298929"/>
                    <a:pt x="789754" y="301062"/>
                    <a:pt x="784384" y="301062"/>
                  </a:cubicBezTo>
                  <a:lnTo>
                    <a:pt x="20247" y="301062"/>
                  </a:lnTo>
                  <a:cubicBezTo>
                    <a:pt x="14877" y="301062"/>
                    <a:pt x="9727" y="298929"/>
                    <a:pt x="5930" y="295132"/>
                  </a:cubicBezTo>
                  <a:cubicBezTo>
                    <a:pt x="2133" y="291335"/>
                    <a:pt x="0" y="286185"/>
                    <a:pt x="0" y="280815"/>
                  </a:cubicBezTo>
                  <a:lnTo>
                    <a:pt x="0" y="20247"/>
                  </a:lnTo>
                  <a:cubicBezTo>
                    <a:pt x="0" y="14877"/>
                    <a:pt x="2133" y="9727"/>
                    <a:pt x="5930" y="5930"/>
                  </a:cubicBezTo>
                  <a:cubicBezTo>
                    <a:pt x="9727" y="2133"/>
                    <a:pt x="14877" y="0"/>
                    <a:pt x="2024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804631" cy="339162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990342" y="6158851"/>
            <a:ext cx="3679394" cy="36135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782"/>
              </a:lnSpc>
            </a:pPr>
            <a:r>
              <a:rPr sz="2100" b="1">
                <a:solidFill>
                  <a:srgbClr val="FFFFFF"/>
                </a:solidFill>
                <a:latin typeface="DM Sans Bold"/>
              </a:rPr>
              <a:t>Agentic AI &amp; Automasi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90342" y="6645391"/>
            <a:ext cx="6013968" cy="171106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2765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Google Antigravity Agentic AI, rekayasa prompt LLM terstruktur, automasi batch processing, integrasi API, dan peningkatan efisiensi kerja hingga ~70%.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2027529" y="5844377"/>
            <a:ext cx="7468248" cy="2794330"/>
            <a:chOff x="0" y="0"/>
            <a:chExt cx="804631" cy="30106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04631" cy="301062"/>
            </a:xfrm>
            <a:custGeom>
              <a:avLst/>
              <a:gdLst/>
              <a:ahLst/>
              <a:cxnLst/>
              <a:rect r="r" b="b" t="t" l="l"/>
              <a:pathLst>
                <a:path h="301062" w="804631">
                  <a:moveTo>
                    <a:pt x="20247" y="0"/>
                  </a:moveTo>
                  <a:lnTo>
                    <a:pt x="784384" y="0"/>
                  </a:lnTo>
                  <a:cubicBezTo>
                    <a:pt x="789754" y="0"/>
                    <a:pt x="794904" y="2133"/>
                    <a:pt x="798701" y="5930"/>
                  </a:cubicBezTo>
                  <a:cubicBezTo>
                    <a:pt x="802498" y="9727"/>
                    <a:pt x="804631" y="14877"/>
                    <a:pt x="804631" y="20247"/>
                  </a:cubicBezTo>
                  <a:lnTo>
                    <a:pt x="804631" y="280815"/>
                  </a:lnTo>
                  <a:cubicBezTo>
                    <a:pt x="804631" y="286185"/>
                    <a:pt x="802498" y="291335"/>
                    <a:pt x="798701" y="295132"/>
                  </a:cubicBezTo>
                  <a:cubicBezTo>
                    <a:pt x="794904" y="298929"/>
                    <a:pt x="789754" y="301062"/>
                    <a:pt x="784384" y="301062"/>
                  </a:cubicBezTo>
                  <a:lnTo>
                    <a:pt x="20247" y="301062"/>
                  </a:lnTo>
                  <a:cubicBezTo>
                    <a:pt x="14877" y="301062"/>
                    <a:pt x="9727" y="298929"/>
                    <a:pt x="5930" y="295132"/>
                  </a:cubicBezTo>
                  <a:cubicBezTo>
                    <a:pt x="2133" y="291335"/>
                    <a:pt x="0" y="286185"/>
                    <a:pt x="0" y="280815"/>
                  </a:cubicBezTo>
                  <a:lnTo>
                    <a:pt x="0" y="20247"/>
                  </a:lnTo>
                  <a:cubicBezTo>
                    <a:pt x="0" y="14877"/>
                    <a:pt x="2133" y="9727"/>
                    <a:pt x="5930" y="5930"/>
                  </a:cubicBezTo>
                  <a:cubicBezTo>
                    <a:pt x="9727" y="2133"/>
                    <a:pt x="14877" y="0"/>
                    <a:pt x="2024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804631" cy="339162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17293" y="6158851"/>
            <a:ext cx="4889086" cy="36135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782"/>
              </a:lnSpc>
            </a:pPr>
            <a:r>
              <a:rPr sz="2100" b="1">
                <a:solidFill>
                  <a:srgbClr val="FFFFFF"/>
                </a:solidFill>
                <a:latin typeface="DM Sans Bold"/>
              </a:rPr>
              <a:t>Kueri SQL &amp; Manajemen Data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217293" y="6645391"/>
            <a:ext cx="6013968" cy="171106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2765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Kueri SQL relasional (MySQL, PostgreSQL), agregasi data skala besar, operasi JOIN multi-tabel, optimasi query, dan ekstraksi dataset analitis.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800577" y="2910418"/>
            <a:ext cx="7468248" cy="2794330"/>
            <a:chOff x="0" y="0"/>
            <a:chExt cx="804631" cy="30106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04631" cy="301062"/>
            </a:xfrm>
            <a:custGeom>
              <a:avLst/>
              <a:gdLst/>
              <a:ahLst/>
              <a:cxnLst/>
              <a:rect r="r" b="b" t="t" l="l"/>
              <a:pathLst>
                <a:path h="301062" w="804631">
                  <a:moveTo>
                    <a:pt x="20247" y="0"/>
                  </a:moveTo>
                  <a:lnTo>
                    <a:pt x="784384" y="0"/>
                  </a:lnTo>
                  <a:cubicBezTo>
                    <a:pt x="789754" y="0"/>
                    <a:pt x="794904" y="2133"/>
                    <a:pt x="798701" y="5930"/>
                  </a:cubicBezTo>
                  <a:cubicBezTo>
                    <a:pt x="802498" y="9727"/>
                    <a:pt x="804631" y="14877"/>
                    <a:pt x="804631" y="20247"/>
                  </a:cubicBezTo>
                  <a:lnTo>
                    <a:pt x="804631" y="280815"/>
                  </a:lnTo>
                  <a:cubicBezTo>
                    <a:pt x="804631" y="286185"/>
                    <a:pt x="802498" y="291335"/>
                    <a:pt x="798701" y="295132"/>
                  </a:cubicBezTo>
                  <a:cubicBezTo>
                    <a:pt x="794904" y="298929"/>
                    <a:pt x="789754" y="301062"/>
                    <a:pt x="784384" y="301062"/>
                  </a:cubicBezTo>
                  <a:lnTo>
                    <a:pt x="20247" y="301062"/>
                  </a:lnTo>
                  <a:cubicBezTo>
                    <a:pt x="14877" y="301062"/>
                    <a:pt x="9727" y="298929"/>
                    <a:pt x="5930" y="295132"/>
                  </a:cubicBezTo>
                  <a:cubicBezTo>
                    <a:pt x="2133" y="291335"/>
                    <a:pt x="0" y="286185"/>
                    <a:pt x="0" y="280815"/>
                  </a:cubicBezTo>
                  <a:lnTo>
                    <a:pt x="0" y="20247"/>
                  </a:lnTo>
                  <a:cubicBezTo>
                    <a:pt x="0" y="14877"/>
                    <a:pt x="2133" y="9727"/>
                    <a:pt x="5930" y="5930"/>
                  </a:cubicBezTo>
                  <a:cubicBezTo>
                    <a:pt x="9727" y="2133"/>
                    <a:pt x="14877" y="0"/>
                    <a:pt x="2024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04631" cy="339162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0990342" y="3711432"/>
            <a:ext cx="6013968" cy="171106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2765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Tableau Desktop &amp; Public, perancangan dasbor KPI interaktif, calculated fields, parameter dinamis, analisis tren bisnis, dan storytelling data eksekutif.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-62005" y="2365318"/>
            <a:ext cx="2413501" cy="2124993"/>
            <a:chOff x="0" y="0"/>
            <a:chExt cx="562546" cy="4953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44745" y="684118"/>
            <a:ext cx="4517091" cy="3033509"/>
            <a:chOff x="0" y="0"/>
            <a:chExt cx="737534" cy="495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7534" cy="495300"/>
            </a:xfrm>
            <a:custGeom>
              <a:avLst/>
              <a:gdLst/>
              <a:ahLst/>
              <a:cxnLst/>
              <a:rect r="r" b="b" t="t" l="l"/>
              <a:pathLst>
                <a:path h="495300" w="737534">
                  <a:moveTo>
                    <a:pt x="230188" y="0"/>
                  </a:moveTo>
                  <a:lnTo>
                    <a:pt x="737534" y="0"/>
                  </a:lnTo>
                  <a:lnTo>
                    <a:pt x="507346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254000" y="-38100"/>
              <a:ext cx="229534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2027529" y="2910418"/>
            <a:ext cx="7468248" cy="2794330"/>
            <a:chOff x="0" y="0"/>
            <a:chExt cx="804631" cy="30106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04631" cy="301062"/>
            </a:xfrm>
            <a:custGeom>
              <a:avLst/>
              <a:gdLst/>
              <a:ahLst/>
              <a:cxnLst/>
              <a:rect r="r" b="b" t="t" l="l"/>
              <a:pathLst>
                <a:path h="301062" w="804631">
                  <a:moveTo>
                    <a:pt x="20247" y="0"/>
                  </a:moveTo>
                  <a:lnTo>
                    <a:pt x="784384" y="0"/>
                  </a:lnTo>
                  <a:cubicBezTo>
                    <a:pt x="789754" y="0"/>
                    <a:pt x="794904" y="2133"/>
                    <a:pt x="798701" y="5930"/>
                  </a:cubicBezTo>
                  <a:cubicBezTo>
                    <a:pt x="802498" y="9727"/>
                    <a:pt x="804631" y="14877"/>
                    <a:pt x="804631" y="20247"/>
                  </a:cubicBezTo>
                  <a:lnTo>
                    <a:pt x="804631" y="280815"/>
                  </a:lnTo>
                  <a:cubicBezTo>
                    <a:pt x="804631" y="286185"/>
                    <a:pt x="802498" y="291335"/>
                    <a:pt x="798701" y="295132"/>
                  </a:cubicBezTo>
                  <a:cubicBezTo>
                    <a:pt x="794904" y="298929"/>
                    <a:pt x="789754" y="301062"/>
                    <a:pt x="784384" y="301062"/>
                  </a:cubicBezTo>
                  <a:lnTo>
                    <a:pt x="20247" y="301062"/>
                  </a:lnTo>
                  <a:cubicBezTo>
                    <a:pt x="14877" y="301062"/>
                    <a:pt x="9727" y="298929"/>
                    <a:pt x="5930" y="295132"/>
                  </a:cubicBezTo>
                  <a:cubicBezTo>
                    <a:pt x="2133" y="291335"/>
                    <a:pt x="0" y="286185"/>
                    <a:pt x="0" y="280815"/>
                  </a:cubicBezTo>
                  <a:lnTo>
                    <a:pt x="0" y="20247"/>
                  </a:lnTo>
                  <a:cubicBezTo>
                    <a:pt x="0" y="14877"/>
                    <a:pt x="2133" y="9727"/>
                    <a:pt x="5930" y="5930"/>
                  </a:cubicBezTo>
                  <a:cubicBezTo>
                    <a:pt x="9727" y="2133"/>
                    <a:pt x="14877" y="0"/>
                    <a:pt x="2024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804631" cy="339162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3217293" y="3711432"/>
            <a:ext cx="6013968" cy="171106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2765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Python (Pandas, NumPy, Scikit-Learn, Streamlit), data wrangling, eksplorasi statistik (EDA), dan pemodelan prediktif machine learning terstruktur.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990342" y="3224892"/>
            <a:ext cx="6013968" cy="36135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782"/>
              </a:lnSpc>
            </a:pPr>
            <a:r>
              <a:rPr sz="2100" b="1">
                <a:solidFill>
                  <a:srgbClr val="FFFFFF"/>
                </a:solidFill>
                <a:latin typeface="DM Sans Bold"/>
              </a:rPr>
              <a:t>Visualisasi Data &amp; BI (Tableau)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217293" y="3224892"/>
            <a:ext cx="6013968" cy="36135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782"/>
              </a:lnSpc>
            </a:pPr>
            <a:r>
              <a:rPr sz="2100" b="1">
                <a:solidFill>
                  <a:srgbClr val="FFFFFF"/>
                </a:solidFill>
                <a:latin typeface="DM Sans Bold"/>
              </a:rPr>
              <a:t>Bahasa Pemrograman &amp; Data Science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247473" y="3081868"/>
            <a:ext cx="667398" cy="1320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10203"/>
              </a:lnSpc>
            </a:pPr>
            <a:r>
              <a:rPr lang="en-US" b="true" sz="9192">
                <a:gradFill>
                  <a:gsLst>
                    <a:gs pos="0">
                      <a:srgbClr val="FFFFFF">
                        <a:alpha val="100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027529" y="6006302"/>
            <a:ext cx="887342" cy="1320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10203"/>
              </a:lnSpc>
            </a:pPr>
            <a:r>
              <a:rPr lang="en-US" b="true" sz="9192">
                <a:gradFill>
                  <a:gsLst>
                    <a:gs pos="0">
                      <a:srgbClr val="FFFFFF">
                        <a:alpha val="100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800577" y="6006302"/>
            <a:ext cx="887342" cy="1320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10203"/>
              </a:lnSpc>
            </a:pPr>
            <a:r>
              <a:rPr lang="en-US" b="true" sz="9192">
                <a:gradFill>
                  <a:gsLst>
                    <a:gs pos="0">
                      <a:srgbClr val="FFFFFF">
                        <a:alpha val="100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atin typeface="DM Sans Bold"/>
                <a:ea typeface="DM Sans Bold"/>
                <a:cs typeface="DM Sans Bold"/>
                <a:sym typeface="DM Sans Bold"/>
              </a:rPr>
              <a:t>4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800577" y="3081868"/>
            <a:ext cx="887342" cy="1320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10203"/>
              </a:lnSpc>
            </a:pPr>
            <a:r>
              <a:rPr lang="en-US" b="true" sz="9192">
                <a:gradFill>
                  <a:gsLst>
                    <a:gs pos="0">
                      <a:srgbClr val="FFFFFF">
                        <a:alpha val="100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494611" y="-1049580"/>
            <a:ext cx="3445364" cy="3033509"/>
            <a:chOff x="0" y="0"/>
            <a:chExt cx="562546" cy="4953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5" id="35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-964571" y="760356"/>
            <a:ext cx="2413501" cy="2124993"/>
            <a:chOff x="0" y="0"/>
            <a:chExt cx="562546" cy="4953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8" id="38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0F2437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1C4462">
                <a:alpha val="100000"/>
              </a:srgbClr>
            </a:gs>
            <a:gs pos="100000">
              <a:srgbClr val="0C1824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3951482" y="8970116"/>
            <a:ext cx="2095273" cy="1626643"/>
            <a:chOff x="0" y="0"/>
            <a:chExt cx="637994" cy="495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37994" cy="495300"/>
            </a:xfrm>
            <a:custGeom>
              <a:avLst/>
              <a:gdLst/>
              <a:ahLst/>
              <a:cxnLst/>
              <a:rect r="r" b="b" t="t" l="l"/>
              <a:pathLst>
                <a:path h="495300" w="637994">
                  <a:moveTo>
                    <a:pt x="230188" y="0"/>
                  </a:moveTo>
                  <a:lnTo>
                    <a:pt x="637994" y="0"/>
                  </a:lnTo>
                  <a:lnTo>
                    <a:pt x="407807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129994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515434" y="10184626"/>
            <a:ext cx="3242364" cy="6134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5039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8544155" y="799018"/>
            <a:ext cx="8629420" cy="8688964"/>
            <a:chOff x="0" y="0"/>
            <a:chExt cx="952012" cy="95858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52012" cy="958581"/>
            </a:xfrm>
            <a:custGeom>
              <a:avLst/>
              <a:gdLst/>
              <a:ahLst/>
              <a:cxnLst/>
              <a:rect r="r" b="b" t="t" l="l"/>
              <a:pathLst>
                <a:path h="958581" w="952012">
                  <a:moveTo>
                    <a:pt x="17523" y="0"/>
                  </a:moveTo>
                  <a:lnTo>
                    <a:pt x="934489" y="0"/>
                  </a:lnTo>
                  <a:cubicBezTo>
                    <a:pt x="944166" y="0"/>
                    <a:pt x="952012" y="7845"/>
                    <a:pt x="952012" y="17523"/>
                  </a:cubicBezTo>
                  <a:lnTo>
                    <a:pt x="952012" y="941058"/>
                  </a:lnTo>
                  <a:cubicBezTo>
                    <a:pt x="952012" y="950735"/>
                    <a:pt x="944166" y="958581"/>
                    <a:pt x="934489" y="958581"/>
                  </a:cubicBezTo>
                  <a:lnTo>
                    <a:pt x="17523" y="958581"/>
                  </a:lnTo>
                  <a:cubicBezTo>
                    <a:pt x="7845" y="958581"/>
                    <a:pt x="0" y="950735"/>
                    <a:pt x="0" y="941058"/>
                  </a:cubicBezTo>
                  <a:lnTo>
                    <a:pt x="0" y="17523"/>
                  </a:lnTo>
                  <a:cubicBezTo>
                    <a:pt x="0" y="7845"/>
                    <a:pt x="7845" y="0"/>
                    <a:pt x="1752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952012" cy="996681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06370" y="984931"/>
            <a:ext cx="8304990" cy="4078078"/>
            <a:chOff x="0" y="0"/>
            <a:chExt cx="1720598" cy="84488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720598" cy="844881"/>
            </a:xfrm>
            <a:custGeom>
              <a:avLst/>
              <a:gdLst/>
              <a:ahLst/>
              <a:cxnLst/>
              <a:rect r="r" b="b" t="t" l="l"/>
              <a:pathLst>
                <a:path h="844881" w="1720598">
                  <a:moveTo>
                    <a:pt x="18207" y="0"/>
                  </a:moveTo>
                  <a:lnTo>
                    <a:pt x="1702391" y="0"/>
                  </a:lnTo>
                  <a:cubicBezTo>
                    <a:pt x="1707220" y="0"/>
                    <a:pt x="1711851" y="1918"/>
                    <a:pt x="1715265" y="5333"/>
                  </a:cubicBezTo>
                  <a:cubicBezTo>
                    <a:pt x="1718680" y="8747"/>
                    <a:pt x="1720598" y="13378"/>
                    <a:pt x="1720598" y="18207"/>
                  </a:cubicBezTo>
                  <a:lnTo>
                    <a:pt x="1720598" y="826674"/>
                  </a:lnTo>
                  <a:cubicBezTo>
                    <a:pt x="1720598" y="836730"/>
                    <a:pt x="1712446" y="844881"/>
                    <a:pt x="1702391" y="844881"/>
                  </a:cubicBezTo>
                  <a:lnTo>
                    <a:pt x="18207" y="844881"/>
                  </a:lnTo>
                  <a:cubicBezTo>
                    <a:pt x="8152" y="844881"/>
                    <a:pt x="0" y="836730"/>
                    <a:pt x="0" y="826674"/>
                  </a:cubicBezTo>
                  <a:lnTo>
                    <a:pt x="0" y="18207"/>
                  </a:lnTo>
                  <a:cubicBezTo>
                    <a:pt x="0" y="8152"/>
                    <a:pt x="8152" y="0"/>
                    <a:pt x="1820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720598" cy="882981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AutoShape 12" id="12"/>
          <p:cNvSpPr/>
          <p:nvPr/>
        </p:nvSpPr>
        <p:spPr>
          <a:xfrm flipV="true">
            <a:off x="8963851" y="2348248"/>
            <a:ext cx="7592819" cy="0"/>
          </a:xfrm>
          <a:prstGeom prst="line">
            <a:avLst/>
          </a:prstGeom>
          <a:ln cap="rnd" w="28575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8706370" y="5223991"/>
            <a:ext cx="8304990" cy="4078078"/>
            <a:chOff x="0" y="0"/>
            <a:chExt cx="1720598" cy="84488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20598" cy="844881"/>
            </a:xfrm>
            <a:custGeom>
              <a:avLst/>
              <a:gdLst/>
              <a:ahLst/>
              <a:cxnLst/>
              <a:rect r="r" b="b" t="t" l="l"/>
              <a:pathLst>
                <a:path h="844881" w="1720598">
                  <a:moveTo>
                    <a:pt x="18207" y="0"/>
                  </a:moveTo>
                  <a:lnTo>
                    <a:pt x="1702391" y="0"/>
                  </a:lnTo>
                  <a:cubicBezTo>
                    <a:pt x="1707220" y="0"/>
                    <a:pt x="1711851" y="1918"/>
                    <a:pt x="1715265" y="5333"/>
                  </a:cubicBezTo>
                  <a:cubicBezTo>
                    <a:pt x="1718680" y="8747"/>
                    <a:pt x="1720598" y="13378"/>
                    <a:pt x="1720598" y="18207"/>
                  </a:cubicBezTo>
                  <a:lnTo>
                    <a:pt x="1720598" y="826674"/>
                  </a:lnTo>
                  <a:cubicBezTo>
                    <a:pt x="1720598" y="836730"/>
                    <a:pt x="1712446" y="844881"/>
                    <a:pt x="1702391" y="844881"/>
                  </a:cubicBezTo>
                  <a:lnTo>
                    <a:pt x="18207" y="844881"/>
                  </a:lnTo>
                  <a:cubicBezTo>
                    <a:pt x="8152" y="844881"/>
                    <a:pt x="0" y="836730"/>
                    <a:pt x="0" y="826674"/>
                  </a:cubicBezTo>
                  <a:lnTo>
                    <a:pt x="0" y="18207"/>
                  </a:lnTo>
                  <a:cubicBezTo>
                    <a:pt x="0" y="8152"/>
                    <a:pt x="8152" y="0"/>
                    <a:pt x="1820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720598" cy="882981"/>
            </a:xfrm>
            <a:prstGeom prst="rect">
              <a:avLst/>
            </a:prstGeom>
          </p:spPr>
          <p:txBody>
            <a:bodyPr anchor="ctr" rtlCol="false" tIns="40782" lIns="40782" bIns="40782" rIns="40782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AutoShape 16" id="16"/>
          <p:cNvSpPr/>
          <p:nvPr/>
        </p:nvSpPr>
        <p:spPr>
          <a:xfrm flipV="true">
            <a:off x="8963851" y="6577622"/>
            <a:ext cx="7592819" cy="0"/>
          </a:xfrm>
          <a:prstGeom prst="line">
            <a:avLst/>
          </a:prstGeom>
          <a:ln cap="rnd" w="28575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-10800000">
            <a:off x="-411258" y="5143500"/>
            <a:ext cx="4097808" cy="3607960"/>
            <a:chOff x="0" y="0"/>
            <a:chExt cx="562546" cy="4953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10800000">
            <a:off x="811381" y="6175477"/>
            <a:ext cx="4706310" cy="3607960"/>
            <a:chOff x="0" y="0"/>
            <a:chExt cx="646081" cy="495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6081" cy="495300"/>
            </a:xfrm>
            <a:custGeom>
              <a:avLst/>
              <a:gdLst/>
              <a:ahLst/>
              <a:cxnLst/>
              <a:rect r="r" b="b" t="t" l="l"/>
              <a:pathLst>
                <a:path h="495300" w="646081">
                  <a:moveTo>
                    <a:pt x="230188" y="0"/>
                  </a:moveTo>
                  <a:lnTo>
                    <a:pt x="646081" y="0"/>
                  </a:lnTo>
                  <a:lnTo>
                    <a:pt x="415894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254000" y="-38100"/>
              <a:ext cx="13808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-10800000">
            <a:off x="-411258" y="7454320"/>
            <a:ext cx="4097808" cy="3607960"/>
            <a:chOff x="0" y="0"/>
            <a:chExt cx="562546" cy="4953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62546" cy="495300"/>
            </a:xfrm>
            <a:custGeom>
              <a:avLst/>
              <a:gdLst/>
              <a:ahLst/>
              <a:cxnLst/>
              <a:rect r="r" b="b" t="t" l="l"/>
              <a:pathLst>
                <a:path h="495300" w="562546">
                  <a:moveTo>
                    <a:pt x="230188" y="0"/>
                  </a:moveTo>
                  <a:lnTo>
                    <a:pt x="562546" y="0"/>
                  </a:lnTo>
                  <a:lnTo>
                    <a:pt x="33235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5" id="25"/>
            <p:cNvSpPr txBox="true"/>
            <p:nvPr/>
          </p:nvSpPr>
          <p:spPr>
            <a:xfrm>
              <a:off x="254000" y="-38100"/>
              <a:ext cx="54546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28700" y="1591087"/>
            <a:ext cx="7237668" cy="184303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7230"/>
              </a:lnSpc>
            </a:pPr>
            <a:r>
              <a:rPr sz="6000" b="1">
                <a:solidFill>
                  <a:srgbClr val="FFFFFF"/>
                </a:solidFill>
                <a:latin typeface="DM Sans Bold"/>
              </a:rPr>
              <a:t>Pengalaman Kerja &amp; Riset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025329" y="2462548"/>
            <a:ext cx="7251895" cy="1050384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431801" indent="-215901" lvl="1">
              <a:lnSpc>
                <a:spcPts val="2800"/>
              </a:lnSpc>
              <a:spcBef>
                <a:spcPct val="0"/>
              </a:spcBef>
              <a:buFont typeface="Arial"/>
              <a:buChar char="•"/>
            </a:pPr>
            <a:r>
              <a:rPr sz="1800" b="0">
                <a:solidFill>
                  <a:srgbClr val="FFFFFF"/>
                </a:solidFill>
                <a:latin typeface="DM Sans"/>
              </a:rPr>
              <a:t>Merancang pipeline automasi multi-agent menggunakan Google Antigravity &amp; LLM untuk ekstraksi dan kurasi konten video format pendek (9:16).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025329" y="3617707"/>
            <a:ext cx="7251895" cy="10541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sz="1800" b="0">
                <a:solidFill>
                  <a:srgbClr val="FFFFFF"/>
                </a:solidFill>
                <a:latin typeface="DM Sans"/>
              </a:rPr>
              <a:t>Mengintegrasikan analisis metrik performa audiens dan automasi batch CapCut yang berhasil memangkas siklus produksi konten hingga ~70%.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025329" y="1372791"/>
            <a:ext cx="7772400" cy="3737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997"/>
              </a:lnSpc>
            </a:pPr>
            <a:r>
              <a:rPr sz="2400" b="1">
                <a:solidFill>
                  <a:srgbClr val="FFFFFF"/>
                </a:solidFill>
                <a:latin typeface="DM Sans Bold"/>
              </a:rPr>
              <a:t>AI CONTENT &amp; WORKFLOW SPECIALIST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025329" y="1838484"/>
            <a:ext cx="7531342" cy="35242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774"/>
              </a:lnSpc>
            </a:pPr>
            <a:r>
              <a:rPr sz="2200" b="0">
                <a:solidFill>
                  <a:srgbClr val="C8E1F5"/>
                </a:solidFill>
                <a:latin typeface="DM Sans"/>
              </a:rPr>
              <a:t>Freelance / Remote | 2024 - Sekarang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025329" y="5602166"/>
            <a:ext cx="7772400" cy="3737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997"/>
              </a:lnSpc>
            </a:pPr>
            <a:r>
              <a:rPr sz="2400" b="1">
                <a:solidFill>
                  <a:srgbClr val="FFFFFF"/>
                </a:solidFill>
                <a:latin typeface="DM Sans Bold"/>
              </a:rPr>
              <a:t>PENELITI SKRIPSI DATA SCIENCE (NLP)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025329" y="6067858"/>
            <a:ext cx="7725778" cy="35242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774"/>
              </a:lnSpc>
            </a:pPr>
            <a:r>
              <a:rPr sz="2200" b="0">
                <a:solidFill>
                  <a:srgbClr val="C8E1F5"/>
                </a:solidFill>
                <a:latin typeface="DM Sans"/>
              </a:rPr>
              <a:t>Universitas Budi Luhur | 2023 - 2024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025329" y="6691922"/>
            <a:ext cx="7395851" cy="1050384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431801" indent="-215901" lvl="1">
              <a:lnSpc>
                <a:spcPts val="2800"/>
              </a:lnSpc>
              <a:spcBef>
                <a:spcPct val="0"/>
              </a:spcBef>
              <a:buFont typeface="Arial"/>
              <a:buChar char="•"/>
            </a:pPr>
            <a:r>
              <a:rPr sz="1800" b="0">
                <a:solidFill>
                  <a:srgbClr val="FFFFFF"/>
                </a:solidFill>
                <a:latin typeface="DM Sans"/>
              </a:rPr>
              <a:t>Melakukan riset komparatif algoritma SVM dan Multinomial Naive Bayes pada 12.500+ komentar YouTube otomotif mobil listrik (Wuling BinguoEV).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025329" y="7847081"/>
            <a:ext cx="7395851" cy="10541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sz="1800" b="0">
                <a:solidFill>
                  <a:srgbClr val="FFFFFF"/>
                </a:solidFill>
                <a:latin typeface="DM Sans"/>
              </a:rPr>
              <a:t>Mengembangkan pipeline NLP berbasis InSet Lexicon Bahasa Indonesia dan mendeploy aplikasi web analitik interaktif berbasis Streamlit.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8700" y="8965392"/>
            <a:ext cx="2591501" cy="314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354"/>
              </a:lnSpc>
            </a:pPr>
            <a:r>
              <a:rPr lang="en-US" b="true" sz="2587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853419" y="8290607"/>
            <a:ext cx="5398829" cy="3992786"/>
            <a:chOff x="0" y="0"/>
            <a:chExt cx="669718" cy="495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9718" cy="495300"/>
            </a:xfrm>
            <a:custGeom>
              <a:avLst/>
              <a:gdLst/>
              <a:ahLst/>
              <a:cxnLst/>
              <a:rect r="r" b="b" t="t" l="l"/>
              <a:pathLst>
                <a:path h="495300" w="669718">
                  <a:moveTo>
                    <a:pt x="230188" y="0"/>
                  </a:moveTo>
                  <a:lnTo>
                    <a:pt x="669718" y="0"/>
                  </a:lnTo>
                  <a:lnTo>
                    <a:pt x="439530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161718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530132" y="8673719"/>
            <a:ext cx="2575104" cy="2194847"/>
            <a:chOff x="0" y="0"/>
            <a:chExt cx="581111" cy="4953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326880" y="1663893"/>
            <a:ext cx="7169865" cy="114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8874"/>
              </a:lnSpc>
            </a:pPr>
            <a:r>
              <a:rPr lang="en-US" b="true" sz="7995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Studi Kasus 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26880" y="3291840"/>
            <a:ext cx="8046720" cy="392747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 marL="0" indent="0" lvl="1">
              <a:lnSpc>
                <a:spcPts val="3499"/>
              </a:lnSpc>
            </a:pPr>
            <a:r>
              <a:rPr sz="1950" b="0">
                <a:solidFill>
                  <a:srgbClr val="0F2437"/>
                </a:solidFill>
                <a:latin typeface="DM Sans"/>
              </a:rPr>
              <a:t>Riset Skripsi komparatif klasifikasi sentimen pada 12.500+ komentar YouTube terkait kendaraan listrik (Wuling BinguoEV) menggunakan algoritma Support Vector Machine (SVM) dan Multinomial Naive Bayes.</a:t>
            </a:r>
          </a:p>
          <a:p/>
          <a:p>
            <a:r>
              <a:rPr sz="1950" b="0">
                <a:solidFill>
                  <a:srgbClr val="0F2437"/>
                </a:solidFill>
                <a:latin typeface="DM Sans"/>
              </a:rPr>
              <a:t>Penelitian ini mengimplementasikan InSet Lexicon Bahasa Indonesia untuk penanganan teks informal, ekstraksi fitur TF-IDF, serta validasi silang (cross-validation).</a:t>
            </a:r>
          </a:p>
          <a:p/>
          <a:p>
            <a:r>
              <a:rPr sz="1950" b="0">
                <a:solidFill>
                  <a:srgbClr val="0F2437"/>
                </a:solidFill>
                <a:latin typeface="DM Sans"/>
              </a:rPr>
              <a:t>Hasil evaluasi membuktikan model SVM mencapai performa unggul dengan Akurasi 92.4%, Presisi 92.0%, dan Recall 92.8%, mengungguli Naive Bayes (91.6%). Seluruh pipeline dideploy ke dalam aplikasi web analitik interaktif berbasis Streamlit.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-435274" y="-773812"/>
            <a:ext cx="3584593" cy="3055269"/>
            <a:chOff x="0" y="0"/>
            <a:chExt cx="581111" cy="4953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9326880" y="2423160"/>
            <a:ext cx="8046720" cy="6437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r" marL="0" indent="0" lvl="1">
              <a:lnSpc>
                <a:spcPts val="5047"/>
              </a:lnSpc>
            </a:pPr>
            <a:r>
              <a:rPr sz="3400" b="0">
                <a:solidFill>
                  <a:srgbClr val="2E5C7C"/>
                </a:solidFill>
                <a:latin typeface="DM Sans"/>
              </a:rPr>
              <a:t>Analisis Sentimen (NLP Skripsi)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4682532" y="8826119"/>
            <a:ext cx="2575104" cy="2194847"/>
            <a:chOff x="0" y="0"/>
            <a:chExt cx="581111" cy="4953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-1532032" y="499794"/>
            <a:ext cx="3064063" cy="2194847"/>
            <a:chOff x="0" y="0"/>
            <a:chExt cx="691451" cy="4953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91451" cy="495300"/>
            </a:xfrm>
            <a:custGeom>
              <a:avLst/>
              <a:gdLst/>
              <a:ahLst/>
              <a:cxnLst/>
              <a:rect r="r" b="b" t="t" l="l"/>
              <a:pathLst>
                <a:path h="495300" w="691451">
                  <a:moveTo>
                    <a:pt x="230188" y="0"/>
                  </a:moveTo>
                  <a:lnTo>
                    <a:pt x="691451" y="0"/>
                  </a:lnTo>
                  <a:lnTo>
                    <a:pt x="461264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254000" y="-38100"/>
              <a:ext cx="18345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301468" y="306048"/>
            <a:ext cx="1695702" cy="1445303"/>
            <a:chOff x="0" y="0"/>
            <a:chExt cx="581111" cy="4953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pic>
        <p:nvPicPr>
          <p:cNvPr id="25" name="Picture 24" descr="slide_7_nlp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83" y="2883916"/>
            <a:ext cx="8195264" cy="7057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1C4462">
                <a:alpha val="100000"/>
              </a:srgbClr>
            </a:gs>
            <a:gs pos="100000">
              <a:srgbClr val="0C1824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274001" y="6677325"/>
            <a:ext cx="5398829" cy="3992786"/>
            <a:chOff x="0" y="0"/>
            <a:chExt cx="669718" cy="495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9718" cy="495300"/>
            </a:xfrm>
            <a:custGeom>
              <a:avLst/>
              <a:gdLst/>
              <a:ahLst/>
              <a:cxnLst/>
              <a:rect r="r" b="b" t="t" l="l"/>
              <a:pathLst>
                <a:path h="495300" w="669718">
                  <a:moveTo>
                    <a:pt x="230188" y="0"/>
                  </a:moveTo>
                  <a:lnTo>
                    <a:pt x="669718" y="0"/>
                  </a:lnTo>
                  <a:lnTo>
                    <a:pt x="439530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161718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61724" y="4398328"/>
            <a:ext cx="8273647" cy="392747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 marL="0" indent="0" lvl="1">
              <a:lnSpc>
                <a:spcPts val="3499"/>
              </a:lnSpc>
            </a:pPr>
            <a:r>
              <a:rPr sz="2050" b="0">
                <a:solidFill>
                  <a:srgbClr val="FFFFFF"/>
                </a:solidFill>
                <a:latin typeface="DM Sans"/>
              </a:rPr>
              <a:t>Perancangan dasbor Business Intelligence komprehensif menggunakan Tableau Desktop untuk menganalisis 8.950 catatan karyawan lintas 7 departemen korporat.</a:t>
            </a:r>
          </a:p>
          <a:p/>
          <a:p>
            <a:r>
              <a:rPr sz="2050" b="0">
                <a:solidFill>
                  <a:srgbClr val="FFFFFF"/>
                </a:solidFill>
                <a:latin typeface="DM Sans"/>
              </a:rPr>
              <a:t>Dasbor ini menyajikan visualisasi KPI tingkat retensi (89.2%), analisis churn, scatter plot kompensasi vs performa, serta pemetaan sebaran demografis tenaga kerja untuk mendukung strategi retensi HR.</a:t>
            </a:r>
          </a:p>
          <a:p/>
          <a:p>
            <a:r>
              <a:rPr sz="2050" b="0">
                <a:solidFill>
                  <a:srgbClr val="FFFFFF"/>
                </a:solidFill>
                <a:latin typeface="DM Sans"/>
              </a:rPr>
              <a:t>Dilengkapi juga dengan analisis komersial Amazon Sales Dashboard yang memetakan profitabilitas regional, kinerja kategori produk, dan pemantauan SLA pengiriman guna mengoptimalkan margin penjualan e-commerce.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61724" y="1820692"/>
            <a:ext cx="7169865" cy="1148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74"/>
              </a:lnSpc>
            </a:pPr>
            <a:r>
              <a:rPr lang="en-US" b="true" sz="7994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Studi Kasus 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61724" y="2965230"/>
            <a:ext cx="5428469" cy="128069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5047"/>
              </a:lnSpc>
            </a:pPr>
            <a:r>
              <a:rPr sz="4200" b="0">
                <a:solidFill>
                  <a:srgbClr val="FFFFFF"/>
                </a:solidFill>
                <a:latin typeface="DM Sans"/>
              </a:rPr>
              <a:t>Dasbor Tableau HR &amp; Komersial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457668" y="-242377"/>
            <a:ext cx="4095165" cy="3992786"/>
            <a:chOff x="0" y="0"/>
            <a:chExt cx="508000" cy="4953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766482" y="1272418"/>
            <a:ext cx="10102404" cy="7599755"/>
            <a:chOff x="0" y="0"/>
            <a:chExt cx="6971426" cy="524440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971426" cy="5244408"/>
            </a:xfrm>
            <a:custGeom>
              <a:avLst/>
              <a:gdLst/>
              <a:ahLst/>
              <a:cxnLst/>
              <a:rect r="r" b="b" t="t" l="l"/>
              <a:pathLst>
                <a:path h="5244408" w="6971426">
                  <a:moveTo>
                    <a:pt x="6971426" y="0"/>
                  </a:moveTo>
                  <a:lnTo>
                    <a:pt x="4462814" y="5244408"/>
                  </a:lnTo>
                  <a:lnTo>
                    <a:pt x="0" y="5244408"/>
                  </a:lnTo>
                  <a:lnTo>
                    <a:pt x="2479410" y="0"/>
                  </a:lnTo>
                  <a:lnTo>
                    <a:pt x="6971426" y="0"/>
                  </a:lnTo>
                  <a:close/>
                </a:path>
              </a:pathLst>
            </a:custGeom>
            <a:blipFill>
              <a:blip r:embed="rId2"/>
              <a:stretch>
                <a:fillRect l="-6349" t="0" r="-6349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977730" y="7576295"/>
            <a:ext cx="2575104" cy="2194847"/>
            <a:chOff x="0" y="0"/>
            <a:chExt cx="581111" cy="4953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698897" y="656593"/>
            <a:ext cx="2575104" cy="2194847"/>
            <a:chOff x="0" y="0"/>
            <a:chExt cx="581111" cy="4953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0293724"/>
            <a:chOff x="0" y="0"/>
            <a:chExt cx="2408296" cy="27111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2711104"/>
            </a:xfrm>
            <a:custGeom>
              <a:avLst/>
              <a:gdLst/>
              <a:ahLst/>
              <a:cxnLst/>
              <a:rect r="r" b="b" t="t" l="l"/>
              <a:pathLst>
                <a:path h="2711104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2711104"/>
                  </a:lnTo>
                  <a:lnTo>
                    <a:pt x="0" y="2711104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08296" cy="2749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62025" y="6494507"/>
            <a:ext cx="12755321" cy="201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88"/>
              </a:lnSpc>
            </a:pPr>
            <a:r>
              <a:rPr lang="en-US" sz="7107" b="tru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Metodologi &amp;</a:t>
            </a:r>
          </a:p>
          <a:p>
            <a:pPr algn="l" marL="0" indent="0" lvl="1">
              <a:lnSpc>
                <a:spcPts val="7888"/>
              </a:lnSpc>
            </a:pPr>
            <a:r>
              <a:rPr lang="en-US" b="true" sz="7107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Alur Kerja Data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62025" y="3144867"/>
            <a:ext cx="7008388" cy="2949734"/>
            <a:chOff x="0" y="0"/>
            <a:chExt cx="1182378" cy="4976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82378" cy="497647"/>
            </a:xfrm>
            <a:custGeom>
              <a:avLst/>
              <a:gdLst/>
              <a:ahLst/>
              <a:cxnLst/>
              <a:rect r="r" b="b" t="t" l="l"/>
              <a:pathLst>
                <a:path h="497647" w="1182378">
                  <a:moveTo>
                    <a:pt x="25407" y="0"/>
                  </a:moveTo>
                  <a:lnTo>
                    <a:pt x="1156971" y="0"/>
                  </a:lnTo>
                  <a:cubicBezTo>
                    <a:pt x="1171003" y="0"/>
                    <a:pt x="1182378" y="11375"/>
                    <a:pt x="1182378" y="25407"/>
                  </a:cubicBezTo>
                  <a:lnTo>
                    <a:pt x="1182378" y="472239"/>
                  </a:lnTo>
                  <a:cubicBezTo>
                    <a:pt x="1182378" y="478978"/>
                    <a:pt x="1179701" y="485440"/>
                    <a:pt x="1174937" y="490205"/>
                  </a:cubicBezTo>
                  <a:cubicBezTo>
                    <a:pt x="1170172" y="494970"/>
                    <a:pt x="1163709" y="497647"/>
                    <a:pt x="1156971" y="497647"/>
                  </a:cubicBezTo>
                  <a:lnTo>
                    <a:pt x="25407" y="497647"/>
                  </a:lnTo>
                  <a:cubicBezTo>
                    <a:pt x="18669" y="497647"/>
                    <a:pt x="12206" y="494970"/>
                    <a:pt x="7442" y="490205"/>
                  </a:cubicBezTo>
                  <a:cubicBezTo>
                    <a:pt x="2677" y="485440"/>
                    <a:pt x="0" y="478978"/>
                    <a:pt x="0" y="472239"/>
                  </a:cubicBezTo>
                  <a:lnTo>
                    <a:pt x="0" y="25407"/>
                  </a:lnTo>
                  <a:cubicBezTo>
                    <a:pt x="0" y="11375"/>
                    <a:pt x="11375" y="0"/>
                    <a:pt x="25407" y="0"/>
                  </a:cubicBezTo>
                  <a:close/>
                </a:path>
              </a:pathLst>
            </a:custGeom>
            <a:blipFill>
              <a:blip r:embed="rId2"/>
              <a:stretch>
                <a:fillRect l="-114604" t="-119537" r="0" b="-119537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-1154030" y="-2507805"/>
            <a:ext cx="4232109" cy="3992786"/>
            <a:chOff x="0" y="0"/>
            <a:chExt cx="524988" cy="4953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4988" cy="495300"/>
            </a:xfrm>
            <a:custGeom>
              <a:avLst/>
              <a:gdLst/>
              <a:ahLst/>
              <a:cxnLst/>
              <a:rect r="r" b="b" t="t" l="l"/>
              <a:pathLst>
                <a:path h="495300" w="524988">
                  <a:moveTo>
                    <a:pt x="230188" y="0"/>
                  </a:moveTo>
                  <a:lnTo>
                    <a:pt x="524988" y="0"/>
                  </a:lnTo>
                  <a:lnTo>
                    <a:pt x="294800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254000" y="-38100"/>
              <a:ext cx="16988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91236" y="387558"/>
            <a:ext cx="2011306" cy="1714304"/>
            <a:chOff x="0" y="0"/>
            <a:chExt cx="581111" cy="495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607251" y="1028700"/>
            <a:ext cx="6652049" cy="2473521"/>
            <a:chOff x="0" y="0"/>
            <a:chExt cx="1751980" cy="65146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751980" cy="651462"/>
            </a:xfrm>
            <a:custGeom>
              <a:avLst/>
              <a:gdLst/>
              <a:ahLst/>
              <a:cxnLst/>
              <a:rect r="r" b="b" t="t" l="l"/>
              <a:pathLst>
                <a:path h="651462" w="1751980">
                  <a:moveTo>
                    <a:pt x="24441" y="0"/>
                  </a:moveTo>
                  <a:lnTo>
                    <a:pt x="1727540" y="0"/>
                  </a:lnTo>
                  <a:cubicBezTo>
                    <a:pt x="1741038" y="0"/>
                    <a:pt x="1751980" y="10942"/>
                    <a:pt x="1751980" y="24441"/>
                  </a:cubicBezTo>
                  <a:lnTo>
                    <a:pt x="1751980" y="627022"/>
                  </a:lnTo>
                  <a:cubicBezTo>
                    <a:pt x="1751980" y="640520"/>
                    <a:pt x="1741038" y="651462"/>
                    <a:pt x="1727540" y="651462"/>
                  </a:cubicBezTo>
                  <a:lnTo>
                    <a:pt x="24441" y="651462"/>
                  </a:lnTo>
                  <a:cubicBezTo>
                    <a:pt x="10942" y="651462"/>
                    <a:pt x="0" y="640520"/>
                    <a:pt x="0" y="627022"/>
                  </a:cubicBezTo>
                  <a:lnTo>
                    <a:pt x="0" y="24441"/>
                  </a:lnTo>
                  <a:cubicBezTo>
                    <a:pt x="0" y="10942"/>
                    <a:pt x="10942" y="0"/>
                    <a:pt x="24441" y="0"/>
                  </a:cubicBezTo>
                  <a:close/>
                </a:path>
              </a:pathLst>
            </a:custGeom>
            <a:solidFill>
              <a:srgbClr val="0F2437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751980" cy="6895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607251" y="3899826"/>
            <a:ext cx="6652049" cy="2473521"/>
            <a:chOff x="0" y="0"/>
            <a:chExt cx="1751980" cy="65146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51980" cy="651462"/>
            </a:xfrm>
            <a:custGeom>
              <a:avLst/>
              <a:gdLst/>
              <a:ahLst/>
              <a:cxnLst/>
              <a:rect r="r" b="b" t="t" l="l"/>
              <a:pathLst>
                <a:path h="651462" w="1751980">
                  <a:moveTo>
                    <a:pt x="24441" y="0"/>
                  </a:moveTo>
                  <a:lnTo>
                    <a:pt x="1727540" y="0"/>
                  </a:lnTo>
                  <a:cubicBezTo>
                    <a:pt x="1741038" y="0"/>
                    <a:pt x="1751980" y="10942"/>
                    <a:pt x="1751980" y="24441"/>
                  </a:cubicBezTo>
                  <a:lnTo>
                    <a:pt x="1751980" y="627022"/>
                  </a:lnTo>
                  <a:cubicBezTo>
                    <a:pt x="1751980" y="640520"/>
                    <a:pt x="1741038" y="651462"/>
                    <a:pt x="1727540" y="651462"/>
                  </a:cubicBezTo>
                  <a:lnTo>
                    <a:pt x="24441" y="651462"/>
                  </a:lnTo>
                  <a:cubicBezTo>
                    <a:pt x="10942" y="651462"/>
                    <a:pt x="0" y="640520"/>
                    <a:pt x="0" y="627022"/>
                  </a:cubicBezTo>
                  <a:lnTo>
                    <a:pt x="0" y="24441"/>
                  </a:lnTo>
                  <a:cubicBezTo>
                    <a:pt x="0" y="10942"/>
                    <a:pt x="10942" y="0"/>
                    <a:pt x="24441" y="0"/>
                  </a:cubicBezTo>
                  <a:close/>
                </a:path>
              </a:pathLst>
            </a:custGeom>
            <a:solidFill>
              <a:srgbClr val="0F2437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751980" cy="6895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607251" y="6770952"/>
            <a:ext cx="6652049" cy="2473521"/>
            <a:chOff x="0" y="0"/>
            <a:chExt cx="1751980" cy="65146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51980" cy="651462"/>
            </a:xfrm>
            <a:custGeom>
              <a:avLst/>
              <a:gdLst/>
              <a:ahLst/>
              <a:cxnLst/>
              <a:rect r="r" b="b" t="t" l="l"/>
              <a:pathLst>
                <a:path h="651462" w="1751980">
                  <a:moveTo>
                    <a:pt x="24441" y="0"/>
                  </a:moveTo>
                  <a:lnTo>
                    <a:pt x="1727540" y="0"/>
                  </a:lnTo>
                  <a:cubicBezTo>
                    <a:pt x="1741038" y="0"/>
                    <a:pt x="1751980" y="10942"/>
                    <a:pt x="1751980" y="24441"/>
                  </a:cubicBezTo>
                  <a:lnTo>
                    <a:pt x="1751980" y="627022"/>
                  </a:lnTo>
                  <a:cubicBezTo>
                    <a:pt x="1751980" y="640520"/>
                    <a:pt x="1741038" y="651462"/>
                    <a:pt x="1727540" y="651462"/>
                  </a:cubicBezTo>
                  <a:lnTo>
                    <a:pt x="24441" y="651462"/>
                  </a:lnTo>
                  <a:cubicBezTo>
                    <a:pt x="10942" y="651462"/>
                    <a:pt x="0" y="640520"/>
                    <a:pt x="0" y="627022"/>
                  </a:cubicBezTo>
                  <a:lnTo>
                    <a:pt x="0" y="24441"/>
                  </a:lnTo>
                  <a:cubicBezTo>
                    <a:pt x="0" y="10942"/>
                    <a:pt x="10942" y="0"/>
                    <a:pt x="24441" y="0"/>
                  </a:cubicBezTo>
                  <a:close/>
                </a:path>
              </a:pathLst>
            </a:custGeom>
            <a:solidFill>
              <a:srgbClr val="0F2437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751980" cy="6895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1691146" y="1303273"/>
            <a:ext cx="4881305" cy="3683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74"/>
              </a:lnSpc>
              <a:spcBef>
                <a:spcPct val="0"/>
              </a:spcBef>
            </a:pPr>
            <a:r>
              <a:rPr sz="2100" b="1">
                <a:solidFill>
                  <a:srgbClr val="FFFFFF"/>
                </a:solidFill>
                <a:latin typeface="DM Sans Bold"/>
              </a:rPr>
              <a:t>1. Pengumpulan &amp; Ekstraksi Data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691146" y="1718461"/>
            <a:ext cx="5049508" cy="148018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940"/>
              </a:lnSpc>
            </a:pPr>
            <a:r>
              <a:rPr sz="1850" b="0">
                <a:solidFill>
                  <a:srgbClr val="FFFFFF"/>
                </a:solidFill>
                <a:latin typeface="DM Sans"/>
              </a:rPr>
              <a:t>Mengumpulkan 12.500+ komentar via YouTube Data API v3 dan mengintegrasikan 8.950 catatan data korporat terstruktur ke dalam pipeline analitis.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691146" y="4174399"/>
            <a:ext cx="4881305" cy="3683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74"/>
              </a:lnSpc>
              <a:spcBef>
                <a:spcPct val="0"/>
              </a:spcBef>
            </a:pPr>
            <a:r>
              <a:rPr sz="2100" b="1">
                <a:solidFill>
                  <a:srgbClr val="FFFFFF"/>
                </a:solidFill>
                <a:latin typeface="DM Sans Bold"/>
              </a:rPr>
              <a:t>2. Pembersihan &amp; Preprocessing Data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691146" y="4589588"/>
            <a:ext cx="5049508" cy="148018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940"/>
              </a:lnSpc>
            </a:pPr>
            <a:r>
              <a:rPr sz="1850" b="0">
                <a:solidFill>
                  <a:srgbClr val="FFFFFF"/>
                </a:solidFill>
                <a:latin typeface="DM Sans"/>
              </a:rPr>
              <a:t>Pembersihan teks (Case Folding, Tokenizing, Stopwords Removal), normalisasi kata slang, dan pembobotan polaritas sentimen berbasis InSet Lexicon.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691146" y="7045525"/>
            <a:ext cx="4881305" cy="3683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74"/>
              </a:lnSpc>
              <a:spcBef>
                <a:spcPct val="0"/>
              </a:spcBef>
            </a:pPr>
            <a:r>
              <a:rPr sz="2100" b="1">
                <a:solidFill>
                  <a:srgbClr val="FFFFFF"/>
                </a:solidFill>
                <a:latin typeface="DM Sans Bold"/>
              </a:rPr>
              <a:t>3. Pemodelan, Evaluasi &amp; Dasbor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691146" y="7460714"/>
            <a:ext cx="5049508" cy="148018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940"/>
              </a:lnSpc>
            </a:pPr>
            <a:r>
              <a:rPr sz="1850" b="0">
                <a:solidFill>
                  <a:srgbClr val="FFFFFF"/>
                </a:solidFill>
                <a:latin typeface="DM Sans"/>
              </a:rPr>
              <a:t>Ekstraksi fitur TF-IDF, pelatihan model SVM vs Naive Bayes (akurasi 92.4%), serta deployment dasbor interaktif berbasis Streamlit dan Tableau.</a:t>
            </a:r>
          </a:p>
        </p:txBody>
      </p:sp>
      <p:grpSp>
        <p:nvGrpSpPr>
          <p:cNvPr name="Group 29" id="29"/>
          <p:cNvGrpSpPr/>
          <p:nvPr/>
        </p:nvGrpSpPr>
        <p:grpSpPr>
          <a:xfrm rot="5400000">
            <a:off x="10176169" y="1817136"/>
            <a:ext cx="1758813" cy="896650"/>
            <a:chOff x="0" y="0"/>
            <a:chExt cx="647700" cy="330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47700" cy="330200"/>
            </a:xfrm>
            <a:custGeom>
              <a:avLst/>
              <a:gdLst/>
              <a:ahLst/>
              <a:cxnLst/>
              <a:rect r="r" b="b" t="t" l="l"/>
              <a:pathLst>
                <a:path h="330200" w="647700">
                  <a:moveTo>
                    <a:pt x="647700" y="330200"/>
                  </a:moveTo>
                  <a:cubicBezTo>
                    <a:pt x="647700" y="150345"/>
                    <a:pt x="500247" y="0"/>
                    <a:pt x="323850" y="0"/>
                  </a:cubicBezTo>
                  <a:cubicBezTo>
                    <a:pt x="147453" y="0"/>
                    <a:pt x="0" y="150345"/>
                    <a:pt x="0" y="330200"/>
                  </a:cubicBezTo>
                  <a:lnTo>
                    <a:pt x="647700" y="330200"/>
                  </a:lnTo>
                  <a:close/>
                </a:path>
              </a:pathLst>
            </a:custGeom>
            <a:solidFill>
              <a:srgbClr val="2E5C7C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152400" y="12700"/>
              <a:ext cx="342900" cy="317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759213" y="1981298"/>
            <a:ext cx="554625" cy="58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4599"/>
              </a:lnSpc>
              <a:spcBef>
                <a:spcPct val="0"/>
              </a:spcBef>
            </a:pPr>
            <a:r>
              <a:rPr lang="en-US" b="true" sz="3999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grpSp>
        <p:nvGrpSpPr>
          <p:cNvPr name="Group 33" id="33"/>
          <p:cNvGrpSpPr/>
          <p:nvPr/>
        </p:nvGrpSpPr>
        <p:grpSpPr>
          <a:xfrm rot="5400000">
            <a:off x="10176169" y="4688262"/>
            <a:ext cx="1758813" cy="896650"/>
            <a:chOff x="0" y="0"/>
            <a:chExt cx="647700" cy="3302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330200"/>
            </a:xfrm>
            <a:custGeom>
              <a:avLst/>
              <a:gdLst/>
              <a:ahLst/>
              <a:cxnLst/>
              <a:rect r="r" b="b" t="t" l="l"/>
              <a:pathLst>
                <a:path h="330200" w="647700">
                  <a:moveTo>
                    <a:pt x="647700" y="330200"/>
                  </a:moveTo>
                  <a:cubicBezTo>
                    <a:pt x="647700" y="150345"/>
                    <a:pt x="500247" y="0"/>
                    <a:pt x="323850" y="0"/>
                  </a:cubicBezTo>
                  <a:cubicBezTo>
                    <a:pt x="147453" y="0"/>
                    <a:pt x="0" y="150345"/>
                    <a:pt x="0" y="330200"/>
                  </a:cubicBezTo>
                  <a:lnTo>
                    <a:pt x="647700" y="330200"/>
                  </a:lnTo>
                  <a:close/>
                </a:path>
              </a:pathLst>
            </a:custGeom>
            <a:solidFill>
              <a:srgbClr val="2E5C7C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52400" y="12700"/>
              <a:ext cx="342900" cy="317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0759213" y="4852424"/>
            <a:ext cx="554625" cy="58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4599"/>
              </a:lnSpc>
              <a:spcBef>
                <a:spcPct val="0"/>
              </a:spcBef>
            </a:pPr>
            <a:r>
              <a:rPr lang="en-US" b="true" sz="3999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grpSp>
        <p:nvGrpSpPr>
          <p:cNvPr name="Group 37" id="37"/>
          <p:cNvGrpSpPr/>
          <p:nvPr/>
        </p:nvGrpSpPr>
        <p:grpSpPr>
          <a:xfrm rot="5400000">
            <a:off x="10176169" y="7559388"/>
            <a:ext cx="1758813" cy="896650"/>
            <a:chOff x="0" y="0"/>
            <a:chExt cx="647700" cy="330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47700" cy="330200"/>
            </a:xfrm>
            <a:custGeom>
              <a:avLst/>
              <a:gdLst/>
              <a:ahLst/>
              <a:cxnLst/>
              <a:rect r="r" b="b" t="t" l="l"/>
              <a:pathLst>
                <a:path h="330200" w="647700">
                  <a:moveTo>
                    <a:pt x="647700" y="330200"/>
                  </a:moveTo>
                  <a:cubicBezTo>
                    <a:pt x="647700" y="150345"/>
                    <a:pt x="500247" y="0"/>
                    <a:pt x="323850" y="0"/>
                  </a:cubicBezTo>
                  <a:cubicBezTo>
                    <a:pt x="147453" y="0"/>
                    <a:pt x="0" y="150345"/>
                    <a:pt x="0" y="330200"/>
                  </a:cubicBezTo>
                  <a:lnTo>
                    <a:pt x="647700" y="330200"/>
                  </a:lnTo>
                  <a:close/>
                </a:path>
              </a:pathLst>
            </a:custGeom>
            <a:solidFill>
              <a:srgbClr val="2E5C7C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152400" y="12700"/>
              <a:ext cx="342900" cy="317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0759213" y="7723550"/>
            <a:ext cx="554625" cy="58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4599"/>
              </a:lnSpc>
              <a:spcBef>
                <a:spcPct val="0"/>
              </a:spcBef>
            </a:pPr>
            <a:r>
              <a:rPr lang="en-US" b="true" sz="3999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8700" y="8943507"/>
            <a:ext cx="2591501" cy="314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354"/>
              </a:lnSpc>
            </a:pPr>
            <a:r>
              <a:rPr lang="en-US" sz="2587">
                <a:solidFill>
                  <a:srgbClr val="0F2437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77607" y="0"/>
            <a:ext cx="3309553" cy="10293724"/>
            <a:chOff x="0" y="0"/>
            <a:chExt cx="871652" cy="27111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71652" cy="2711104"/>
            </a:xfrm>
            <a:custGeom>
              <a:avLst/>
              <a:gdLst/>
              <a:ahLst/>
              <a:cxnLst/>
              <a:rect r="r" b="b" t="t" l="l"/>
              <a:pathLst>
                <a:path h="2711104" w="871652">
                  <a:moveTo>
                    <a:pt x="0" y="0"/>
                  </a:moveTo>
                  <a:lnTo>
                    <a:pt x="871652" y="0"/>
                  </a:lnTo>
                  <a:lnTo>
                    <a:pt x="871652" y="2711104"/>
                  </a:lnTo>
                  <a:lnTo>
                    <a:pt x="0" y="2711104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71652" cy="2749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676641" y="1050538"/>
            <a:ext cx="8582659" cy="1935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590"/>
              </a:lnSpc>
            </a:pPr>
            <a:r>
              <a:rPr lang="en-US" sz="6838" b="true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Dampak &amp;</a:t>
            </a:r>
          </a:p>
          <a:p>
            <a:pPr algn="r">
              <a:lnSpc>
                <a:spcPts val="7590"/>
              </a:lnSpc>
            </a:pPr>
            <a:r>
              <a:rPr lang="en-US" b="true" sz="6838">
                <a:solidFill>
                  <a:srgbClr val="0F2437"/>
                </a:solidFill>
                <a:latin typeface="DM Sans Bold"/>
                <a:ea typeface="DM Sans Bold"/>
                <a:cs typeface="DM Sans Bold"/>
                <a:sym typeface="DM Sans Bold"/>
              </a:rPr>
              <a:t>Angka Pencapaian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02100" y="8023236"/>
            <a:ext cx="3535821" cy="3013699"/>
            <a:chOff x="0" y="0"/>
            <a:chExt cx="581111" cy="4953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981859" y="6401523"/>
            <a:ext cx="6277441" cy="2856777"/>
            <a:chOff x="0" y="0"/>
            <a:chExt cx="1727167" cy="7860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727167" cy="786010"/>
            </a:xfrm>
            <a:custGeom>
              <a:avLst/>
              <a:gdLst/>
              <a:ahLst/>
              <a:cxnLst/>
              <a:rect r="r" b="b" t="t" l="l"/>
              <a:pathLst>
                <a:path h="786010" w="1727167">
                  <a:moveTo>
                    <a:pt x="25899" y="0"/>
                  </a:moveTo>
                  <a:lnTo>
                    <a:pt x="1701268" y="0"/>
                  </a:lnTo>
                  <a:cubicBezTo>
                    <a:pt x="1715571" y="0"/>
                    <a:pt x="1727167" y="11595"/>
                    <a:pt x="1727167" y="25899"/>
                  </a:cubicBezTo>
                  <a:lnTo>
                    <a:pt x="1727167" y="760111"/>
                  </a:lnTo>
                  <a:cubicBezTo>
                    <a:pt x="1727167" y="774415"/>
                    <a:pt x="1715571" y="786010"/>
                    <a:pt x="1701268" y="786010"/>
                  </a:cubicBezTo>
                  <a:lnTo>
                    <a:pt x="25899" y="786010"/>
                  </a:lnTo>
                  <a:cubicBezTo>
                    <a:pt x="11595" y="786010"/>
                    <a:pt x="0" y="774415"/>
                    <a:pt x="0" y="760111"/>
                  </a:cubicBezTo>
                  <a:lnTo>
                    <a:pt x="0" y="25899"/>
                  </a:lnTo>
                  <a:cubicBezTo>
                    <a:pt x="0" y="11595"/>
                    <a:pt x="11595" y="0"/>
                    <a:pt x="25899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376382">
                      <a:alpha val="100000"/>
                    </a:srgbClr>
                  </a:gs>
                  <a:gs pos="100000">
                    <a:srgbClr val="0C1824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727167" cy="824110"/>
            </a:xfrm>
            <a:prstGeom prst="rect">
              <a:avLst/>
            </a:prstGeom>
          </p:spPr>
          <p:txBody>
            <a:bodyPr anchor="ctr" rtlCol="false" tIns="48628" lIns="48628" bIns="48628" rIns="48628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1294989" y="6631503"/>
            <a:ext cx="1828800" cy="820995"/>
          </a:xfrm>
          <a:prstGeom prst="rect">
            <a:avLst/>
          </a:prstGeom>
        </p:spPr>
        <p:txBody>
          <a:bodyPr anchor="t" rtlCol="false" lIns="0" rIns="0" wrap="square">
            <a:spAutoFit/>
          </a:bodyPr>
          <a:lstStyle/>
          <a:p>
            <a:pPr algn="l">
              <a:lnSpc>
                <a:spcPts val="6352"/>
              </a:lnSpc>
            </a:pPr>
            <a:r>
              <a:rPr sz="3800" b="1">
                <a:solidFill>
                  <a:srgbClr val="2E5C7C"/>
                </a:solidFill>
                <a:latin typeface="DM Sans Bold"/>
              </a:rPr>
              <a:t>3.88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406936" y="6638817"/>
            <a:ext cx="4114800" cy="69861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752"/>
              </a:lnSpc>
              <a:spcBef>
                <a:spcPct val="0"/>
              </a:spcBef>
            </a:pPr>
            <a:r>
              <a:rPr sz="2100" b="1">
                <a:solidFill>
                  <a:srgbClr val="0F2437"/>
                </a:solidFill>
                <a:latin typeface="DM Sans Bold"/>
              </a:rPr>
              <a:t>IPK Kelulusan (Magna Cum Laude)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94989" y="7572234"/>
            <a:ext cx="5271937" cy="141893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14"/>
              </a:lnSpc>
            </a:pPr>
            <a:r>
              <a:rPr sz="1800" b="0">
                <a:solidFill>
                  <a:srgbClr val="0F2437"/>
                </a:solidFill>
                <a:latin typeface="DM Sans"/>
              </a:rPr>
              <a:t>Predikat kehormatan Sarjana Komputer (S.Kom) Program Studi Sistem Informasi konsentrasi Data Science di Universitas Budi Luhur.</a:t>
            </a:r>
          </a:p>
        </p:txBody>
      </p:sp>
      <p:sp>
        <p:nvSpPr>
          <p:cNvPr name="AutoShape 15" id="15"/>
          <p:cNvSpPr/>
          <p:nvPr/>
        </p:nvSpPr>
        <p:spPr>
          <a:xfrm flipV="true">
            <a:off x="13113368" y="6636763"/>
            <a:ext cx="0" cy="700674"/>
          </a:xfrm>
          <a:prstGeom prst="line">
            <a:avLst/>
          </a:prstGeom>
          <a:ln cap="rnd" w="66675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10981859" y="3398862"/>
            <a:ext cx="6277441" cy="2856777"/>
            <a:chOff x="0" y="0"/>
            <a:chExt cx="1727167" cy="78601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27167" cy="786010"/>
            </a:xfrm>
            <a:custGeom>
              <a:avLst/>
              <a:gdLst/>
              <a:ahLst/>
              <a:cxnLst/>
              <a:rect r="r" b="b" t="t" l="l"/>
              <a:pathLst>
                <a:path h="786010" w="1727167">
                  <a:moveTo>
                    <a:pt x="25899" y="0"/>
                  </a:moveTo>
                  <a:lnTo>
                    <a:pt x="1701268" y="0"/>
                  </a:lnTo>
                  <a:cubicBezTo>
                    <a:pt x="1715571" y="0"/>
                    <a:pt x="1727167" y="11595"/>
                    <a:pt x="1727167" y="25899"/>
                  </a:cubicBezTo>
                  <a:lnTo>
                    <a:pt x="1727167" y="760111"/>
                  </a:lnTo>
                  <a:cubicBezTo>
                    <a:pt x="1727167" y="774415"/>
                    <a:pt x="1715571" y="786010"/>
                    <a:pt x="1701268" y="786010"/>
                  </a:cubicBezTo>
                  <a:lnTo>
                    <a:pt x="25899" y="786010"/>
                  </a:lnTo>
                  <a:cubicBezTo>
                    <a:pt x="11595" y="786010"/>
                    <a:pt x="0" y="774415"/>
                    <a:pt x="0" y="760111"/>
                  </a:cubicBezTo>
                  <a:lnTo>
                    <a:pt x="0" y="25899"/>
                  </a:lnTo>
                  <a:cubicBezTo>
                    <a:pt x="0" y="11595"/>
                    <a:pt x="11595" y="0"/>
                    <a:pt x="25899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376382">
                      <a:alpha val="100000"/>
                    </a:srgbClr>
                  </a:gs>
                  <a:gs pos="100000">
                    <a:srgbClr val="0C1824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727167" cy="824110"/>
            </a:xfrm>
            <a:prstGeom prst="rect">
              <a:avLst/>
            </a:prstGeom>
          </p:spPr>
          <p:txBody>
            <a:bodyPr anchor="ctr" rtlCol="false" tIns="48628" lIns="48628" bIns="48628" rIns="48628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1321408" y="3722739"/>
            <a:ext cx="1920240" cy="820995"/>
          </a:xfrm>
          <a:prstGeom prst="rect">
            <a:avLst/>
          </a:prstGeom>
        </p:spPr>
        <p:txBody>
          <a:bodyPr anchor="t" rtlCol="false" lIns="0" rIns="0" wrap="square">
            <a:spAutoFit/>
          </a:bodyPr>
          <a:lstStyle/>
          <a:p>
            <a:pPr algn="l">
              <a:lnSpc>
                <a:spcPts val="6352"/>
              </a:lnSpc>
            </a:pPr>
            <a:r>
              <a:rPr sz="3800" b="1">
                <a:solidFill>
                  <a:srgbClr val="2E5C7C"/>
                </a:solidFill>
                <a:latin typeface="DM Sans Bold"/>
              </a:rPr>
              <a:t>8.950+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406936" y="3730053"/>
            <a:ext cx="4114800" cy="69861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752"/>
              </a:lnSpc>
              <a:spcBef>
                <a:spcPct val="0"/>
              </a:spcBef>
            </a:pPr>
            <a:r>
              <a:rPr sz="2100" b="1">
                <a:solidFill>
                  <a:srgbClr val="0F2437"/>
                </a:solidFill>
                <a:latin typeface="DM Sans Bold"/>
              </a:rPr>
              <a:t>Catatan Karyawan Dianalisis (Tableau)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321408" y="4526704"/>
            <a:ext cx="5245518" cy="141893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14"/>
              </a:lnSpc>
            </a:pPr>
            <a:r>
              <a:rPr sz="1800" b="0">
                <a:solidFill>
                  <a:srgbClr val="0F2437"/>
                </a:solidFill>
                <a:latin typeface="DM Sans"/>
              </a:rPr>
              <a:t>Pemodelan analitik retensi tenaga kerja lintas 7 departemen dan berbagai wilayah geografis pada dasbor Tableau Business Intelligence.</a:t>
            </a:r>
          </a:p>
        </p:txBody>
      </p:sp>
      <p:sp>
        <p:nvSpPr>
          <p:cNvPr name="AutoShape 22" id="22"/>
          <p:cNvSpPr/>
          <p:nvPr/>
        </p:nvSpPr>
        <p:spPr>
          <a:xfrm flipV="true">
            <a:off x="13113368" y="3727999"/>
            <a:ext cx="0" cy="700674"/>
          </a:xfrm>
          <a:prstGeom prst="line">
            <a:avLst/>
          </a:prstGeom>
          <a:ln cap="rnd" w="66675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3" id="23"/>
          <p:cNvGrpSpPr/>
          <p:nvPr/>
        </p:nvGrpSpPr>
        <p:grpSpPr>
          <a:xfrm rot="0">
            <a:off x="4891960" y="3398862"/>
            <a:ext cx="5789014" cy="2856777"/>
            <a:chOff x="0" y="0"/>
            <a:chExt cx="1592782" cy="78601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592782" cy="786010"/>
            </a:xfrm>
            <a:custGeom>
              <a:avLst/>
              <a:gdLst/>
              <a:ahLst/>
              <a:cxnLst/>
              <a:rect r="r" b="b" t="t" l="l"/>
              <a:pathLst>
                <a:path h="786010" w="1592782">
                  <a:moveTo>
                    <a:pt x="28084" y="0"/>
                  </a:moveTo>
                  <a:lnTo>
                    <a:pt x="1564697" y="0"/>
                  </a:lnTo>
                  <a:cubicBezTo>
                    <a:pt x="1572146" y="0"/>
                    <a:pt x="1579289" y="2959"/>
                    <a:pt x="1584556" y="8226"/>
                  </a:cubicBezTo>
                  <a:cubicBezTo>
                    <a:pt x="1589823" y="13493"/>
                    <a:pt x="1592782" y="20636"/>
                    <a:pt x="1592782" y="28084"/>
                  </a:cubicBezTo>
                  <a:lnTo>
                    <a:pt x="1592782" y="757926"/>
                  </a:lnTo>
                  <a:cubicBezTo>
                    <a:pt x="1592782" y="765374"/>
                    <a:pt x="1589823" y="772517"/>
                    <a:pt x="1584556" y="777784"/>
                  </a:cubicBezTo>
                  <a:cubicBezTo>
                    <a:pt x="1579289" y="783051"/>
                    <a:pt x="1572146" y="786010"/>
                    <a:pt x="1564697" y="786010"/>
                  </a:cubicBezTo>
                  <a:lnTo>
                    <a:pt x="28084" y="786010"/>
                  </a:lnTo>
                  <a:cubicBezTo>
                    <a:pt x="20636" y="786010"/>
                    <a:pt x="13493" y="783051"/>
                    <a:pt x="8226" y="777784"/>
                  </a:cubicBezTo>
                  <a:cubicBezTo>
                    <a:pt x="2959" y="772517"/>
                    <a:pt x="0" y="765374"/>
                    <a:pt x="0" y="757926"/>
                  </a:cubicBezTo>
                  <a:lnTo>
                    <a:pt x="0" y="28084"/>
                  </a:lnTo>
                  <a:cubicBezTo>
                    <a:pt x="0" y="20636"/>
                    <a:pt x="2959" y="13493"/>
                    <a:pt x="8226" y="8226"/>
                  </a:cubicBezTo>
                  <a:cubicBezTo>
                    <a:pt x="13493" y="2959"/>
                    <a:pt x="20636" y="0"/>
                    <a:pt x="28084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376382">
                      <a:alpha val="100000"/>
                    </a:srgbClr>
                  </a:gs>
                  <a:gs pos="100000">
                    <a:srgbClr val="0C1824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592782" cy="824110"/>
            </a:xfrm>
            <a:prstGeom prst="rect">
              <a:avLst/>
            </a:prstGeom>
          </p:spPr>
          <p:txBody>
            <a:bodyPr anchor="ctr" rtlCol="false" tIns="48628" lIns="48628" bIns="48628" rIns="48628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5191249" y="3722739"/>
            <a:ext cx="1828800" cy="820995"/>
          </a:xfrm>
          <a:prstGeom prst="rect">
            <a:avLst/>
          </a:prstGeom>
        </p:spPr>
        <p:txBody>
          <a:bodyPr anchor="t" rtlCol="false" lIns="0" rIns="0" wrap="square">
            <a:spAutoFit/>
          </a:bodyPr>
          <a:lstStyle/>
          <a:p>
            <a:pPr algn="l">
              <a:lnSpc>
                <a:spcPts val="6352"/>
              </a:lnSpc>
            </a:pPr>
            <a:r>
              <a:rPr sz="3800" b="1">
                <a:solidFill>
                  <a:srgbClr val="2E5C7C"/>
                </a:solidFill>
                <a:latin typeface="DM Sans Bold"/>
              </a:rPr>
              <a:t>92.4%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303196" y="3730053"/>
            <a:ext cx="4114800" cy="69861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752"/>
              </a:lnSpc>
              <a:spcBef>
                <a:spcPct val="0"/>
              </a:spcBef>
            </a:pPr>
            <a:r>
              <a:rPr sz="2100" b="1">
                <a:solidFill>
                  <a:srgbClr val="0F2437"/>
                </a:solidFill>
                <a:latin typeface="DM Sans Bold"/>
              </a:rPr>
              <a:t>Akurasi Model Machine Learning (SVM)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191249" y="4526704"/>
            <a:ext cx="5320628" cy="141893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14"/>
              </a:lnSpc>
            </a:pPr>
            <a:r>
              <a:rPr sz="1800" b="0">
                <a:solidFill>
                  <a:srgbClr val="0F2437"/>
                </a:solidFill>
                <a:latin typeface="DM Sans"/>
              </a:rPr>
              <a:t>Akurasi klasifikasi sentimen Skripsi mengungguli Naive Bayes (91.6%) dengan presisi 92.0% dan recall 92.8% pada 12.500+ data komentar YouTube.</a:t>
            </a:r>
          </a:p>
        </p:txBody>
      </p:sp>
      <p:sp>
        <p:nvSpPr>
          <p:cNvPr name="AutoShape 29" id="29"/>
          <p:cNvSpPr/>
          <p:nvPr/>
        </p:nvSpPr>
        <p:spPr>
          <a:xfrm flipV="true">
            <a:off x="7009628" y="3727999"/>
            <a:ext cx="0" cy="700674"/>
          </a:xfrm>
          <a:prstGeom prst="line">
            <a:avLst/>
          </a:prstGeom>
          <a:ln cap="rnd" w="66675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4891960" y="6401523"/>
            <a:ext cx="5789014" cy="2856777"/>
            <a:chOff x="0" y="0"/>
            <a:chExt cx="1592782" cy="78601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592782" cy="786010"/>
            </a:xfrm>
            <a:custGeom>
              <a:avLst/>
              <a:gdLst/>
              <a:ahLst/>
              <a:cxnLst/>
              <a:rect r="r" b="b" t="t" l="l"/>
              <a:pathLst>
                <a:path h="786010" w="1592782">
                  <a:moveTo>
                    <a:pt x="28084" y="0"/>
                  </a:moveTo>
                  <a:lnTo>
                    <a:pt x="1564697" y="0"/>
                  </a:lnTo>
                  <a:cubicBezTo>
                    <a:pt x="1572146" y="0"/>
                    <a:pt x="1579289" y="2959"/>
                    <a:pt x="1584556" y="8226"/>
                  </a:cubicBezTo>
                  <a:cubicBezTo>
                    <a:pt x="1589823" y="13493"/>
                    <a:pt x="1592782" y="20636"/>
                    <a:pt x="1592782" y="28084"/>
                  </a:cubicBezTo>
                  <a:lnTo>
                    <a:pt x="1592782" y="757926"/>
                  </a:lnTo>
                  <a:cubicBezTo>
                    <a:pt x="1592782" y="765374"/>
                    <a:pt x="1589823" y="772517"/>
                    <a:pt x="1584556" y="777784"/>
                  </a:cubicBezTo>
                  <a:cubicBezTo>
                    <a:pt x="1579289" y="783051"/>
                    <a:pt x="1572146" y="786010"/>
                    <a:pt x="1564697" y="786010"/>
                  </a:cubicBezTo>
                  <a:lnTo>
                    <a:pt x="28084" y="786010"/>
                  </a:lnTo>
                  <a:cubicBezTo>
                    <a:pt x="20636" y="786010"/>
                    <a:pt x="13493" y="783051"/>
                    <a:pt x="8226" y="777784"/>
                  </a:cubicBezTo>
                  <a:cubicBezTo>
                    <a:pt x="2959" y="772517"/>
                    <a:pt x="0" y="765374"/>
                    <a:pt x="0" y="757926"/>
                  </a:cubicBezTo>
                  <a:lnTo>
                    <a:pt x="0" y="28084"/>
                  </a:lnTo>
                  <a:cubicBezTo>
                    <a:pt x="0" y="20636"/>
                    <a:pt x="2959" y="13493"/>
                    <a:pt x="8226" y="8226"/>
                  </a:cubicBezTo>
                  <a:cubicBezTo>
                    <a:pt x="13493" y="2959"/>
                    <a:pt x="20636" y="0"/>
                    <a:pt x="28084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376382">
                      <a:alpha val="100000"/>
                    </a:srgbClr>
                  </a:gs>
                  <a:gs pos="100000">
                    <a:srgbClr val="0C1824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592782" cy="824110"/>
            </a:xfrm>
            <a:prstGeom prst="rect">
              <a:avLst/>
            </a:prstGeom>
          </p:spPr>
          <p:txBody>
            <a:bodyPr anchor="ctr" rtlCol="false" tIns="48628" lIns="48628" bIns="48628" rIns="48628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5191249" y="6631503"/>
            <a:ext cx="1828800" cy="820995"/>
          </a:xfrm>
          <a:prstGeom prst="rect">
            <a:avLst/>
          </a:prstGeom>
        </p:spPr>
        <p:txBody>
          <a:bodyPr anchor="t" rtlCol="false" lIns="0" rIns="0" wrap="square">
            <a:spAutoFit/>
          </a:bodyPr>
          <a:lstStyle/>
          <a:p>
            <a:pPr algn="l">
              <a:lnSpc>
                <a:spcPts val="6352"/>
              </a:lnSpc>
            </a:pPr>
            <a:r>
              <a:rPr sz="3800" b="1">
                <a:solidFill>
                  <a:srgbClr val="2E5C7C"/>
                </a:solidFill>
                <a:latin typeface="DM Sans Bold"/>
              </a:rPr>
              <a:t>~70%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883515" y="6673641"/>
            <a:ext cx="2286000" cy="69861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752"/>
              </a:lnSpc>
              <a:spcBef>
                <a:spcPct val="0"/>
              </a:spcBef>
            </a:pPr>
            <a:r>
              <a:rPr sz="1900" b="1">
                <a:solidFill>
                  <a:srgbClr val="0F2437"/>
                </a:solidFill>
                <a:latin typeface="DM Sans Bold"/>
              </a:rPr>
              <a:t>Efisiensi Kerja</a:t>
            </a:r>
          </a:p>
          <a:p>
            <a:r>
              <a:rPr sz="1900" b="1">
                <a:solidFill>
                  <a:srgbClr val="0F2437"/>
                </a:solidFill>
                <a:latin typeface="DM Sans Bold"/>
              </a:rPr>
              <a:t>Konten AI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191249" y="7572234"/>
            <a:ext cx="5320628" cy="141893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0" indent="0" lvl="1">
              <a:lnSpc>
                <a:spcPts val="2814"/>
              </a:lnSpc>
            </a:pPr>
            <a:r>
              <a:rPr sz="1800" b="0">
                <a:solidFill>
                  <a:srgbClr val="0F2437"/>
                </a:solidFill>
                <a:latin typeface="DM Sans"/>
              </a:rPr>
              <a:t>Pengurangan waktu kurasi dan produksi video format pendek (9:16) secara signifikan menggunakan pipeline automasi multi-agent AI.</a:t>
            </a:r>
          </a:p>
        </p:txBody>
      </p:sp>
      <p:sp>
        <p:nvSpPr>
          <p:cNvPr name="AutoShape 36" id="36"/>
          <p:cNvSpPr/>
          <p:nvPr/>
        </p:nvSpPr>
        <p:spPr>
          <a:xfrm flipV="true">
            <a:off x="8589947" y="6671586"/>
            <a:ext cx="0" cy="700674"/>
          </a:xfrm>
          <a:prstGeom prst="line">
            <a:avLst/>
          </a:prstGeom>
          <a:ln cap="rnd" w="66675">
            <a:gradFill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374127" y="504826"/>
            <a:ext cx="3712073" cy="9277347"/>
            <a:chOff x="0" y="0"/>
            <a:chExt cx="1057977" cy="2644133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57977" cy="2644133"/>
            </a:xfrm>
            <a:custGeom>
              <a:avLst/>
              <a:gdLst/>
              <a:ahLst/>
              <a:cxnLst/>
              <a:rect r="r" b="b" t="t" l="l"/>
              <a:pathLst>
                <a:path h="2644133" w="1057977">
                  <a:moveTo>
                    <a:pt x="0" y="0"/>
                  </a:moveTo>
                  <a:lnTo>
                    <a:pt x="1057977" y="0"/>
                  </a:lnTo>
                  <a:lnTo>
                    <a:pt x="1057977" y="2644133"/>
                  </a:lnTo>
                  <a:lnTo>
                    <a:pt x="0" y="2644133"/>
                  </a:lnTo>
                  <a:close/>
                </a:path>
              </a:pathLst>
            </a:custGeom>
            <a:blipFill>
              <a:blip r:embed="rId2"/>
              <a:stretch>
                <a:fillRect l="-33383" t="0" r="-33383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5794666" y="8486722"/>
            <a:ext cx="2575104" cy="2194847"/>
            <a:chOff x="0" y="0"/>
            <a:chExt cx="581111" cy="4953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81111" cy="495300"/>
            </a:xfrm>
            <a:custGeom>
              <a:avLst/>
              <a:gdLst/>
              <a:ahLst/>
              <a:cxnLst/>
              <a:rect r="r" b="b" t="t" l="l"/>
              <a:pathLst>
                <a:path h="495300" w="581111">
                  <a:moveTo>
                    <a:pt x="230188" y="0"/>
                  </a:moveTo>
                  <a:lnTo>
                    <a:pt x="581111" y="0"/>
                  </a:lnTo>
                  <a:lnTo>
                    <a:pt x="350923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7EB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1" id="41"/>
            <p:cNvSpPr txBox="true"/>
            <p:nvPr/>
          </p:nvSpPr>
          <p:spPr>
            <a:xfrm>
              <a:off x="254000" y="-38100"/>
              <a:ext cx="731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4490716" y="8943507"/>
            <a:ext cx="2591501" cy="31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1">
              <a:lnSpc>
                <a:spcPts val="2354"/>
              </a:lnSpc>
            </a:pPr>
            <a:r>
              <a:rPr lang="en-US" sz="2587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1C4462">
                <a:alpha val="100000"/>
              </a:srgbClr>
            </a:gs>
            <a:gs pos="100000">
              <a:srgbClr val="0C1824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952316" y="5876459"/>
            <a:ext cx="4523632" cy="4410541"/>
            <a:chOff x="0" y="0"/>
            <a:chExt cx="508000" cy="495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76382">
                    <a:alpha val="100000"/>
                  </a:srgbClr>
                </a:gs>
                <a:gs pos="100000">
                  <a:srgbClr val="0C1824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470199" y="-35638"/>
            <a:ext cx="11568854" cy="10322638"/>
            <a:chOff x="0" y="0"/>
            <a:chExt cx="5877546" cy="524440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877546" cy="5244408"/>
            </a:xfrm>
            <a:custGeom>
              <a:avLst/>
              <a:gdLst/>
              <a:ahLst/>
              <a:cxnLst/>
              <a:rect r="r" b="b" t="t" l="l"/>
              <a:pathLst>
                <a:path h="5244408" w="5877546">
                  <a:moveTo>
                    <a:pt x="5877546" y="0"/>
                  </a:moveTo>
                  <a:lnTo>
                    <a:pt x="3762559" y="5244408"/>
                  </a:lnTo>
                  <a:lnTo>
                    <a:pt x="0" y="5244408"/>
                  </a:lnTo>
                  <a:lnTo>
                    <a:pt x="2090369" y="0"/>
                  </a:lnTo>
                  <a:lnTo>
                    <a:pt x="5877546" y="0"/>
                  </a:lnTo>
                  <a:close/>
                </a:path>
              </a:pathLst>
            </a:custGeom>
            <a:blipFill>
              <a:blip r:embed="rId2"/>
              <a:stretch>
                <a:fillRect l="0" t="-33978" r="0" b="-33978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0" y="6285124"/>
            <a:ext cx="1842672" cy="1796605"/>
            <a:chOff x="0" y="0"/>
            <a:chExt cx="508000" cy="4953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" cy="495300"/>
            </a:xfrm>
            <a:custGeom>
              <a:avLst/>
              <a:gdLst/>
              <a:ahLst/>
              <a:cxnLst/>
              <a:rect r="r" b="b" t="t" l="l"/>
              <a:pathLst>
                <a:path h="495300" w="508000">
                  <a:moveTo>
                    <a:pt x="230188" y="0"/>
                  </a:moveTo>
                  <a:lnTo>
                    <a:pt x="508000" y="0"/>
                  </a:lnTo>
                  <a:lnTo>
                    <a:pt x="277812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254000" y="-38100"/>
              <a:ext cx="0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375945" y="271415"/>
            <a:ext cx="3878681" cy="2870280"/>
            <a:chOff x="0" y="0"/>
            <a:chExt cx="669311" cy="4953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69311" cy="495300"/>
            </a:xfrm>
            <a:custGeom>
              <a:avLst/>
              <a:gdLst/>
              <a:ahLst/>
              <a:cxnLst/>
              <a:rect r="r" b="b" t="t" l="l"/>
              <a:pathLst>
                <a:path h="495300" w="669311">
                  <a:moveTo>
                    <a:pt x="230188" y="0"/>
                  </a:moveTo>
                  <a:lnTo>
                    <a:pt x="669311" y="0"/>
                  </a:lnTo>
                  <a:lnTo>
                    <a:pt x="439124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254000" y="-38100"/>
              <a:ext cx="161311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86672" y="-108059"/>
            <a:ext cx="2554236" cy="2101803"/>
            <a:chOff x="0" y="0"/>
            <a:chExt cx="601918" cy="4953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01918" cy="495300"/>
            </a:xfrm>
            <a:custGeom>
              <a:avLst/>
              <a:gdLst/>
              <a:ahLst/>
              <a:cxnLst/>
              <a:rect r="r" b="b" t="t" l="l"/>
              <a:pathLst>
                <a:path h="495300" w="601918">
                  <a:moveTo>
                    <a:pt x="230188" y="0"/>
                  </a:moveTo>
                  <a:lnTo>
                    <a:pt x="601918" y="0"/>
                  </a:lnTo>
                  <a:lnTo>
                    <a:pt x="371731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254000" y="-38100"/>
              <a:ext cx="93918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508089" y="8081729"/>
            <a:ext cx="2335684" cy="1796605"/>
            <a:chOff x="0" y="0"/>
            <a:chExt cx="643917" cy="4953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43917" cy="495300"/>
            </a:xfrm>
            <a:custGeom>
              <a:avLst/>
              <a:gdLst/>
              <a:ahLst/>
              <a:cxnLst/>
              <a:rect r="r" b="b" t="t" l="l"/>
              <a:pathLst>
                <a:path h="495300" w="643917">
                  <a:moveTo>
                    <a:pt x="230188" y="0"/>
                  </a:moveTo>
                  <a:lnTo>
                    <a:pt x="643917" y="0"/>
                  </a:lnTo>
                  <a:lnTo>
                    <a:pt x="413729" y="495300"/>
                  </a:lnTo>
                  <a:lnTo>
                    <a:pt x="0" y="495300"/>
                  </a:lnTo>
                  <a:lnTo>
                    <a:pt x="23018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447FA8">
                    <a:alpha val="100000"/>
                  </a:srgbClr>
                </a:gs>
                <a:gs pos="100000">
                  <a:srgbClr val="224A72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254000" y="-38100"/>
              <a:ext cx="135917" cy="533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9" id="19"/>
          <p:cNvSpPr/>
          <p:nvPr/>
        </p:nvSpPr>
        <p:spPr>
          <a:xfrm>
            <a:off x="2772250" y="1706555"/>
            <a:ext cx="7847666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1406675" y="3751748"/>
            <a:ext cx="11109633" cy="1828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14960"/>
              </a:lnSpc>
              <a:spcBef>
                <a:spcPct val="0"/>
              </a:spcBef>
            </a:pPr>
            <a:r>
              <a:rPr lang="en-US" b="true" sz="10686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Terima Kasih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406675" y="7183427"/>
            <a:ext cx="421204" cy="421204"/>
          </a:xfrm>
          <a:custGeom>
            <a:avLst/>
            <a:gdLst/>
            <a:ahLst/>
            <a:cxnLst/>
            <a:rect r="r" b="b" t="t" l="l"/>
            <a:pathLst>
              <a:path h="421204" w="421204">
                <a:moveTo>
                  <a:pt x="0" y="0"/>
                </a:moveTo>
                <a:lnTo>
                  <a:pt x="421205" y="0"/>
                </a:lnTo>
                <a:lnTo>
                  <a:pt x="421205" y="421204"/>
                </a:lnTo>
                <a:lnTo>
                  <a:pt x="0" y="4212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22" id="22"/>
          <p:cNvSpPr txBox="true"/>
          <p:nvPr/>
        </p:nvSpPr>
        <p:spPr>
          <a:xfrm rot="0">
            <a:off x="2008490" y="7153853"/>
            <a:ext cx="5943600" cy="432726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545"/>
              </a:lnSpc>
            </a:pPr>
            <a:r>
              <a:rPr sz="2500" b="0">
                <a:solidFill>
                  <a:srgbClr val="FFFFFF"/>
                </a:solidFill>
                <a:latin typeface="DM Sans"/>
              </a:rPr>
              <a:t>+62 898-9518-334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06675" y="1371742"/>
            <a:ext cx="2492100" cy="62201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5114"/>
              </a:lnSpc>
            </a:pPr>
            <a:r>
              <a:rPr sz="3600" b="1">
                <a:solidFill>
                  <a:srgbClr val="FFFFFF"/>
                </a:solidFill>
                <a:latin typeface="DM Sans Bold"/>
              </a:rPr>
              <a:t>2024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406675" y="7728252"/>
            <a:ext cx="421204" cy="421204"/>
          </a:xfrm>
          <a:custGeom>
            <a:avLst/>
            <a:gdLst/>
            <a:ahLst/>
            <a:cxnLst/>
            <a:rect r="r" b="b" t="t" l="l"/>
            <a:pathLst>
              <a:path h="421204" w="421204">
                <a:moveTo>
                  <a:pt x="0" y="0"/>
                </a:moveTo>
                <a:lnTo>
                  <a:pt x="421205" y="0"/>
                </a:lnTo>
                <a:lnTo>
                  <a:pt x="421205" y="421204"/>
                </a:lnTo>
                <a:lnTo>
                  <a:pt x="0" y="4212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25" id="25"/>
          <p:cNvSpPr txBox="true"/>
          <p:nvPr/>
        </p:nvSpPr>
        <p:spPr>
          <a:xfrm rot="0">
            <a:off x="2008490" y="7698679"/>
            <a:ext cx="7772400" cy="432726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545"/>
              </a:lnSpc>
            </a:pPr>
            <a:r>
              <a:rPr sz="2100" b="0">
                <a:solidFill>
                  <a:srgbClr val="FFFFFF"/>
                </a:solidFill>
                <a:latin typeface="DM Sans"/>
              </a:rPr>
              <a:t>khairulraihan617@gmail.com</a:t>
            </a:r>
          </a:p>
          <a:p>
            <a:r>
              <a:rPr sz="2100" b="0">
                <a:solidFill>
                  <a:srgbClr val="FFFFFF"/>
                </a:solidFill>
                <a:latin typeface="DM Sans"/>
              </a:rPr>
              <a:t>linkedin.com/in/khairul-raihan-hidayat</a:t>
            </a:r>
          </a:p>
          <a:p>
            <a:r>
              <a:rPr sz="2100" b="0">
                <a:solidFill>
                  <a:srgbClr val="FFFFFF"/>
                </a:solidFill>
                <a:latin typeface="DM Sans"/>
              </a:rPr>
              <a:t>khairulraihan.github.io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06675" y="6244511"/>
            <a:ext cx="5681636" cy="513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194"/>
              </a:lnSpc>
              <a:spcBef>
                <a:spcPct val="0"/>
              </a:spcBef>
            </a:pPr>
            <a:r>
              <a:rPr lang="en-US" b="true" sz="2996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Mari Berkolaborasi!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DAHUU393kSo</dc:identifier>
  <dcterms:modified xsi:type="dcterms:W3CDTF">2011-08-01T06:04:30Z</dcterms:modified>
  <cp:revision>1</cp:revision>
  <dc:title>Biru Putih Minimalis Modern Profesional Portofolio Presentasi</dc:title>
</cp:coreProperties>
</file>