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94360"/>
            <a:ext cx="6949440" cy="566928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868680"/>
            <a:ext cx="310896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PORTOFOLIO PROFESIONAL 2026</a:t>
            </a:r>
          </a:p>
        </p:txBody>
      </p:sp>
      <p:sp>
        <p:nvSpPr>
          <p:cNvPr id="6" name="TextBox 5"/>
          <p:cNvSpPr txBox="1"/>
          <p:nvPr/>
        </p:nvSpPr>
        <p:spPr>
          <a:xfrm>
            <a:off x="1097280" y="1234440"/>
            <a:ext cx="6217920" cy="731520"/>
          </a:xfrm>
          <a:prstGeom prst="rect">
            <a:avLst/>
          </a:prstGeom>
          <a:noFill/>
        </p:spPr>
        <p:txBody>
          <a:bodyPr wrap="square" lIns="0" tIns="0">
            <a:spAutoFit/>
          </a:bodyPr>
          <a:lstStyle/>
          <a:p>
            <a:pPr algn="l">
              <a:spcBef>
                <a:spcPts val="0"/>
              </a:spcBef>
              <a:spcAft>
                <a:spcPts val="300"/>
              </a:spcAft>
              <a:defRPr sz="2700" b="1" i="0">
                <a:solidFill>
                  <a:srgbClr val="0F2437"/>
                </a:solidFill>
                <a:latin typeface="Segoe UI"/>
              </a:defRPr>
            </a:pPr>
            <a:r>
              <a:rPr sz="2700" b="1" i="0">
                <a:solidFill>
                  <a:srgbClr val="0F2437"/>
                </a:solidFill>
                <a:latin typeface="Segoe UI"/>
              </a:rPr>
              <a:t>Khairul Raihan Hidayat, S.Kom.</a:t>
            </a:r>
          </a:p>
        </p:txBody>
      </p:sp>
      <p:sp>
        <p:nvSpPr>
          <p:cNvPr id="7" name="TextBox 6"/>
          <p:cNvSpPr txBox="1"/>
          <p:nvPr/>
        </p:nvSpPr>
        <p:spPr>
          <a:xfrm>
            <a:off x="1097280" y="2011680"/>
            <a:ext cx="6217920" cy="411480"/>
          </a:xfrm>
          <a:prstGeom prst="rect">
            <a:avLst/>
          </a:prstGeom>
          <a:noFill/>
        </p:spPr>
        <p:txBody>
          <a:bodyPr wrap="square" lIns="0" tIns="0">
            <a:spAutoFit/>
          </a:bodyPr>
          <a:lstStyle/>
          <a:p>
            <a:pPr algn="l">
              <a:spcBef>
                <a:spcPts val="0"/>
              </a:spcBef>
              <a:spcAft>
                <a:spcPts val="300"/>
              </a:spcAft>
              <a:defRPr sz="1650" b="1" i="0">
                <a:solidFill>
                  <a:srgbClr val="2563EB"/>
                </a:solidFill>
                <a:latin typeface="Segoe UI"/>
              </a:defRPr>
            </a:pPr>
            <a:r>
              <a:rPr sz="1650" b="1" i="0">
                <a:solidFill>
                  <a:srgbClr val="2563EB"/>
                </a:solidFill>
                <a:latin typeface="Segoe UI"/>
              </a:rPr>
              <a:t>Data Analyst &amp; Agentic AI Specialist</a:t>
            </a:r>
          </a:p>
        </p:txBody>
      </p:sp>
      <p:sp>
        <p:nvSpPr>
          <p:cNvPr id="8" name="Rounded Rectangle 7"/>
          <p:cNvSpPr/>
          <p:nvPr/>
        </p:nvSpPr>
        <p:spPr>
          <a:xfrm>
            <a:off x="1097280" y="2487168"/>
            <a:ext cx="6217920" cy="384048"/>
          </a:xfrm>
          <a:prstGeom prst="roundRect">
            <a:avLst>
              <a:gd name="adj" fmla="val 15000"/>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tIns="54864"/>
          <a:lstStyle/>
          <a:p>
            <a:pPr algn="l">
              <a:spcBef>
                <a:spcPts val="0"/>
              </a:spcBef>
              <a:spcAft>
                <a:spcPts val="300"/>
              </a:spcAft>
              <a:defRPr sz="1100" b="1" i="0">
                <a:solidFill>
                  <a:srgbClr val="B45309"/>
                </a:solidFill>
                <a:latin typeface="Segoe UI"/>
              </a:defRPr>
            </a:pPr>
            <a:r>
              <a:rPr sz="1100" b="1" i="0">
                <a:solidFill>
                  <a:srgbClr val="B45309"/>
                </a:solidFill>
                <a:latin typeface="Segoe UI"/>
              </a:rPr>
              <a:t>★ Sarjana Sistem Informasi (Data Science) | IPK 3.88 / 4.00 (Magna Cum Laude)</a:t>
            </a:r>
          </a:p>
        </p:txBody>
      </p:sp>
      <p:sp>
        <p:nvSpPr>
          <p:cNvPr id="9" name="TextBox 8"/>
          <p:cNvSpPr txBox="1"/>
          <p:nvPr/>
        </p:nvSpPr>
        <p:spPr>
          <a:xfrm>
            <a:off x="1097280" y="2999232"/>
            <a:ext cx="6217920" cy="1188720"/>
          </a:xfrm>
          <a:prstGeom prst="rect">
            <a:avLst/>
          </a:prstGeom>
          <a:noFill/>
        </p:spPr>
        <p:txBody>
          <a:bodyPr wrap="square" lIns="0" tIns="0">
            <a:spAutoFit/>
          </a:bodyPr>
          <a:lstStyle/>
          <a:p>
            <a:pPr algn="l">
              <a:spcBef>
                <a:spcPts val="0"/>
              </a:spcBef>
              <a:spcAft>
                <a:spcPts val="300"/>
              </a:spcAft>
              <a:defRPr sz="1100" b="0" i="0">
                <a:solidFill>
                  <a:srgbClr val="475569"/>
                </a:solidFill>
                <a:latin typeface="Segoe UI"/>
              </a:defRPr>
            </a:pPr>
            <a:r>
              <a:rPr sz="1100" b="0" i="0">
                <a:solidFill>
                  <a:srgbClr val="475569"/>
                </a:solidFill>
                <a:latin typeface="Segoe UI"/>
              </a:rPr>
              <a:t>Lulusan terbaik Universitas Budi Luhur yang memadukan keahlian analitika data kuantitatif, pemodelan Machine Learning (NLP/Klasifikasi), visualisasi data eksekutif (Tableau &amp; SQL), serta rekayasa alur kerja otomatisasi berbasis Google Antigravity Agentic AI.</a:t>
            </a:r>
          </a:p>
        </p:txBody>
      </p:sp>
      <p:sp>
        <p:nvSpPr>
          <p:cNvPr id="10" name="Rounded Rectangle 9"/>
          <p:cNvSpPr/>
          <p:nvPr/>
        </p:nvSpPr>
        <p:spPr>
          <a:xfrm>
            <a:off x="1097280" y="4389120"/>
            <a:ext cx="3063240" cy="658368"/>
          </a:xfrm>
          <a:prstGeom prst="roundRect">
            <a:avLst>
              <a:gd name="adj" fmla="val 6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462272"/>
            <a:ext cx="2834640" cy="502920"/>
          </a:xfrm>
          <a:prstGeom prst="rect">
            <a:avLst/>
          </a:prstGeom>
          <a:noFill/>
        </p:spPr>
        <p:txBody>
          <a:bodyPr wrap="none" lIns="0" tIns="0">
            <a:spAutoFit/>
          </a:bodyPr>
          <a:lstStyle/>
          <a:p>
            <a:pPr algn="l">
              <a:spcBef>
                <a:spcPts val="0"/>
              </a:spcBef>
              <a:spcAft>
                <a:spcPts val="100"/>
              </a:spcAft>
              <a:defRPr sz="850" b="1" i="0">
                <a:solidFill>
                  <a:srgbClr val="2563EB"/>
                </a:solidFill>
                <a:latin typeface="Segoe UI"/>
              </a:defRPr>
            </a:pPr>
            <a:r>
              <a:rPr sz="850" b="1" i="0">
                <a:solidFill>
                  <a:srgbClr val="2563EB"/>
                </a:solidFill>
                <a:latin typeface="Segoe UI"/>
              </a:rPr>
              <a:t>EMAIL</a:t>
            </a:r>
          </a:p>
          <a:p>
            <a:pPr algn="l">
              <a:spcBef>
                <a:spcPts val="0"/>
              </a:spcBef>
              <a:spcAft>
                <a:spcPts val="300"/>
              </a:spcAft>
              <a:defRPr sz="950" b="0" i="0">
                <a:solidFill>
                  <a:srgbClr val="0F172A"/>
                </a:solidFill>
                <a:latin typeface="Segoe UI"/>
              </a:defRPr>
            </a:pPr>
            <a:r>
              <a:rPr sz="950" b="0" i="0">
                <a:solidFill>
                  <a:srgbClr val="0F172A"/>
                </a:solidFill>
                <a:latin typeface="Segoe UI"/>
              </a:rPr>
              <a:t>khairulraihan1204@gmail.com</a:t>
            </a:r>
          </a:p>
        </p:txBody>
      </p:sp>
      <p:sp>
        <p:nvSpPr>
          <p:cNvPr id="12" name="Rounded Rectangle 11"/>
          <p:cNvSpPr/>
          <p:nvPr/>
        </p:nvSpPr>
        <p:spPr>
          <a:xfrm>
            <a:off x="4251960" y="4389120"/>
            <a:ext cx="3063240" cy="658368"/>
          </a:xfrm>
          <a:prstGeom prst="roundRect">
            <a:avLst>
              <a:gd name="adj" fmla="val 6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4462272"/>
            <a:ext cx="2834640" cy="502920"/>
          </a:xfrm>
          <a:prstGeom prst="rect">
            <a:avLst/>
          </a:prstGeom>
          <a:noFill/>
        </p:spPr>
        <p:txBody>
          <a:bodyPr wrap="none" lIns="0" tIns="0">
            <a:spAutoFit/>
          </a:bodyPr>
          <a:lstStyle/>
          <a:p>
            <a:pPr algn="l">
              <a:spcBef>
                <a:spcPts val="0"/>
              </a:spcBef>
              <a:spcAft>
                <a:spcPts val="100"/>
              </a:spcAft>
              <a:defRPr sz="850" b="1" i="0">
                <a:solidFill>
                  <a:srgbClr val="2563EB"/>
                </a:solidFill>
                <a:latin typeface="Segoe UI"/>
              </a:defRPr>
            </a:pPr>
            <a:r>
              <a:rPr sz="850" b="1" i="0">
                <a:solidFill>
                  <a:srgbClr val="2563EB"/>
                </a:solidFill>
                <a:latin typeface="Segoe UI"/>
              </a:rPr>
              <a:t>WHATSAPP</a:t>
            </a:r>
          </a:p>
          <a:p>
            <a:pPr algn="l">
              <a:spcBef>
                <a:spcPts val="0"/>
              </a:spcBef>
              <a:spcAft>
                <a:spcPts val="300"/>
              </a:spcAft>
              <a:defRPr sz="950" b="0" i="0">
                <a:solidFill>
                  <a:srgbClr val="0F172A"/>
                </a:solidFill>
                <a:latin typeface="Segoe UI"/>
              </a:defRPr>
            </a:pPr>
            <a:r>
              <a:rPr sz="950" b="0" i="0">
                <a:solidFill>
                  <a:srgbClr val="0F172A"/>
                </a:solidFill>
                <a:latin typeface="Segoe UI"/>
              </a:rPr>
              <a:t>+62 822-1081-3652</a:t>
            </a:r>
          </a:p>
        </p:txBody>
      </p:sp>
      <p:sp>
        <p:nvSpPr>
          <p:cNvPr id="14" name="Rounded Rectangle 13"/>
          <p:cNvSpPr/>
          <p:nvPr/>
        </p:nvSpPr>
        <p:spPr>
          <a:xfrm>
            <a:off x="1097280" y="5166359"/>
            <a:ext cx="3063240" cy="658368"/>
          </a:xfrm>
          <a:prstGeom prst="roundRect">
            <a:avLst>
              <a:gd name="adj" fmla="val 6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5239511"/>
            <a:ext cx="2834640" cy="502920"/>
          </a:xfrm>
          <a:prstGeom prst="rect">
            <a:avLst/>
          </a:prstGeom>
          <a:noFill/>
        </p:spPr>
        <p:txBody>
          <a:bodyPr wrap="none" lIns="0" tIns="0">
            <a:spAutoFit/>
          </a:bodyPr>
          <a:lstStyle/>
          <a:p>
            <a:pPr algn="l">
              <a:spcBef>
                <a:spcPts val="0"/>
              </a:spcBef>
              <a:spcAft>
                <a:spcPts val="100"/>
              </a:spcAft>
              <a:defRPr sz="850" b="1" i="0">
                <a:solidFill>
                  <a:srgbClr val="2563EB"/>
                </a:solidFill>
                <a:latin typeface="Segoe UI"/>
              </a:defRPr>
            </a:pPr>
            <a:r>
              <a:rPr sz="850" b="1" i="0">
                <a:solidFill>
                  <a:srgbClr val="2563EB"/>
                </a:solidFill>
                <a:latin typeface="Segoe UI"/>
              </a:rPr>
              <a:t>LINKEDIN</a:t>
            </a:r>
          </a:p>
          <a:p>
            <a:pPr algn="l">
              <a:spcBef>
                <a:spcPts val="0"/>
              </a:spcBef>
              <a:spcAft>
                <a:spcPts val="300"/>
              </a:spcAft>
              <a:defRPr sz="950" b="0" i="0">
                <a:solidFill>
                  <a:srgbClr val="0F172A"/>
                </a:solidFill>
                <a:latin typeface="Segoe UI"/>
              </a:defRPr>
            </a:pPr>
            <a:r>
              <a:rPr sz="950" b="0" i="0">
                <a:solidFill>
                  <a:srgbClr val="0F172A"/>
                </a:solidFill>
                <a:latin typeface="Segoe UI"/>
              </a:rPr>
              <a:t>linkedin.com/in/khairulraihan</a:t>
            </a:r>
          </a:p>
        </p:txBody>
      </p:sp>
      <p:sp>
        <p:nvSpPr>
          <p:cNvPr id="16" name="Rounded Rectangle 15"/>
          <p:cNvSpPr/>
          <p:nvPr/>
        </p:nvSpPr>
        <p:spPr>
          <a:xfrm>
            <a:off x="4251960" y="5166359"/>
            <a:ext cx="3063240" cy="658368"/>
          </a:xfrm>
          <a:prstGeom prst="roundRect">
            <a:avLst>
              <a:gd name="adj" fmla="val 6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5239511"/>
            <a:ext cx="2834640" cy="502920"/>
          </a:xfrm>
          <a:prstGeom prst="rect">
            <a:avLst/>
          </a:prstGeom>
          <a:noFill/>
        </p:spPr>
        <p:txBody>
          <a:bodyPr wrap="none" lIns="0" tIns="0">
            <a:spAutoFit/>
          </a:bodyPr>
          <a:lstStyle/>
          <a:p>
            <a:pPr algn="l">
              <a:spcBef>
                <a:spcPts val="0"/>
              </a:spcBef>
              <a:spcAft>
                <a:spcPts val="100"/>
              </a:spcAft>
              <a:defRPr sz="850" b="1" i="0">
                <a:solidFill>
                  <a:srgbClr val="2563EB"/>
                </a:solidFill>
                <a:latin typeface="Segoe UI"/>
              </a:defRPr>
            </a:pPr>
            <a:r>
              <a:rPr sz="850" b="1" i="0">
                <a:solidFill>
                  <a:srgbClr val="2563EB"/>
                </a:solidFill>
                <a:latin typeface="Segoe UI"/>
              </a:rPr>
              <a:t>WEB PORTOFOLIO</a:t>
            </a:r>
          </a:p>
          <a:p>
            <a:pPr algn="l">
              <a:spcBef>
                <a:spcPts val="0"/>
              </a:spcBef>
              <a:spcAft>
                <a:spcPts val="300"/>
              </a:spcAft>
              <a:defRPr sz="950" b="0" i="0">
                <a:solidFill>
                  <a:srgbClr val="0F172A"/>
                </a:solidFill>
                <a:latin typeface="Segoe UI"/>
              </a:defRPr>
            </a:pPr>
            <a:r>
              <a:rPr sz="950" b="0" i="0">
                <a:solidFill>
                  <a:srgbClr val="0F172A"/>
                </a:solidFill>
                <a:latin typeface="Segoe UI"/>
              </a:rPr>
              <a:t>khairulraihan.github.io</a:t>
            </a:r>
          </a:p>
        </p:txBody>
      </p:sp>
      <p:sp>
        <p:nvSpPr>
          <p:cNvPr id="18" name="Rounded Rectangle 17"/>
          <p:cNvSpPr/>
          <p:nvPr/>
        </p:nvSpPr>
        <p:spPr>
          <a:xfrm>
            <a:off x="7909560" y="594360"/>
            <a:ext cx="3520440" cy="5669280"/>
          </a:xfrm>
          <a:prstGeom prst="roundRect">
            <a:avLst>
              <a:gd name="adj" fmla="val 2000"/>
            </a:avLst>
          </a:prstGeom>
          <a:solidFill>
            <a:srgbClr val="0F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rofile.jpg"/>
          <p:cNvPicPr>
            <a:picLocks noChangeAspect="1"/>
          </p:cNvPicPr>
          <p:nvPr/>
        </p:nvPicPr>
        <p:blipFill>
          <a:blip r:embed="rId2"/>
          <a:stretch>
            <a:fillRect/>
          </a:stretch>
        </p:blipFill>
        <p:spPr>
          <a:xfrm>
            <a:off x="8549640" y="914400"/>
            <a:ext cx="2240280" cy="2240280"/>
          </a:xfrm>
          <a:prstGeom prst="rect">
            <a:avLst/>
          </a:prstGeom>
        </p:spPr>
      </p:pic>
      <p:sp>
        <p:nvSpPr>
          <p:cNvPr id="20" name="Rectangle 19"/>
          <p:cNvSpPr/>
          <p:nvPr/>
        </p:nvSpPr>
        <p:spPr>
          <a:xfrm>
            <a:off x="8503920" y="868680"/>
            <a:ext cx="2331720" cy="2331720"/>
          </a:xfrm>
          <a:prstGeom prst="rect">
            <a:avLst/>
          </a:prstGeom>
          <a:no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337560"/>
            <a:ext cx="3108960" cy="2651760"/>
          </a:xfrm>
          <a:prstGeom prst="rect">
            <a:avLst/>
          </a:prstGeom>
          <a:noFill/>
        </p:spPr>
        <p:txBody>
          <a:bodyPr wrap="square" lIns="0" tIns="0">
            <a:spAutoFit/>
          </a:bodyPr>
          <a:lstStyle/>
          <a:p>
            <a:pPr algn="l">
              <a:spcBef>
                <a:spcPts val="0"/>
              </a:spcBef>
              <a:spcAft>
                <a:spcPts val="600"/>
              </a:spcAft>
              <a:defRPr sz="1050" b="1" i="0">
                <a:solidFill>
                  <a:srgbClr val="0EA5E9"/>
                </a:solidFill>
                <a:latin typeface="Segoe UI"/>
              </a:defRPr>
            </a:pPr>
            <a:r>
              <a:rPr sz="1050" b="1" i="0">
                <a:solidFill>
                  <a:srgbClr val="0EA5E9"/>
                </a:solidFill>
                <a:latin typeface="Segoe UI"/>
              </a:rPr>
              <a:t>METRIK &amp; PENCAPAIAN UTAMA</a:t>
            </a:r>
          </a:p>
          <a:p>
            <a:pPr algn="l">
              <a:spcBef>
                <a:spcPts val="0"/>
              </a:spcBef>
              <a:spcAft>
                <a:spcPts val="0"/>
              </a:spcAft>
              <a:defRPr sz="1100" b="1" i="0">
                <a:solidFill>
                  <a:srgbClr val="FFFFFF"/>
                </a:solidFill>
                <a:latin typeface="Segoe UI"/>
              </a:defRPr>
            </a:pPr>
            <a:r>
              <a:rPr sz="1100" b="1" i="0">
                <a:solidFill>
                  <a:srgbClr val="FFFFFF"/>
                </a:solidFill>
                <a:latin typeface="Segoe UI"/>
              </a:rPr>
              <a:t>■  3.88 / 4.00</a:t>
            </a:r>
          </a:p>
          <a:p>
            <a:pPr algn="l">
              <a:spcBef>
                <a:spcPts val="0"/>
              </a:spcBef>
              <a:spcAft>
                <a:spcPts val="400"/>
              </a:spcAft>
              <a:defRPr sz="850" b="0" i="0">
                <a:solidFill>
                  <a:srgbClr val="CBD5E1"/>
                </a:solidFill>
                <a:latin typeface="Segoe UI"/>
              </a:defRPr>
            </a:pPr>
            <a:r>
              <a:rPr sz="850" b="0" i="0">
                <a:solidFill>
                  <a:srgbClr val="CBD5E1"/>
                </a:solidFill>
                <a:latin typeface="Segoe UI"/>
              </a:rPr>
              <a:t>IPK Lulusan Terbaik (Magna Cum Laude)</a:t>
            </a:r>
          </a:p>
          <a:p>
            <a:pPr algn="l">
              <a:spcBef>
                <a:spcPts val="0"/>
              </a:spcBef>
              <a:spcAft>
                <a:spcPts val="0"/>
              </a:spcAft>
              <a:defRPr sz="1100" b="1" i="0">
                <a:solidFill>
                  <a:srgbClr val="FFFFFF"/>
                </a:solidFill>
                <a:latin typeface="Segoe UI"/>
              </a:defRPr>
            </a:pPr>
            <a:r>
              <a:rPr sz="1100" b="1" i="0">
                <a:solidFill>
                  <a:srgbClr val="FFFFFF"/>
                </a:solidFill>
                <a:latin typeface="Segoe UI"/>
              </a:rPr>
              <a:t>■  88.41%</a:t>
            </a:r>
          </a:p>
          <a:p>
            <a:pPr algn="l">
              <a:spcBef>
                <a:spcPts val="0"/>
              </a:spcBef>
              <a:spcAft>
                <a:spcPts val="400"/>
              </a:spcAft>
              <a:defRPr sz="850" b="0" i="0">
                <a:solidFill>
                  <a:srgbClr val="CBD5E1"/>
                </a:solidFill>
                <a:latin typeface="Segoe UI"/>
              </a:defRPr>
            </a:pPr>
            <a:r>
              <a:rPr sz="850" b="0" i="0">
                <a:solidFill>
                  <a:srgbClr val="CBD5E1"/>
                </a:solidFill>
                <a:latin typeface="Segoe UI"/>
              </a:rPr>
              <a:t>Akurasi Linear SVM Skripsi NLP</a:t>
            </a:r>
          </a:p>
          <a:p>
            <a:pPr algn="l">
              <a:spcBef>
                <a:spcPts val="0"/>
              </a:spcBef>
              <a:spcAft>
                <a:spcPts val="0"/>
              </a:spcAft>
              <a:defRPr sz="1100" b="1" i="0">
                <a:solidFill>
                  <a:srgbClr val="FFFFFF"/>
                </a:solidFill>
                <a:latin typeface="Segoe UI"/>
              </a:defRPr>
            </a:pPr>
            <a:r>
              <a:rPr sz="1100" b="1" i="0">
                <a:solidFill>
                  <a:srgbClr val="FFFFFF"/>
                </a:solidFill>
                <a:latin typeface="Segoe UI"/>
              </a:rPr>
              <a:t>■  8.950+</a:t>
            </a:r>
          </a:p>
          <a:p>
            <a:pPr algn="l">
              <a:spcBef>
                <a:spcPts val="0"/>
              </a:spcBef>
              <a:spcAft>
                <a:spcPts val="400"/>
              </a:spcAft>
              <a:defRPr sz="850" b="0" i="0">
                <a:solidFill>
                  <a:srgbClr val="CBD5E1"/>
                </a:solidFill>
                <a:latin typeface="Segoe UI"/>
              </a:defRPr>
            </a:pPr>
            <a:r>
              <a:rPr sz="850" b="0" i="0">
                <a:solidFill>
                  <a:srgbClr val="CBD5E1"/>
                </a:solidFill>
                <a:latin typeface="Segoe UI"/>
              </a:rPr>
              <a:t>Catatan Karyawan Dianalisis di Tableau</a:t>
            </a:r>
          </a:p>
          <a:p>
            <a:pPr algn="l">
              <a:spcBef>
                <a:spcPts val="0"/>
              </a:spcBef>
              <a:spcAft>
                <a:spcPts val="0"/>
              </a:spcAft>
              <a:defRPr sz="1100" b="1" i="0">
                <a:solidFill>
                  <a:srgbClr val="FFFFFF"/>
                </a:solidFill>
                <a:latin typeface="Segoe UI"/>
              </a:defRPr>
            </a:pPr>
            <a:r>
              <a:rPr sz="1100" b="1" i="0">
                <a:solidFill>
                  <a:srgbClr val="FFFFFF"/>
                </a:solidFill>
                <a:latin typeface="Segoe UI"/>
              </a:rPr>
              <a:t>■  ~70%</a:t>
            </a:r>
          </a:p>
          <a:p>
            <a:pPr algn="l">
              <a:spcBef>
                <a:spcPts val="0"/>
              </a:spcBef>
              <a:spcAft>
                <a:spcPts val="400"/>
              </a:spcAft>
              <a:defRPr sz="850" b="0" i="0">
                <a:solidFill>
                  <a:srgbClr val="CBD5E1"/>
                </a:solidFill>
                <a:latin typeface="Segoe UI"/>
              </a:defRPr>
            </a:pPr>
            <a:r>
              <a:rPr sz="850" b="0" i="0">
                <a:solidFill>
                  <a:srgbClr val="CBD5E1"/>
                </a:solidFill>
                <a:latin typeface="Segoe UI"/>
              </a:rPr>
              <a:t>Efisiensi Otomasi Workflow Agentic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EXECUTIVE PROFILE</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Profil Profesional &amp; 3 Pilar Kompetensi Utama</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Mengintegrasikan ketajaman analitis, kecakapan business intelligence, dan orkestrasi Agentic AI.</a:t>
            </a:r>
          </a:p>
        </p:txBody>
      </p:sp>
      <p:sp>
        <p:nvSpPr>
          <p:cNvPr id="6" name="Rounded Rectangle 5"/>
          <p:cNvSpPr/>
          <p:nvPr/>
        </p:nvSpPr>
        <p:spPr>
          <a:xfrm>
            <a:off x="731520" y="1691640"/>
            <a:ext cx="10698480" cy="960120"/>
          </a:xfrm>
          <a:prstGeom prst="roundRect">
            <a:avLst>
              <a:gd name="adj" fmla="val 1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10241280" cy="777240"/>
          </a:xfrm>
          <a:prstGeom prst="rect">
            <a:avLst/>
          </a:prstGeom>
          <a:noFill/>
        </p:spPr>
        <p:txBody>
          <a:bodyPr wrap="square" lIns="0" tIns="0">
            <a:spAutoFit/>
          </a:bodyPr>
          <a:lstStyle/>
          <a:p>
            <a:pPr algn="l">
              <a:spcBef>
                <a:spcPts val="0"/>
              </a:spcBef>
              <a:spcAft>
                <a:spcPts val="300"/>
              </a:spcAft>
              <a:defRPr sz="1100" b="0" i="0">
                <a:solidFill>
                  <a:srgbClr val="0F172A"/>
                </a:solidFill>
                <a:latin typeface="Segoe UI"/>
              </a:defRPr>
            </a:pPr>
            <a:r>
              <a:rPr sz="1100" b="0" i="0">
                <a:solidFill>
                  <a:srgbClr val="0F172A"/>
                </a:solidFill>
                <a:latin typeface="Segoe UI"/>
              </a:rPr>
              <a:t>Khairul Raihan Hidayat adalah Sarjana Sistem Informasi (Data Science) dari Universitas Budi Luhur dengan predikat Magna Cum Laude (IPK 3.88). Memiliki fondasi analitika data yang kuat, spesialisasi pemrosesan bahasa alami (NLP), pembuatan interactive executive dashboards menggunakan Tableau &amp; SQL, serta perancangan sistem otomasi multi-agen Google Antigravity.</a:t>
            </a:r>
          </a:p>
        </p:txBody>
      </p:sp>
      <p:sp>
        <p:nvSpPr>
          <p:cNvPr id="8" name="Rounded Rectangle 7"/>
          <p:cNvSpPr/>
          <p:nvPr/>
        </p:nvSpPr>
        <p:spPr>
          <a:xfrm>
            <a:off x="731520" y="2834640"/>
            <a:ext cx="3383280" cy="3566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834640"/>
            <a:ext cx="33832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017520"/>
            <a:ext cx="2926080" cy="3246120"/>
          </a:xfrm>
          <a:prstGeom prst="rect">
            <a:avLst/>
          </a:prstGeom>
          <a:noFill/>
        </p:spPr>
        <p:txBody>
          <a:bodyPr wrap="square" lIns="0" tIns="0">
            <a:spAutoFit/>
          </a:bodyPr>
          <a:lstStyle/>
          <a:p>
            <a:pPr algn="l">
              <a:spcBef>
                <a:spcPts val="0"/>
              </a:spcBef>
              <a:spcAft>
                <a:spcPts val="200"/>
              </a:spcAft>
              <a:defRPr sz="950" b="1" i="0">
                <a:solidFill>
                  <a:srgbClr val="2563EB"/>
                </a:solidFill>
                <a:latin typeface="Segoe UI"/>
              </a:defRPr>
            </a:pPr>
            <a:r>
              <a:rPr sz="950" b="1" i="0">
                <a:solidFill>
                  <a:srgbClr val="2563EB"/>
                </a:solidFill>
                <a:latin typeface="Segoe UI"/>
              </a:rPr>
              <a:t>PILAR 01</a:t>
            </a:r>
          </a:p>
          <a:p>
            <a:pPr algn="l">
              <a:spcBef>
                <a:spcPts val="0"/>
              </a:spcBef>
              <a:spcAft>
                <a:spcPts val="100"/>
              </a:spcAft>
              <a:defRPr sz="1350" b="1" i="0">
                <a:solidFill>
                  <a:srgbClr val="0F2437"/>
                </a:solidFill>
                <a:latin typeface="Segoe UI"/>
              </a:defRPr>
            </a:pPr>
            <a:r>
              <a:rPr sz="1350" b="1" i="0">
                <a:solidFill>
                  <a:srgbClr val="0F2437"/>
                </a:solidFill>
                <a:latin typeface="Segoe UI"/>
              </a:rPr>
              <a:t>Machine Learning &amp; NLP</a:t>
            </a:r>
          </a:p>
          <a:p>
            <a:pPr algn="l">
              <a:spcBef>
                <a:spcPts val="0"/>
              </a:spcBef>
              <a:spcAft>
                <a:spcPts val="600"/>
              </a:spcAft>
              <a:defRPr sz="950" b="0" i="1">
                <a:solidFill>
                  <a:srgbClr val="475569"/>
                </a:solidFill>
                <a:latin typeface="Segoe UI"/>
              </a:defRPr>
            </a:pPr>
            <a:r>
              <a:rPr sz="950" b="0" i="1">
                <a:solidFill>
                  <a:srgbClr val="475569"/>
                </a:solidFill>
                <a:latin typeface="Segoe UI"/>
              </a:rPr>
              <a:t>Predictive Modeling &amp; Text Analytics</a:t>
            </a:r>
          </a:p>
          <a:p>
            <a:pPr algn="l">
              <a:spcBef>
                <a:spcPts val="0"/>
              </a:spcBef>
              <a:spcAft>
                <a:spcPts val="300"/>
              </a:spcAft>
              <a:defRPr sz="900" b="0" i="0">
                <a:solidFill>
                  <a:srgbClr val="0F172A"/>
                </a:solidFill>
                <a:latin typeface="Segoe UI"/>
              </a:defRPr>
            </a:pPr>
            <a:r>
              <a:rPr sz="900" b="0" i="0">
                <a:solidFill>
                  <a:srgbClr val="0F172A"/>
                </a:solidFill>
                <a:latin typeface="Segoe UI"/>
              </a:rPr>
              <a:t>• Pemodelan klasifikasi terapan: Support Vector Machine (SVM), Naive Bayes, K-Nearest Neighbors (KNN).</a:t>
            </a:r>
          </a:p>
          <a:p>
            <a:pPr algn="l">
              <a:spcBef>
                <a:spcPts val="0"/>
              </a:spcBef>
              <a:spcAft>
                <a:spcPts val="300"/>
              </a:spcAft>
              <a:defRPr sz="900" b="0" i="0">
                <a:solidFill>
                  <a:srgbClr val="0F172A"/>
                </a:solidFill>
                <a:latin typeface="Segoe UI"/>
              </a:defRPr>
            </a:pPr>
            <a:r>
              <a:rPr sz="900" b="0" i="0">
                <a:solidFill>
                  <a:srgbClr val="0F172A"/>
                </a:solidFill>
                <a:latin typeface="Segoe UI"/>
              </a:rPr>
              <a:t>• Pipeline text preprocessing komprehensif: Case folding, normalisasi slang/kata gaul, stopword Sastrawi.</a:t>
            </a:r>
          </a:p>
          <a:p>
            <a:pPr algn="l">
              <a:spcBef>
                <a:spcPts val="0"/>
              </a:spcBef>
              <a:spcAft>
                <a:spcPts val="300"/>
              </a:spcAft>
              <a:defRPr sz="900" b="0" i="0">
                <a:solidFill>
                  <a:srgbClr val="0F172A"/>
                </a:solidFill>
                <a:latin typeface="Segoe UI"/>
              </a:defRPr>
            </a:pPr>
            <a:r>
              <a:rPr sz="900" b="0" i="0">
                <a:solidFill>
                  <a:srgbClr val="0F172A"/>
                </a:solidFill>
                <a:latin typeface="Segoe UI"/>
              </a:rPr>
              <a:t>• Ekstraksi fitur Sparse Matrix berdimensi tinggi via CountVectorizer &amp; TF-IDF (11.790 vocab unik).</a:t>
            </a:r>
          </a:p>
          <a:p>
            <a:pPr algn="l">
              <a:spcBef>
                <a:spcPts val="0"/>
              </a:spcBef>
              <a:spcAft>
                <a:spcPts val="300"/>
              </a:spcAft>
              <a:defRPr sz="900" b="0" i="0">
                <a:solidFill>
                  <a:srgbClr val="0F172A"/>
                </a:solidFill>
                <a:latin typeface="Segoe UI"/>
              </a:defRPr>
            </a:pPr>
            <a:r>
              <a:rPr sz="900" b="0" i="0">
                <a:solidFill>
                  <a:srgbClr val="0F172A"/>
                </a:solidFill>
                <a:latin typeface="Segoe UI"/>
              </a:rPr>
              <a:t>• Evaluasi ketat via Stratified Split, Confusion Matrix, Precision, Recall, dan F1-Score.</a:t>
            </a:r>
          </a:p>
        </p:txBody>
      </p:sp>
      <p:sp>
        <p:nvSpPr>
          <p:cNvPr id="11" name="Rounded Rectangle 10"/>
          <p:cNvSpPr/>
          <p:nvPr/>
        </p:nvSpPr>
        <p:spPr>
          <a:xfrm>
            <a:off x="4389120" y="2834640"/>
            <a:ext cx="3383280" cy="3566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834640"/>
            <a:ext cx="338328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3017520"/>
            <a:ext cx="2926080" cy="3246120"/>
          </a:xfrm>
          <a:prstGeom prst="rect">
            <a:avLst/>
          </a:prstGeom>
          <a:noFill/>
        </p:spPr>
        <p:txBody>
          <a:bodyPr wrap="square" lIns="0" tIns="0">
            <a:spAutoFit/>
          </a:bodyPr>
          <a:lstStyle/>
          <a:p>
            <a:pPr algn="l">
              <a:spcBef>
                <a:spcPts val="0"/>
              </a:spcBef>
              <a:spcAft>
                <a:spcPts val="200"/>
              </a:spcAft>
              <a:defRPr sz="950" b="1" i="0">
                <a:solidFill>
                  <a:srgbClr val="1E3A8A"/>
                </a:solidFill>
                <a:latin typeface="Segoe UI"/>
              </a:defRPr>
            </a:pPr>
            <a:r>
              <a:rPr sz="950" b="1" i="0">
                <a:solidFill>
                  <a:srgbClr val="1E3A8A"/>
                </a:solidFill>
                <a:latin typeface="Segoe UI"/>
              </a:rPr>
              <a:t>PILAR 02</a:t>
            </a:r>
          </a:p>
          <a:p>
            <a:pPr algn="l">
              <a:spcBef>
                <a:spcPts val="0"/>
              </a:spcBef>
              <a:spcAft>
                <a:spcPts val="100"/>
              </a:spcAft>
              <a:defRPr sz="1350" b="1" i="0">
                <a:solidFill>
                  <a:srgbClr val="0F2437"/>
                </a:solidFill>
                <a:latin typeface="Segoe UI"/>
              </a:defRPr>
            </a:pPr>
            <a:r>
              <a:rPr sz="1350" b="1" i="0">
                <a:solidFill>
                  <a:srgbClr val="0F2437"/>
                </a:solidFill>
                <a:latin typeface="Segoe UI"/>
              </a:rPr>
              <a:t>Business Intelligence &amp; EDA</a:t>
            </a:r>
          </a:p>
          <a:p>
            <a:pPr algn="l">
              <a:spcBef>
                <a:spcPts val="0"/>
              </a:spcBef>
              <a:spcAft>
                <a:spcPts val="600"/>
              </a:spcAft>
              <a:defRPr sz="950" b="0" i="1">
                <a:solidFill>
                  <a:srgbClr val="475569"/>
                </a:solidFill>
                <a:latin typeface="Segoe UI"/>
              </a:defRPr>
            </a:pPr>
            <a:r>
              <a:rPr sz="950" b="0" i="1">
                <a:solidFill>
                  <a:srgbClr val="475569"/>
                </a:solidFill>
                <a:latin typeface="Segoe UI"/>
              </a:rPr>
              <a:t>Interactive Dashboards &amp; Decision Support</a:t>
            </a:r>
          </a:p>
          <a:p>
            <a:pPr algn="l">
              <a:spcBef>
                <a:spcPts val="0"/>
              </a:spcBef>
              <a:spcAft>
                <a:spcPts val="300"/>
              </a:spcAft>
              <a:defRPr sz="900" b="0" i="0">
                <a:solidFill>
                  <a:srgbClr val="0F172A"/>
                </a:solidFill>
                <a:latin typeface="Segoe UI"/>
              </a:defRPr>
            </a:pPr>
            <a:r>
              <a:rPr sz="900" b="0" i="0">
                <a:solidFill>
                  <a:srgbClr val="0F172A"/>
                </a:solidFill>
                <a:latin typeface="Segoe UI"/>
              </a:rPr>
              <a:t>• Perancangan visualisasi data interaktif dan storytelling eksekutif menggunakan Tableau Desktop.</a:t>
            </a:r>
          </a:p>
          <a:p>
            <a:pPr algn="l">
              <a:spcBef>
                <a:spcPts val="0"/>
              </a:spcBef>
              <a:spcAft>
                <a:spcPts val="300"/>
              </a:spcAft>
              <a:defRPr sz="900" b="0" i="0">
                <a:solidFill>
                  <a:srgbClr val="0F172A"/>
                </a:solidFill>
                <a:latin typeface="Segoe UI"/>
              </a:defRPr>
            </a:pPr>
            <a:r>
              <a:rPr sz="900" b="0" i="0">
                <a:solidFill>
                  <a:srgbClr val="0F172A"/>
                </a:solidFill>
                <a:latin typeface="Segoe UI"/>
              </a:rPr>
              <a:t>• Eksplorasi dataset korporat skala ribuan baris (HR workforce 8.950 records, e-commerce retail).</a:t>
            </a:r>
          </a:p>
          <a:p>
            <a:pPr algn="l">
              <a:spcBef>
                <a:spcPts val="0"/>
              </a:spcBef>
              <a:spcAft>
                <a:spcPts val="300"/>
              </a:spcAft>
              <a:defRPr sz="900" b="0" i="0">
                <a:solidFill>
                  <a:srgbClr val="0F172A"/>
                </a:solidFill>
                <a:latin typeface="Segoe UI"/>
              </a:defRPr>
            </a:pPr>
            <a:r>
              <a:rPr sz="900" b="0" i="0">
                <a:solidFill>
                  <a:srgbClr val="0F172A"/>
                </a:solidFill>
                <a:latin typeface="Segoe UI"/>
              </a:rPr>
              <a:t>• Query data relasional kompleks dengan SQL: Aggregations, CTEs, Joins, Window Functions.</a:t>
            </a:r>
          </a:p>
          <a:p>
            <a:pPr algn="l">
              <a:spcBef>
                <a:spcPts val="0"/>
              </a:spcBef>
              <a:spcAft>
                <a:spcPts val="300"/>
              </a:spcAft>
              <a:defRPr sz="900" b="0" i="0">
                <a:solidFill>
                  <a:srgbClr val="0F172A"/>
                </a:solidFill>
                <a:latin typeface="Segoe UI"/>
              </a:defRPr>
            </a:pPr>
            <a:r>
              <a:rPr sz="900" b="0" i="0">
                <a:solidFill>
                  <a:srgbClr val="0F172A"/>
                </a:solidFill>
                <a:latin typeface="Segoe UI"/>
              </a:rPr>
              <a:t>• Analisis metrik bisnis krusial: Retention Rate, Attrition Risk, Regional Profit Margin, dan Pola Pembelian.</a:t>
            </a:r>
          </a:p>
        </p:txBody>
      </p:sp>
      <p:sp>
        <p:nvSpPr>
          <p:cNvPr id="14" name="Rounded Rectangle 13"/>
          <p:cNvSpPr/>
          <p:nvPr/>
        </p:nvSpPr>
        <p:spPr>
          <a:xfrm>
            <a:off x="8046720" y="2834640"/>
            <a:ext cx="3383280" cy="3566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2834640"/>
            <a:ext cx="33832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3017520"/>
            <a:ext cx="2926080" cy="3246120"/>
          </a:xfrm>
          <a:prstGeom prst="rect">
            <a:avLst/>
          </a:prstGeom>
          <a:noFill/>
        </p:spPr>
        <p:txBody>
          <a:bodyPr wrap="square" lIns="0" tIns="0">
            <a:spAutoFit/>
          </a:bodyPr>
          <a:lstStyle/>
          <a:p>
            <a:pPr algn="l">
              <a:spcBef>
                <a:spcPts val="0"/>
              </a:spcBef>
              <a:spcAft>
                <a:spcPts val="200"/>
              </a:spcAft>
              <a:defRPr sz="950" b="1" i="0">
                <a:solidFill>
                  <a:srgbClr val="0EA5E9"/>
                </a:solidFill>
                <a:latin typeface="Segoe UI"/>
              </a:defRPr>
            </a:pPr>
            <a:r>
              <a:rPr sz="950" b="1" i="0">
                <a:solidFill>
                  <a:srgbClr val="0EA5E9"/>
                </a:solidFill>
                <a:latin typeface="Segoe UI"/>
              </a:rPr>
              <a:t>PILAR 03</a:t>
            </a:r>
          </a:p>
          <a:p>
            <a:pPr algn="l">
              <a:spcBef>
                <a:spcPts val="0"/>
              </a:spcBef>
              <a:spcAft>
                <a:spcPts val="100"/>
              </a:spcAft>
              <a:defRPr sz="1350" b="1" i="0">
                <a:solidFill>
                  <a:srgbClr val="0F2437"/>
                </a:solidFill>
                <a:latin typeface="Segoe UI"/>
              </a:defRPr>
            </a:pPr>
            <a:r>
              <a:rPr sz="1350" b="1" i="0">
                <a:solidFill>
                  <a:srgbClr val="0F2437"/>
                </a:solidFill>
                <a:latin typeface="Segoe UI"/>
              </a:rPr>
              <a:t>Agentic AI Automation</a:t>
            </a:r>
          </a:p>
          <a:p>
            <a:pPr algn="l">
              <a:spcBef>
                <a:spcPts val="0"/>
              </a:spcBef>
              <a:spcAft>
                <a:spcPts val="600"/>
              </a:spcAft>
              <a:defRPr sz="950" b="0" i="1">
                <a:solidFill>
                  <a:srgbClr val="475569"/>
                </a:solidFill>
                <a:latin typeface="Segoe UI"/>
              </a:defRPr>
            </a:pPr>
            <a:r>
              <a:rPr sz="950" b="0" i="1">
                <a:solidFill>
                  <a:srgbClr val="475569"/>
                </a:solidFill>
                <a:latin typeface="Segoe UI"/>
              </a:rPr>
              <a:t>Multi-Agent Systems &amp; Process Engineering</a:t>
            </a:r>
          </a:p>
          <a:p>
            <a:pPr algn="l">
              <a:spcBef>
                <a:spcPts val="0"/>
              </a:spcBef>
              <a:spcAft>
                <a:spcPts val="300"/>
              </a:spcAft>
              <a:defRPr sz="900" b="0" i="0">
                <a:solidFill>
                  <a:srgbClr val="0F172A"/>
                </a:solidFill>
                <a:latin typeface="Segoe UI"/>
              </a:defRPr>
            </a:pPr>
            <a:r>
              <a:rPr sz="900" b="0" i="0">
                <a:solidFill>
                  <a:srgbClr val="0F172A"/>
                </a:solidFill>
                <a:latin typeface="Segoe UI"/>
              </a:rPr>
              <a:t>• Perancangan arsitektur multi-agen cerdas memanfaatkan ekosistem Google Antigravity Framework.</a:t>
            </a:r>
          </a:p>
          <a:p>
            <a:pPr algn="l">
              <a:spcBef>
                <a:spcPts val="0"/>
              </a:spcBef>
              <a:spcAft>
                <a:spcPts val="300"/>
              </a:spcAft>
              <a:defRPr sz="900" b="0" i="0">
                <a:solidFill>
                  <a:srgbClr val="0F172A"/>
                </a:solidFill>
                <a:latin typeface="Segoe UI"/>
              </a:defRPr>
            </a:pPr>
            <a:r>
              <a:rPr sz="900" b="0" i="0">
                <a:solidFill>
                  <a:srgbClr val="0F172A"/>
                </a:solidFill>
                <a:latin typeface="Segoe UI"/>
              </a:rPr>
              <a:t>• Otomasi rantai produksi konten dari kurasi transkrip podcast hingga short-form video viral 9:16.</a:t>
            </a:r>
          </a:p>
          <a:p>
            <a:pPr algn="l">
              <a:spcBef>
                <a:spcPts val="0"/>
              </a:spcBef>
              <a:spcAft>
                <a:spcPts val="300"/>
              </a:spcAft>
              <a:defRPr sz="900" b="0" i="0">
                <a:solidFill>
                  <a:srgbClr val="0F172A"/>
                </a:solidFill>
                <a:latin typeface="Segoe UI"/>
              </a:defRPr>
            </a:pPr>
            <a:r>
              <a:rPr sz="900" b="0" i="0">
                <a:solidFill>
                  <a:srgbClr val="0F172A"/>
                </a:solidFill>
                <a:latin typeface="Segoe UI"/>
              </a:rPr>
              <a:t>• Integrasi AI vision, programmatic scripting (CapCut/FFmpeg), dan prompt engineering presisi.</a:t>
            </a:r>
          </a:p>
          <a:p>
            <a:pPr algn="l">
              <a:spcBef>
                <a:spcPts val="0"/>
              </a:spcBef>
              <a:spcAft>
                <a:spcPts val="300"/>
              </a:spcAft>
              <a:defRPr sz="900" b="0" i="0">
                <a:solidFill>
                  <a:srgbClr val="0F172A"/>
                </a:solidFill>
                <a:latin typeface="Segoe UI"/>
              </a:defRPr>
            </a:pPr>
            <a:r>
              <a:rPr sz="900" b="0" i="0">
                <a:solidFill>
                  <a:srgbClr val="0F172A"/>
                </a:solidFill>
                <a:latin typeface="Segoe UI"/>
              </a:rPr>
              <a:t>• Mencapai ~70% efisiensi waktu turnaround produksi dan eliminasi bottleneck manual.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TECHNICAL TAXONOMY</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Keahlian Teknis &amp; Ekosistem Tooling</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Kapabilitas teknis end-to-end dari data ingestion, preprocessing, pemodelan, hingga deployment.</a:t>
            </a:r>
          </a:p>
        </p:txBody>
      </p:sp>
      <p:sp>
        <p:nvSpPr>
          <p:cNvPr id="6" name="Rounded Rectangle 5"/>
          <p:cNvSpPr/>
          <p:nvPr/>
        </p:nvSpPr>
        <p:spPr>
          <a:xfrm>
            <a:off x="731520" y="1783080"/>
            <a:ext cx="5212080" cy="21945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83080"/>
            <a:ext cx="5212080" cy="384048"/>
          </a:xfrm>
          <a:prstGeom prst="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l">
              <a:spcBef>
                <a:spcPts val="0"/>
              </a:spcBef>
              <a:spcAft>
                <a:spcPts val="300"/>
              </a:spcAft>
              <a:defRPr sz="1050" b="1" i="0">
                <a:solidFill>
                  <a:srgbClr val="1E3A8A"/>
                </a:solidFill>
                <a:latin typeface="Segoe UI"/>
              </a:defRPr>
            </a:pPr>
            <a:r>
              <a:rPr sz="1050" b="1" i="0">
                <a:solidFill>
                  <a:srgbClr val="1E3A8A"/>
                </a:solidFill>
                <a:latin typeface="Segoe UI"/>
              </a:rPr>
              <a:t>❖  Bahasa Pemrograman &amp; Querying</a:t>
            </a:r>
          </a:p>
        </p:txBody>
      </p:sp>
      <p:sp>
        <p:nvSpPr>
          <p:cNvPr id="8" name="TextBox 7"/>
          <p:cNvSpPr txBox="1"/>
          <p:nvPr/>
        </p:nvSpPr>
        <p:spPr>
          <a:xfrm>
            <a:off x="914400" y="2258568"/>
            <a:ext cx="4846320" cy="1691640"/>
          </a:xfrm>
          <a:prstGeom prst="rect">
            <a:avLst/>
          </a:prstGeom>
          <a:noFill/>
        </p:spPr>
        <p:txBody>
          <a:bodyPr wrap="square" lIns="0" tIns="0">
            <a:spAutoFit/>
          </a:bodyPr>
          <a:lstStyle/>
          <a:p>
            <a:pPr>
              <a:spcAft>
                <a:spcPts val="200"/>
              </a:spcAft>
              <a:defRPr sz="950" b="1">
                <a:solidFill>
                  <a:srgbClr val="0F2437"/>
                </a:solidFill>
                <a:latin typeface="Segoe UI"/>
              </a:defRPr>
            </a:pPr>
            <a:r>
              <a:rPr sz="950" b="1">
                <a:solidFill>
                  <a:srgbClr val="0F2437"/>
                </a:solidFill>
                <a:latin typeface="Segoe UI"/>
              </a:rPr>
              <a:t>• Python: </a:t>
            </a:r>
            <a:r>
              <a:rPr sz="900" b="0">
                <a:solidFill>
                  <a:srgbClr val="475569"/>
                </a:solidFill>
                <a:latin typeface="Segoe UI"/>
              </a:rPr>
              <a:t>Pandas, NumPy, Scikit-Learn, SciPy, Matplotlib, Seaborn</a:t>
            </a:r>
          </a:p>
          <a:p>
            <a:pPr>
              <a:spcAft>
                <a:spcPts val="200"/>
              </a:spcAft>
              <a:defRPr sz="950" b="1">
                <a:solidFill>
                  <a:srgbClr val="0F2437"/>
                </a:solidFill>
                <a:latin typeface="Segoe UI"/>
              </a:defRPr>
            </a:pPr>
            <a:r>
              <a:rPr sz="950" b="1">
                <a:solidFill>
                  <a:srgbClr val="0F2437"/>
                </a:solidFill>
                <a:latin typeface="Segoe UI"/>
              </a:rPr>
              <a:t>• SQL (Structured Query): </a:t>
            </a:r>
            <a:r>
              <a:rPr sz="900" b="0">
                <a:solidFill>
                  <a:srgbClr val="475569"/>
                </a:solidFill>
                <a:latin typeface="Segoe UI"/>
              </a:rPr>
              <a:t>PostgreSQL, MySQL, Window Functions, Complex Joins, CTEs</a:t>
            </a:r>
          </a:p>
          <a:p>
            <a:pPr>
              <a:spcAft>
                <a:spcPts val="200"/>
              </a:spcAft>
              <a:defRPr sz="950" b="1">
                <a:solidFill>
                  <a:srgbClr val="0F2437"/>
                </a:solidFill>
                <a:latin typeface="Segoe UI"/>
              </a:defRPr>
            </a:pPr>
            <a:r>
              <a:rPr sz="950" b="1">
                <a:solidFill>
                  <a:srgbClr val="0F2437"/>
                </a:solidFill>
                <a:latin typeface="Segoe UI"/>
              </a:rPr>
              <a:t>• R Language: </a:t>
            </a:r>
            <a:r>
              <a:rPr sz="900" b="0">
                <a:solidFill>
                  <a:srgbClr val="475569"/>
                </a:solidFill>
                <a:latin typeface="Segoe UI"/>
              </a:rPr>
              <a:t>Statistical computing &amp; exploratory baseline modeling</a:t>
            </a:r>
          </a:p>
          <a:p>
            <a:pPr>
              <a:spcAft>
                <a:spcPts val="200"/>
              </a:spcAft>
              <a:defRPr sz="950" b="1">
                <a:solidFill>
                  <a:srgbClr val="0F2437"/>
                </a:solidFill>
                <a:latin typeface="Segoe UI"/>
              </a:defRPr>
            </a:pPr>
            <a:r>
              <a:rPr sz="950" b="1">
                <a:solidFill>
                  <a:srgbClr val="0F2437"/>
                </a:solidFill>
                <a:latin typeface="Segoe UI"/>
              </a:rPr>
              <a:t>• Data Manipulation: </a:t>
            </a:r>
            <a:r>
              <a:rPr sz="900" b="0">
                <a:solidFill>
                  <a:srgbClr val="475569"/>
                </a:solidFill>
                <a:latin typeface="Segoe UI"/>
              </a:rPr>
              <a:t>Regular Expressions (Regex), JSON, CSV, API Ingestion</a:t>
            </a:r>
          </a:p>
        </p:txBody>
      </p:sp>
      <p:sp>
        <p:nvSpPr>
          <p:cNvPr id="9" name="Rounded Rectangle 8"/>
          <p:cNvSpPr/>
          <p:nvPr/>
        </p:nvSpPr>
        <p:spPr>
          <a:xfrm>
            <a:off x="6217920" y="1783080"/>
            <a:ext cx="5212080" cy="21945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783080"/>
            <a:ext cx="5212080" cy="384048"/>
          </a:xfrm>
          <a:prstGeom prst="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l">
              <a:spcBef>
                <a:spcPts val="0"/>
              </a:spcBef>
              <a:spcAft>
                <a:spcPts val="300"/>
              </a:spcAft>
              <a:defRPr sz="1050" b="1" i="0">
                <a:solidFill>
                  <a:srgbClr val="1E3A8A"/>
                </a:solidFill>
                <a:latin typeface="Segoe UI"/>
              </a:defRPr>
            </a:pPr>
            <a:r>
              <a:rPr sz="1050" b="1" i="0">
                <a:solidFill>
                  <a:srgbClr val="1E3A8A"/>
                </a:solidFill>
                <a:latin typeface="Segoe UI"/>
              </a:rPr>
              <a:t>❖  Data Science &amp; Machine Learning</a:t>
            </a:r>
          </a:p>
        </p:txBody>
      </p:sp>
      <p:sp>
        <p:nvSpPr>
          <p:cNvPr id="11" name="TextBox 10"/>
          <p:cNvSpPr txBox="1"/>
          <p:nvPr/>
        </p:nvSpPr>
        <p:spPr>
          <a:xfrm>
            <a:off x="6400800" y="2258568"/>
            <a:ext cx="4846320" cy="1691640"/>
          </a:xfrm>
          <a:prstGeom prst="rect">
            <a:avLst/>
          </a:prstGeom>
          <a:noFill/>
        </p:spPr>
        <p:txBody>
          <a:bodyPr wrap="square" lIns="0" tIns="0">
            <a:spAutoFit/>
          </a:bodyPr>
          <a:lstStyle/>
          <a:p>
            <a:pPr>
              <a:spcAft>
                <a:spcPts val="200"/>
              </a:spcAft>
              <a:defRPr sz="950" b="1">
                <a:solidFill>
                  <a:srgbClr val="0F2437"/>
                </a:solidFill>
                <a:latin typeface="Segoe UI"/>
              </a:defRPr>
            </a:pPr>
            <a:r>
              <a:rPr sz="950" b="1">
                <a:solidFill>
                  <a:srgbClr val="0F2437"/>
                </a:solidFill>
                <a:latin typeface="Segoe UI"/>
              </a:rPr>
              <a:t>• Algoritma Klasifikasi: </a:t>
            </a:r>
            <a:r>
              <a:rPr sz="900" b="0">
                <a:solidFill>
                  <a:srgbClr val="475569"/>
                </a:solidFill>
                <a:latin typeface="Segoe UI"/>
              </a:rPr>
              <a:t>Support Vector Machine (Linear SVM), Naive Bayes, KNN</a:t>
            </a:r>
          </a:p>
          <a:p>
            <a:pPr>
              <a:spcAft>
                <a:spcPts val="200"/>
              </a:spcAft>
              <a:defRPr sz="950" b="1">
                <a:solidFill>
                  <a:srgbClr val="0F2437"/>
                </a:solidFill>
                <a:latin typeface="Segoe UI"/>
              </a:defRPr>
            </a:pPr>
            <a:r>
              <a:rPr sz="950" b="1">
                <a:solidFill>
                  <a:srgbClr val="0F2437"/>
                </a:solidFill>
                <a:latin typeface="Segoe UI"/>
              </a:rPr>
              <a:t>• Natural Language Processing: </a:t>
            </a:r>
            <a:r>
              <a:rPr sz="900" b="0">
                <a:solidFill>
                  <a:srgbClr val="475569"/>
                </a:solidFill>
                <a:latin typeface="Segoe UI"/>
              </a:rPr>
              <a:t>CountVectorizer, TF-IDF, Sastrawi Stemmer, Lexicon-based</a:t>
            </a:r>
          </a:p>
          <a:p>
            <a:pPr>
              <a:spcAft>
                <a:spcPts val="200"/>
              </a:spcAft>
              <a:defRPr sz="950" b="1">
                <a:solidFill>
                  <a:srgbClr val="0F2437"/>
                </a:solidFill>
                <a:latin typeface="Segoe UI"/>
              </a:defRPr>
            </a:pPr>
            <a:r>
              <a:rPr sz="950" b="1">
                <a:solidFill>
                  <a:srgbClr val="0F2437"/>
                </a:solidFill>
                <a:latin typeface="Segoe UI"/>
              </a:rPr>
              <a:t>• Evaluasi Model: </a:t>
            </a:r>
            <a:r>
              <a:rPr sz="900" b="0">
                <a:solidFill>
                  <a:srgbClr val="475569"/>
                </a:solidFill>
                <a:latin typeface="Segoe UI"/>
              </a:rPr>
              <a:t>Stratified K-Fold, Confusion Matrix, F1-Score, ROC-AUC</a:t>
            </a:r>
          </a:p>
          <a:p>
            <a:pPr>
              <a:spcAft>
                <a:spcPts val="200"/>
              </a:spcAft>
              <a:defRPr sz="950" b="1">
                <a:solidFill>
                  <a:srgbClr val="0F2437"/>
                </a:solidFill>
                <a:latin typeface="Segoe UI"/>
              </a:defRPr>
            </a:pPr>
            <a:r>
              <a:rPr sz="950" b="1">
                <a:solidFill>
                  <a:srgbClr val="0F2437"/>
                </a:solidFill>
                <a:latin typeface="Segoe UI"/>
              </a:rPr>
              <a:t>• Hyperparameter Tuning: </a:t>
            </a:r>
            <a:r>
              <a:rPr sz="900" b="0">
                <a:solidFill>
                  <a:srgbClr val="475569"/>
                </a:solidFill>
                <a:latin typeface="Segoe UI"/>
              </a:rPr>
              <a:t>GridSearchCV, RandomSearch, Pipeline Automation</a:t>
            </a:r>
          </a:p>
        </p:txBody>
      </p:sp>
      <p:sp>
        <p:nvSpPr>
          <p:cNvPr id="12" name="Rounded Rectangle 11"/>
          <p:cNvSpPr/>
          <p:nvPr/>
        </p:nvSpPr>
        <p:spPr>
          <a:xfrm>
            <a:off x="731520" y="4160520"/>
            <a:ext cx="5212080" cy="21945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160520"/>
            <a:ext cx="5212080" cy="384048"/>
          </a:xfrm>
          <a:prstGeom prst="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l">
              <a:spcBef>
                <a:spcPts val="0"/>
              </a:spcBef>
              <a:spcAft>
                <a:spcPts val="300"/>
              </a:spcAft>
              <a:defRPr sz="1050" b="1" i="0">
                <a:solidFill>
                  <a:srgbClr val="1E3A8A"/>
                </a:solidFill>
                <a:latin typeface="Segoe UI"/>
              </a:defRPr>
            </a:pPr>
            <a:r>
              <a:rPr sz="1050" b="1" i="0">
                <a:solidFill>
                  <a:srgbClr val="1E3A8A"/>
                </a:solidFill>
                <a:latin typeface="Segoe UI"/>
              </a:rPr>
              <a:t>❖  Business Intelligence &amp; Visualization</a:t>
            </a:r>
          </a:p>
        </p:txBody>
      </p:sp>
      <p:sp>
        <p:nvSpPr>
          <p:cNvPr id="14" name="TextBox 13"/>
          <p:cNvSpPr txBox="1"/>
          <p:nvPr/>
        </p:nvSpPr>
        <p:spPr>
          <a:xfrm>
            <a:off x="914400" y="4636008"/>
            <a:ext cx="4846320" cy="1691640"/>
          </a:xfrm>
          <a:prstGeom prst="rect">
            <a:avLst/>
          </a:prstGeom>
          <a:noFill/>
        </p:spPr>
        <p:txBody>
          <a:bodyPr wrap="square" lIns="0" tIns="0">
            <a:spAutoFit/>
          </a:bodyPr>
          <a:lstStyle/>
          <a:p>
            <a:pPr>
              <a:spcAft>
                <a:spcPts val="200"/>
              </a:spcAft>
              <a:defRPr sz="950" b="1">
                <a:solidFill>
                  <a:srgbClr val="0F2437"/>
                </a:solidFill>
                <a:latin typeface="Segoe UI"/>
              </a:defRPr>
            </a:pPr>
            <a:r>
              <a:rPr sz="950" b="1">
                <a:solidFill>
                  <a:srgbClr val="0F2437"/>
                </a:solidFill>
                <a:latin typeface="Segoe UI"/>
              </a:rPr>
              <a:t>• Tableau Desktop &amp; Public: </a:t>
            </a:r>
            <a:r>
              <a:rPr sz="900" b="0">
                <a:solidFill>
                  <a:srgbClr val="475569"/>
                </a:solidFill>
                <a:latin typeface="Segoe UI"/>
              </a:rPr>
              <a:t>Calculated Fields, LOD Expressions, Parameter Actions, Sets</a:t>
            </a:r>
          </a:p>
          <a:p>
            <a:pPr>
              <a:spcAft>
                <a:spcPts val="200"/>
              </a:spcAft>
              <a:defRPr sz="950" b="1">
                <a:solidFill>
                  <a:srgbClr val="0F2437"/>
                </a:solidFill>
                <a:latin typeface="Segoe UI"/>
              </a:defRPr>
            </a:pPr>
            <a:r>
              <a:rPr sz="950" b="1">
                <a:solidFill>
                  <a:srgbClr val="0F2437"/>
                </a:solidFill>
                <a:latin typeface="Segoe UI"/>
              </a:rPr>
              <a:t>• Web Application: </a:t>
            </a:r>
            <a:r>
              <a:rPr sz="900" b="0">
                <a:solidFill>
                  <a:srgbClr val="475569"/>
                </a:solidFill>
                <a:latin typeface="Segoe UI"/>
              </a:rPr>
              <a:t>Streamlit (Live interactive Machine Learning demo web apps)</a:t>
            </a:r>
          </a:p>
          <a:p>
            <a:pPr>
              <a:spcAft>
                <a:spcPts val="200"/>
              </a:spcAft>
              <a:defRPr sz="950" b="1">
                <a:solidFill>
                  <a:srgbClr val="0F2437"/>
                </a:solidFill>
                <a:latin typeface="Segoe UI"/>
              </a:defRPr>
            </a:pPr>
            <a:r>
              <a:rPr sz="950" b="1">
                <a:solidFill>
                  <a:srgbClr val="0F2437"/>
                </a:solidFill>
                <a:latin typeface="Segoe UI"/>
              </a:rPr>
              <a:t>• Executive Storytelling: </a:t>
            </a:r>
            <a:r>
              <a:rPr sz="900" b="0">
                <a:solidFill>
                  <a:srgbClr val="475569"/>
                </a:solidFill>
                <a:latin typeface="Segoe UI"/>
              </a:rPr>
              <a:t>KPI Dashboarding, Geospatial Mapping, Scatter &amp; Funnel Plots</a:t>
            </a:r>
          </a:p>
          <a:p>
            <a:pPr>
              <a:spcAft>
                <a:spcPts val="200"/>
              </a:spcAft>
              <a:defRPr sz="950" b="1">
                <a:solidFill>
                  <a:srgbClr val="0F2437"/>
                </a:solidFill>
                <a:latin typeface="Segoe UI"/>
              </a:defRPr>
            </a:pPr>
            <a:r>
              <a:rPr sz="950" b="1">
                <a:solidFill>
                  <a:srgbClr val="0F2437"/>
                </a:solidFill>
                <a:latin typeface="Segoe UI"/>
              </a:rPr>
              <a:t>• Exploratory Data Analysis: </a:t>
            </a:r>
            <a:r>
              <a:rPr sz="900" b="0">
                <a:solidFill>
                  <a:srgbClr val="475569"/>
                </a:solidFill>
                <a:latin typeface="Segoe UI"/>
              </a:rPr>
              <a:t>Trend detection, outlier identification, cohort retention</a:t>
            </a:r>
          </a:p>
        </p:txBody>
      </p:sp>
      <p:sp>
        <p:nvSpPr>
          <p:cNvPr id="15" name="Rounded Rectangle 14"/>
          <p:cNvSpPr/>
          <p:nvPr/>
        </p:nvSpPr>
        <p:spPr>
          <a:xfrm>
            <a:off x="6217920" y="4160520"/>
            <a:ext cx="5212080" cy="21945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4160520"/>
            <a:ext cx="5212080" cy="384048"/>
          </a:xfrm>
          <a:prstGeom prst="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l">
              <a:spcBef>
                <a:spcPts val="0"/>
              </a:spcBef>
              <a:spcAft>
                <a:spcPts val="300"/>
              </a:spcAft>
              <a:defRPr sz="1050" b="1" i="0">
                <a:solidFill>
                  <a:srgbClr val="1E3A8A"/>
                </a:solidFill>
                <a:latin typeface="Segoe UI"/>
              </a:defRPr>
            </a:pPr>
            <a:r>
              <a:rPr sz="1050" b="1" i="0">
                <a:solidFill>
                  <a:srgbClr val="1E3A8A"/>
                </a:solidFill>
                <a:latin typeface="Segoe UI"/>
              </a:rPr>
              <a:t>❖  Agentic AI, DevOps &amp; Tooling</a:t>
            </a:r>
          </a:p>
        </p:txBody>
      </p:sp>
      <p:sp>
        <p:nvSpPr>
          <p:cNvPr id="17" name="TextBox 16"/>
          <p:cNvSpPr txBox="1"/>
          <p:nvPr/>
        </p:nvSpPr>
        <p:spPr>
          <a:xfrm>
            <a:off x="6400800" y="4636008"/>
            <a:ext cx="4846320" cy="1691640"/>
          </a:xfrm>
          <a:prstGeom prst="rect">
            <a:avLst/>
          </a:prstGeom>
          <a:noFill/>
        </p:spPr>
        <p:txBody>
          <a:bodyPr wrap="square" lIns="0" tIns="0">
            <a:spAutoFit/>
          </a:bodyPr>
          <a:lstStyle/>
          <a:p>
            <a:pPr>
              <a:spcAft>
                <a:spcPts val="200"/>
              </a:spcAft>
              <a:defRPr sz="950" b="1">
                <a:solidFill>
                  <a:srgbClr val="0F2437"/>
                </a:solidFill>
                <a:latin typeface="Segoe UI"/>
              </a:defRPr>
            </a:pPr>
            <a:r>
              <a:rPr sz="950" b="1">
                <a:solidFill>
                  <a:srgbClr val="0F2437"/>
                </a:solidFill>
                <a:latin typeface="Segoe UI"/>
              </a:rPr>
              <a:t>• Agentic AI Frameworks: </a:t>
            </a:r>
            <a:r>
              <a:rPr sz="900" b="0">
                <a:solidFill>
                  <a:srgbClr val="475569"/>
                </a:solidFill>
                <a:latin typeface="Segoe UI"/>
              </a:rPr>
              <a:t>Google Antigravity, Multi-agent autonomous workflow design</a:t>
            </a:r>
          </a:p>
          <a:p>
            <a:pPr>
              <a:spcAft>
                <a:spcPts val="200"/>
              </a:spcAft>
              <a:defRPr sz="950" b="1">
                <a:solidFill>
                  <a:srgbClr val="0F2437"/>
                </a:solidFill>
                <a:latin typeface="Segoe UI"/>
              </a:defRPr>
            </a:pPr>
            <a:r>
              <a:rPr sz="950" b="1">
                <a:solidFill>
                  <a:srgbClr val="0F2437"/>
                </a:solidFill>
                <a:latin typeface="Segoe UI"/>
              </a:rPr>
              <a:t>• Version Control: </a:t>
            </a:r>
            <a:r>
              <a:rPr sz="900" b="0">
                <a:solidFill>
                  <a:srgbClr val="475569"/>
                </a:solidFill>
                <a:latin typeface="Segoe UI"/>
              </a:rPr>
              <a:t>Git, GitHub, Branching Strategy, CI/CD automation</a:t>
            </a:r>
          </a:p>
          <a:p>
            <a:pPr>
              <a:spcAft>
                <a:spcPts val="200"/>
              </a:spcAft>
              <a:defRPr sz="950" b="1">
                <a:solidFill>
                  <a:srgbClr val="0F2437"/>
                </a:solidFill>
                <a:latin typeface="Segoe UI"/>
              </a:defRPr>
            </a:pPr>
            <a:r>
              <a:rPr sz="950" b="1">
                <a:solidFill>
                  <a:srgbClr val="0F2437"/>
                </a:solidFill>
                <a:latin typeface="Segoe UI"/>
              </a:rPr>
              <a:t>• Workflow Automation: </a:t>
            </a:r>
            <a:r>
              <a:rPr sz="900" b="0">
                <a:solidFill>
                  <a:srgbClr val="475569"/>
                </a:solidFill>
                <a:latin typeface="Segoe UI"/>
              </a:rPr>
              <a:t>Python Automation Scripts, CapCut API batching, FFmpeg</a:t>
            </a:r>
          </a:p>
          <a:p>
            <a:pPr>
              <a:spcAft>
                <a:spcPts val="200"/>
              </a:spcAft>
              <a:defRPr sz="950" b="1">
                <a:solidFill>
                  <a:srgbClr val="0F2437"/>
                </a:solidFill>
                <a:latin typeface="Segoe UI"/>
              </a:defRPr>
            </a:pPr>
            <a:r>
              <a:rPr sz="950" b="1">
                <a:solidFill>
                  <a:srgbClr val="0F2437"/>
                </a:solidFill>
                <a:latin typeface="Segoe UI"/>
              </a:rPr>
              <a:t>• Development Environments: </a:t>
            </a:r>
            <a:r>
              <a:rPr sz="900" b="0">
                <a:solidFill>
                  <a:srgbClr val="475569"/>
                </a:solidFill>
                <a:latin typeface="Segoe UI"/>
              </a:rPr>
              <a:t>VS Code, Jupyter Notebook, Google Colab, Windows PowerShell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PROJECT 01: MACHINE LEARNING SKRIPSI</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Komparasi SVM, Naive Bayes &amp; KNN: Analisis Sentimen YouTube</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Studi Kasus Respons Netizen terhadap Pengungkapan Kasus Korupsi Videografer di Sumatera Utara (Kanal Ferry Irwandi).</a:t>
            </a:r>
          </a:p>
        </p:txBody>
      </p:sp>
      <p:sp>
        <p:nvSpPr>
          <p:cNvPr id="6" name="Rounded Rectangle 5"/>
          <p:cNvSpPr/>
          <p:nvPr/>
        </p:nvSpPr>
        <p:spPr>
          <a:xfrm>
            <a:off x="731520" y="1691640"/>
            <a:ext cx="5120640" cy="4709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434840"/>
          </a:xfrm>
          <a:prstGeom prst="rect">
            <a:avLst/>
          </a:prstGeom>
          <a:noFill/>
        </p:spPr>
        <p:txBody>
          <a:bodyPr wrap="square" lIns="0" tIns="0">
            <a:spAutoFit/>
          </a:bodyPr>
          <a:lstStyle/>
          <a:p>
            <a:pPr algn="l">
              <a:spcBef>
                <a:spcPts val="0"/>
              </a:spcBef>
              <a:spcAft>
                <a:spcPts val="300"/>
              </a:spcAft>
              <a:defRPr sz="1100" b="1" i="0">
                <a:solidFill>
                  <a:srgbClr val="2563EB"/>
                </a:solidFill>
                <a:latin typeface="Segoe UI"/>
              </a:defRPr>
            </a:pPr>
            <a:r>
              <a:rPr sz="1100" b="1" i="0">
                <a:solidFill>
                  <a:srgbClr val="2563EB"/>
                </a:solidFill>
                <a:latin typeface="Segoe UI"/>
              </a:rPr>
              <a:t>RINGKASAN PENELITIAN &amp; METODOLOGI</a:t>
            </a:r>
          </a:p>
          <a:p>
            <a:pPr algn="l">
              <a:spcBef>
                <a:spcPts val="0"/>
              </a:spcBef>
              <a:spcAft>
                <a:spcPts val="600"/>
              </a:spcAft>
              <a:defRPr sz="950" b="0" i="0">
                <a:solidFill>
                  <a:srgbClr val="0F172A"/>
                </a:solidFill>
                <a:latin typeface="Segoe UI"/>
              </a:defRPr>
            </a:pPr>
            <a:r>
              <a:rPr sz="950" b="0" i="0">
                <a:solidFill>
                  <a:srgbClr val="0F172A"/>
                </a:solidFill>
                <a:latin typeface="Segoe UI"/>
              </a:rPr>
              <a:t>Penelitian skripsi ini membandingkan kinerja tiga algoritma Machine Learning terpopuler dalam mengklasifikasikan respons sentimen publik pada 9.269 komentar YouTube kasus korupsi. Dataset dikonversi menjadi representasi numerik menggunakan CountVectorizer menghasilkan ruang sparse matrix berdimensi 11.790 fitur unik.</a:t>
            </a:r>
          </a:p>
          <a:p>
            <a:pPr algn="l">
              <a:spcBef>
                <a:spcPts val="0"/>
              </a:spcBef>
              <a:spcAft>
                <a:spcPts val="300"/>
              </a:spcAft>
              <a:defRPr sz="1000" b="1" i="0">
                <a:solidFill>
                  <a:srgbClr val="0F2437"/>
                </a:solidFill>
                <a:latin typeface="Segoe UI"/>
              </a:defRPr>
            </a:pPr>
            <a:r>
              <a:rPr sz="1000" b="1" i="0">
                <a:solidFill>
                  <a:srgbClr val="0F2437"/>
                </a:solidFill>
                <a:latin typeface="Segoe UI"/>
              </a:rPr>
              <a:t>TEMUAN UTAMA KOMPARASI ALGORITMA:</a:t>
            </a:r>
          </a:p>
          <a:p>
            <a:pPr>
              <a:spcAft>
                <a:spcPts val="200"/>
              </a:spcAft>
              <a:defRPr sz="900" b="1">
                <a:solidFill>
                  <a:srgbClr val="2563EB"/>
                </a:solidFill>
                <a:latin typeface="Segoe UI"/>
              </a:defRPr>
            </a:pPr>
            <a:r>
              <a:rPr sz="900" b="1">
                <a:solidFill>
                  <a:srgbClr val="2563EB"/>
                </a:solidFill>
                <a:latin typeface="Segoe UI"/>
              </a:rPr>
              <a:t>✓ Linear SVM (88.41% Akurasi): </a:t>
            </a:r>
            <a:r>
              <a:rPr sz="850" b="0">
                <a:solidFill>
                  <a:srgbClr val="475569"/>
                </a:solidFill>
                <a:latin typeface="Segoe UI"/>
              </a:rPr>
              <a:t>Mendominasi secara mutlak di seluruh skenario split (60:40, 70:30, 80:20). Sangat tangguh mengatasi fenomena high-dimensional sparsity.</a:t>
            </a:r>
          </a:p>
          <a:p>
            <a:pPr>
              <a:spcAft>
                <a:spcPts val="200"/>
              </a:spcAft>
              <a:defRPr sz="900" b="1">
                <a:solidFill>
                  <a:srgbClr val="2563EB"/>
                </a:solidFill>
                <a:latin typeface="Segoe UI"/>
              </a:defRPr>
            </a:pPr>
            <a:r>
              <a:rPr sz="900" b="1">
                <a:solidFill>
                  <a:srgbClr val="2563EB"/>
                </a:solidFill>
                <a:latin typeface="Segoe UI"/>
              </a:rPr>
              <a:t>✓ Multinomial Naive Bayes (81.03%): </a:t>
            </a:r>
            <a:r>
              <a:rPr sz="850" b="0">
                <a:solidFill>
                  <a:srgbClr val="475569"/>
                </a:solidFill>
                <a:latin typeface="Segoe UI"/>
              </a:rPr>
              <a:t>Performa klasifikasi moderat. Cepat dalam inferensi, namun terkendala asumsi independensi bersyarat pada konteks kalimat kritik publik.</a:t>
            </a:r>
          </a:p>
          <a:p>
            <a:pPr>
              <a:spcAft>
                <a:spcPts val="200"/>
              </a:spcAft>
              <a:defRPr sz="900" b="1">
                <a:solidFill>
                  <a:srgbClr val="2563EB"/>
                </a:solidFill>
                <a:latin typeface="Segoe UI"/>
              </a:defRPr>
            </a:pPr>
            <a:r>
              <a:rPr sz="900" b="1">
                <a:solidFill>
                  <a:srgbClr val="2563EB"/>
                </a:solidFill>
                <a:latin typeface="Segoe UI"/>
              </a:rPr>
              <a:t>✓ K-Nearest Neighbors (68.22%): </a:t>
            </a:r>
            <a:r>
              <a:rPr sz="850" b="0">
                <a:solidFill>
                  <a:srgbClr val="475569"/>
                </a:solidFill>
                <a:latin typeface="Segoe UI"/>
              </a:rPr>
              <a:t>Performa terendah akibat kutukan dimensi (curse of dimensionality), di mana perhitungan jarak Euclidean kehilangan diskriminasi pada 11.790 fitur.</a:t>
            </a:r>
          </a:p>
        </p:txBody>
      </p:sp>
      <p:sp>
        <p:nvSpPr>
          <p:cNvPr id="8" name="Rounded Rectangle 7"/>
          <p:cNvSpPr/>
          <p:nvPr/>
        </p:nvSpPr>
        <p:spPr>
          <a:xfrm>
            <a:off x="6035040" y="1691640"/>
            <a:ext cx="5394960" cy="4709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_accuracy_comparison.png"/>
          <p:cNvPicPr>
            <a:picLocks noChangeAspect="1"/>
          </p:cNvPicPr>
          <p:nvPr/>
        </p:nvPicPr>
        <p:blipFill>
          <a:blip r:embed="rId2"/>
          <a:stretch>
            <a:fillRect/>
          </a:stretch>
        </p:blipFill>
        <p:spPr>
          <a:xfrm>
            <a:off x="6172200" y="1828800"/>
            <a:ext cx="5120640" cy="3977639"/>
          </a:xfrm>
          <a:prstGeom prst="rect">
            <a:avLst/>
          </a:prstGeom>
        </p:spPr>
      </p:pic>
      <p:sp>
        <p:nvSpPr>
          <p:cNvPr id="10" name="TextBox 9"/>
          <p:cNvSpPr txBox="1"/>
          <p:nvPr/>
        </p:nvSpPr>
        <p:spPr>
          <a:xfrm>
            <a:off x="6172200" y="5870448"/>
            <a:ext cx="5120640" cy="411480"/>
          </a:xfrm>
          <a:prstGeom prst="rect">
            <a:avLst/>
          </a:prstGeom>
          <a:noFill/>
        </p:spPr>
        <p:txBody>
          <a:bodyPr wrap="none" lIns="0" tIns="0">
            <a:spAutoFit/>
          </a:bodyPr>
          <a:lstStyle/>
          <a:p>
            <a:pPr algn="l">
              <a:spcBef>
                <a:spcPts val="0"/>
              </a:spcBef>
              <a:spcAft>
                <a:spcPts val="300"/>
              </a:spcAft>
              <a:defRPr sz="850" b="0" i="1">
                <a:solidFill>
                  <a:srgbClr val="475569"/>
                </a:solidFill>
                <a:latin typeface="Segoe UI"/>
              </a:defRPr>
            </a:pPr>
            <a:r>
              <a:rPr sz="850" b="0" i="1">
                <a:solidFill>
                  <a:srgbClr val="475569"/>
                </a:solidFill>
                <a:latin typeface="Segoe UI"/>
              </a:rPr>
              <a:t>Grafik Komparasi Resmi Sidang Skripsi (Universitas Budi Luhur, 2026): Linear SVM mencapai puncak akurasi 88.41% pada rasio split 80:20.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PROJECT 01: ARCHITECTURE &amp; EVALUATION</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Arsitektur Pipeline NLP &amp; Analisis Confusion Matrix</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Dari ekstraksi YouTube Data API v3, kamus slang normalisasi, hingga deploy Streamlit Web App.</a:t>
            </a:r>
          </a:p>
        </p:txBody>
      </p:sp>
      <p:sp>
        <p:nvSpPr>
          <p:cNvPr id="6" name="Rounded Rectangle 5"/>
          <p:cNvSpPr/>
          <p:nvPr/>
        </p:nvSpPr>
        <p:spPr>
          <a:xfrm>
            <a:off x="731520" y="1691640"/>
            <a:ext cx="2057400" cy="10972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764792"/>
            <a:ext cx="1837944" cy="950976"/>
          </a:xfrm>
          <a:prstGeom prst="rect">
            <a:avLst/>
          </a:prstGeom>
          <a:noFill/>
        </p:spPr>
        <p:txBody>
          <a:bodyPr wrap="square" lIns="0" tIns="0">
            <a:spAutoFit/>
          </a:bodyPr>
          <a:lstStyle/>
          <a:p>
            <a:pPr algn="l">
              <a:spcBef>
                <a:spcPts val="0"/>
              </a:spcBef>
              <a:spcAft>
                <a:spcPts val="200"/>
              </a:spcAft>
              <a:defRPr sz="950" b="1" i="0">
                <a:solidFill>
                  <a:srgbClr val="2563EB"/>
                </a:solidFill>
                <a:latin typeface="Segoe UI"/>
              </a:defRPr>
            </a:pPr>
            <a:r>
              <a:rPr sz="950" b="1" i="0">
                <a:solidFill>
                  <a:srgbClr val="2563EB"/>
                </a:solidFill>
                <a:latin typeface="Segoe UI"/>
              </a:rPr>
              <a:t>1. Data Ingestion</a:t>
            </a:r>
          </a:p>
          <a:p>
            <a:pPr algn="l">
              <a:spcBef>
                <a:spcPts val="0"/>
              </a:spcBef>
              <a:spcAft>
                <a:spcPts val="300"/>
              </a:spcAft>
              <a:defRPr sz="800" b="0" i="0">
                <a:solidFill>
                  <a:srgbClr val="475569"/>
                </a:solidFill>
                <a:latin typeface="Segoe UI"/>
              </a:defRPr>
            </a:pPr>
            <a:r>
              <a:rPr sz="800" b="0" i="0">
                <a:solidFill>
                  <a:srgbClr val="475569"/>
                </a:solidFill>
                <a:latin typeface="Segoe UI"/>
              </a:rPr>
              <a:t>9.269 Komentar Mentah diekstrak via YouTube Data API v3 Google Cloud.</a:t>
            </a:r>
          </a:p>
        </p:txBody>
      </p:sp>
      <p:sp>
        <p:nvSpPr>
          <p:cNvPr id="8" name="Rounded Rectangle 7"/>
          <p:cNvSpPr/>
          <p:nvPr/>
        </p:nvSpPr>
        <p:spPr>
          <a:xfrm>
            <a:off x="2926080" y="1691640"/>
            <a:ext cx="2057400" cy="10972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35808" y="1764792"/>
            <a:ext cx="1837944" cy="950976"/>
          </a:xfrm>
          <a:prstGeom prst="rect">
            <a:avLst/>
          </a:prstGeom>
          <a:noFill/>
        </p:spPr>
        <p:txBody>
          <a:bodyPr wrap="square" lIns="0" tIns="0">
            <a:spAutoFit/>
          </a:bodyPr>
          <a:lstStyle/>
          <a:p>
            <a:pPr algn="l">
              <a:spcBef>
                <a:spcPts val="0"/>
              </a:spcBef>
              <a:spcAft>
                <a:spcPts val="200"/>
              </a:spcAft>
              <a:defRPr sz="950" b="1" i="0">
                <a:solidFill>
                  <a:srgbClr val="2563EB"/>
                </a:solidFill>
                <a:latin typeface="Segoe UI"/>
              </a:defRPr>
            </a:pPr>
            <a:r>
              <a:rPr sz="950" b="1" i="0">
                <a:solidFill>
                  <a:srgbClr val="2563EB"/>
                </a:solidFill>
                <a:latin typeface="Segoe UI"/>
              </a:rPr>
              <a:t>2. Regex Cleaning</a:t>
            </a:r>
          </a:p>
          <a:p>
            <a:pPr algn="l">
              <a:spcBef>
                <a:spcPts val="0"/>
              </a:spcBef>
              <a:spcAft>
                <a:spcPts val="300"/>
              </a:spcAft>
              <a:defRPr sz="800" b="0" i="0">
                <a:solidFill>
                  <a:srgbClr val="475569"/>
                </a:solidFill>
                <a:latin typeface="Segoe UI"/>
              </a:defRPr>
            </a:pPr>
            <a:r>
              <a:rPr sz="800" b="0" i="0">
                <a:solidFill>
                  <a:srgbClr val="475569"/>
                </a:solidFill>
                <a:latin typeface="Segoe UI"/>
              </a:rPr>
              <a:t>Pembersihan URL, hashtag, angka, tanda baca &amp; emoji via Regex.</a:t>
            </a:r>
          </a:p>
        </p:txBody>
      </p:sp>
      <p:sp>
        <p:nvSpPr>
          <p:cNvPr id="10" name="Rounded Rectangle 9"/>
          <p:cNvSpPr/>
          <p:nvPr/>
        </p:nvSpPr>
        <p:spPr>
          <a:xfrm>
            <a:off x="5120640" y="1691640"/>
            <a:ext cx="2057400" cy="10972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30368" y="1764792"/>
            <a:ext cx="1837944" cy="950976"/>
          </a:xfrm>
          <a:prstGeom prst="rect">
            <a:avLst/>
          </a:prstGeom>
          <a:noFill/>
        </p:spPr>
        <p:txBody>
          <a:bodyPr wrap="square" lIns="0" tIns="0">
            <a:spAutoFit/>
          </a:bodyPr>
          <a:lstStyle/>
          <a:p>
            <a:pPr algn="l">
              <a:spcBef>
                <a:spcPts val="0"/>
              </a:spcBef>
              <a:spcAft>
                <a:spcPts val="200"/>
              </a:spcAft>
              <a:defRPr sz="950" b="1" i="0">
                <a:solidFill>
                  <a:srgbClr val="2563EB"/>
                </a:solidFill>
                <a:latin typeface="Segoe UI"/>
              </a:defRPr>
            </a:pPr>
            <a:r>
              <a:rPr sz="950" b="1" i="0">
                <a:solidFill>
                  <a:srgbClr val="2563EB"/>
                </a:solidFill>
                <a:latin typeface="Segoe UI"/>
              </a:rPr>
              <a:t>3. Normalisasi Slang</a:t>
            </a:r>
          </a:p>
          <a:p>
            <a:pPr algn="l">
              <a:spcBef>
                <a:spcPts val="0"/>
              </a:spcBef>
              <a:spcAft>
                <a:spcPts val="300"/>
              </a:spcAft>
              <a:defRPr sz="800" b="0" i="0">
                <a:solidFill>
                  <a:srgbClr val="475569"/>
                </a:solidFill>
                <a:latin typeface="Segoe UI"/>
              </a:defRPr>
            </a:pPr>
            <a:r>
              <a:rPr sz="800" b="0" i="0">
                <a:solidFill>
                  <a:srgbClr val="475569"/>
                </a:solidFill>
                <a:latin typeface="Segoe UI"/>
              </a:rPr>
              <a:t>Mapping kata gaul/slang bahasa Indonesia ke bentuk baku terstruktur.</a:t>
            </a:r>
          </a:p>
        </p:txBody>
      </p:sp>
      <p:sp>
        <p:nvSpPr>
          <p:cNvPr id="12" name="Rounded Rectangle 11"/>
          <p:cNvSpPr/>
          <p:nvPr/>
        </p:nvSpPr>
        <p:spPr>
          <a:xfrm>
            <a:off x="7315199" y="1691640"/>
            <a:ext cx="2057400" cy="10972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1764792"/>
            <a:ext cx="1837944" cy="950976"/>
          </a:xfrm>
          <a:prstGeom prst="rect">
            <a:avLst/>
          </a:prstGeom>
          <a:noFill/>
        </p:spPr>
        <p:txBody>
          <a:bodyPr wrap="square" lIns="0" tIns="0">
            <a:spAutoFit/>
          </a:bodyPr>
          <a:lstStyle/>
          <a:p>
            <a:pPr algn="l">
              <a:spcBef>
                <a:spcPts val="0"/>
              </a:spcBef>
              <a:spcAft>
                <a:spcPts val="200"/>
              </a:spcAft>
              <a:defRPr sz="950" b="1" i="0">
                <a:solidFill>
                  <a:srgbClr val="2563EB"/>
                </a:solidFill>
                <a:latin typeface="Segoe UI"/>
              </a:defRPr>
            </a:pPr>
            <a:r>
              <a:rPr sz="950" b="1" i="0">
                <a:solidFill>
                  <a:srgbClr val="2563EB"/>
                </a:solidFill>
                <a:latin typeface="Segoe UI"/>
              </a:rPr>
              <a:t>4. Stopwords Sastrawi</a:t>
            </a:r>
          </a:p>
          <a:p>
            <a:pPr algn="l">
              <a:spcBef>
                <a:spcPts val="0"/>
              </a:spcBef>
              <a:spcAft>
                <a:spcPts val="300"/>
              </a:spcAft>
              <a:defRPr sz="800" b="0" i="0">
                <a:solidFill>
                  <a:srgbClr val="475569"/>
                </a:solidFill>
                <a:latin typeface="Segoe UI"/>
              </a:defRPr>
            </a:pPr>
            <a:r>
              <a:rPr sz="800" b="0" i="0">
                <a:solidFill>
                  <a:srgbClr val="475569"/>
                </a:solidFill>
                <a:latin typeface="Segoe UI"/>
              </a:rPr>
              <a:t>Penghapusan kata sambung korpus Sastrawi + kamus buatan.</a:t>
            </a:r>
          </a:p>
        </p:txBody>
      </p:sp>
      <p:sp>
        <p:nvSpPr>
          <p:cNvPr id="14" name="Rounded Rectangle 13"/>
          <p:cNvSpPr/>
          <p:nvPr/>
        </p:nvSpPr>
        <p:spPr>
          <a:xfrm>
            <a:off x="9509760" y="1691640"/>
            <a:ext cx="2057400" cy="1097280"/>
          </a:xfrm>
          <a:prstGeom prst="roundRect">
            <a:avLst>
              <a:gd name="adj" fmla="val 4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19488" y="1764792"/>
            <a:ext cx="1837944" cy="950976"/>
          </a:xfrm>
          <a:prstGeom prst="rect">
            <a:avLst/>
          </a:prstGeom>
          <a:noFill/>
        </p:spPr>
        <p:txBody>
          <a:bodyPr wrap="square" lIns="0" tIns="0">
            <a:spAutoFit/>
          </a:bodyPr>
          <a:lstStyle/>
          <a:p>
            <a:pPr algn="l">
              <a:spcBef>
                <a:spcPts val="0"/>
              </a:spcBef>
              <a:spcAft>
                <a:spcPts val="200"/>
              </a:spcAft>
              <a:defRPr sz="950" b="1" i="0">
                <a:solidFill>
                  <a:srgbClr val="2563EB"/>
                </a:solidFill>
                <a:latin typeface="Segoe UI"/>
              </a:defRPr>
            </a:pPr>
            <a:r>
              <a:rPr sz="950" b="1" i="0">
                <a:solidFill>
                  <a:srgbClr val="2563EB"/>
                </a:solidFill>
                <a:latin typeface="Segoe UI"/>
              </a:rPr>
              <a:t>5. Feature Vector</a:t>
            </a:r>
          </a:p>
          <a:p>
            <a:pPr algn="l">
              <a:spcBef>
                <a:spcPts val="0"/>
              </a:spcBef>
              <a:spcAft>
                <a:spcPts val="300"/>
              </a:spcAft>
              <a:defRPr sz="800" b="0" i="0">
                <a:solidFill>
                  <a:srgbClr val="475569"/>
                </a:solidFill>
                <a:latin typeface="Segoe UI"/>
              </a:defRPr>
            </a:pPr>
            <a:r>
              <a:rPr sz="800" b="0" i="0">
                <a:solidFill>
                  <a:srgbClr val="475569"/>
                </a:solidFill>
                <a:latin typeface="Segoe UI"/>
              </a:rPr>
              <a:t>CountVectorizer sparse matrix menghasilkan 11.790 vocab unik.</a:t>
            </a:r>
          </a:p>
        </p:txBody>
      </p:sp>
      <p:sp>
        <p:nvSpPr>
          <p:cNvPr id="16" name="Rounded Rectangle 15"/>
          <p:cNvSpPr/>
          <p:nvPr/>
        </p:nvSpPr>
        <p:spPr>
          <a:xfrm>
            <a:off x="731520" y="2926080"/>
            <a:ext cx="5394960" cy="34747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art_confusion_matrix.png"/>
          <p:cNvPicPr>
            <a:picLocks noChangeAspect="1"/>
          </p:cNvPicPr>
          <p:nvPr/>
        </p:nvPicPr>
        <p:blipFill>
          <a:blip r:embed="rId2"/>
          <a:stretch>
            <a:fillRect/>
          </a:stretch>
        </p:blipFill>
        <p:spPr>
          <a:xfrm>
            <a:off x="868680" y="3017520"/>
            <a:ext cx="5120640" cy="3246120"/>
          </a:xfrm>
          <a:prstGeom prst="rect">
            <a:avLst/>
          </a:prstGeom>
        </p:spPr>
      </p:pic>
      <p:sp>
        <p:nvSpPr>
          <p:cNvPr id="18" name="Rounded Rectangle 17"/>
          <p:cNvSpPr/>
          <p:nvPr/>
        </p:nvSpPr>
        <p:spPr>
          <a:xfrm>
            <a:off x="6400800" y="2926080"/>
            <a:ext cx="5029200" cy="34747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3063240"/>
            <a:ext cx="4572000" cy="3200400"/>
          </a:xfrm>
          <a:prstGeom prst="rect">
            <a:avLst/>
          </a:prstGeom>
          <a:noFill/>
        </p:spPr>
        <p:txBody>
          <a:bodyPr wrap="square" lIns="0" tIns="0">
            <a:spAutoFit/>
          </a:bodyPr>
          <a:lstStyle/>
          <a:p>
            <a:pPr algn="l">
              <a:spcBef>
                <a:spcPts val="0"/>
              </a:spcBef>
              <a:spcAft>
                <a:spcPts val="400"/>
              </a:spcAft>
              <a:defRPr sz="1050" b="1" i="0">
                <a:solidFill>
                  <a:srgbClr val="0F2437"/>
                </a:solidFill>
                <a:latin typeface="Segoe UI"/>
              </a:defRPr>
            </a:pPr>
            <a:r>
              <a:rPr sz="1050" b="1" i="0">
                <a:solidFill>
                  <a:srgbClr val="0F2437"/>
                </a:solidFill>
                <a:latin typeface="Segoe UI"/>
              </a:rPr>
              <a:t>ANALISIS VALIDASI MATRIKS &amp; DEPLOYMENT</a:t>
            </a:r>
          </a:p>
          <a:p>
            <a:pPr>
              <a:spcAft>
                <a:spcPts val="200"/>
              </a:spcAft>
              <a:defRPr sz="900" b="1">
                <a:solidFill>
                  <a:srgbClr val="2563EB"/>
                </a:solidFill>
                <a:latin typeface="Segoe UI"/>
              </a:defRPr>
            </a:pPr>
            <a:r>
              <a:rPr sz="900" b="1">
                <a:solidFill>
                  <a:srgbClr val="2563EB"/>
                </a:solidFill>
                <a:latin typeface="Segoe UI"/>
              </a:rPr>
              <a:t>• Total Data Uji Evaluasi: </a:t>
            </a:r>
            <a:r>
              <a:rPr sz="850" b="0">
                <a:solidFill>
                  <a:srgbClr val="0F172A"/>
                </a:solidFill>
                <a:latin typeface="Segoe UI"/>
              </a:rPr>
              <a:t>1.476 Baris komentar (rasio split 80:20)</a:t>
            </a:r>
          </a:p>
          <a:p>
            <a:pPr>
              <a:spcAft>
                <a:spcPts val="200"/>
              </a:spcAft>
              <a:defRPr sz="900" b="1">
                <a:solidFill>
                  <a:srgbClr val="2563EB"/>
                </a:solidFill>
                <a:latin typeface="Segoe UI"/>
              </a:defRPr>
            </a:pPr>
            <a:r>
              <a:rPr sz="900" b="1">
                <a:solidFill>
                  <a:srgbClr val="2563EB"/>
                </a:solidFill>
                <a:latin typeface="Segoe UI"/>
              </a:rPr>
              <a:t>• True Positive &amp; True Negative: </a:t>
            </a:r>
            <a:r>
              <a:rPr sz="850" b="0">
                <a:solidFill>
                  <a:srgbClr val="0F172A"/>
                </a:solidFill>
                <a:latin typeface="Segoe UI"/>
              </a:rPr>
              <a:t>808 Sentimen Positif &amp; 497 Sentimen Negatif terklasifikasi akurat.</a:t>
            </a:r>
          </a:p>
          <a:p>
            <a:pPr>
              <a:spcAft>
                <a:spcPts val="200"/>
              </a:spcAft>
              <a:defRPr sz="900" b="1">
                <a:solidFill>
                  <a:srgbClr val="2563EB"/>
                </a:solidFill>
                <a:latin typeface="Segoe UI"/>
              </a:defRPr>
            </a:pPr>
            <a:r>
              <a:rPr sz="900" b="1">
                <a:solidFill>
                  <a:srgbClr val="2563EB"/>
                </a:solidFill>
                <a:latin typeface="Segoe UI"/>
              </a:rPr>
              <a:t>• Presisi Kelas Negatif (88.6%): </a:t>
            </a:r>
            <a:r>
              <a:rPr sz="850" b="0">
                <a:solidFill>
                  <a:srgbClr val="0F172A"/>
                </a:solidFill>
                <a:latin typeface="Segoe UI"/>
              </a:rPr>
              <a:t>Model sangat selektif dan tidak gegabah melabeli kritik masyarakat sebagai ujaran negatif tanpa konteks.</a:t>
            </a:r>
          </a:p>
          <a:p>
            <a:pPr>
              <a:spcAft>
                <a:spcPts val="200"/>
              </a:spcAft>
              <a:defRPr sz="900" b="1">
                <a:solidFill>
                  <a:srgbClr val="2563EB"/>
                </a:solidFill>
                <a:latin typeface="Segoe UI"/>
              </a:defRPr>
            </a:pPr>
            <a:r>
              <a:rPr sz="900" b="1">
                <a:solidFill>
                  <a:srgbClr val="2563EB"/>
                </a:solidFill>
                <a:latin typeface="Segoe UI"/>
              </a:rPr>
              <a:t>• Recall Kelas Positif (92.7%): </a:t>
            </a:r>
            <a:r>
              <a:rPr sz="850" b="0">
                <a:solidFill>
                  <a:srgbClr val="0F172A"/>
                </a:solidFill>
                <a:latin typeface="Segoe UI"/>
              </a:rPr>
              <a:t>Model sangat sensitif dan akurat dalam menangkap narasi dukungan terhadap penegakan hukum korupsi.</a:t>
            </a:r>
          </a:p>
          <a:p>
            <a:pPr>
              <a:spcAft>
                <a:spcPts val="200"/>
              </a:spcAft>
              <a:defRPr sz="900" b="1">
                <a:solidFill>
                  <a:srgbClr val="2563EB"/>
                </a:solidFill>
                <a:latin typeface="Segoe UI"/>
              </a:defRPr>
            </a:pPr>
            <a:r>
              <a:rPr sz="900" b="1">
                <a:solidFill>
                  <a:srgbClr val="2563EB"/>
                </a:solidFill>
                <a:latin typeface="Segoe UI"/>
              </a:rPr>
              <a:t>• Streamlit Interactive Deployment: </a:t>
            </a:r>
            <a:r>
              <a:rPr sz="850" b="0">
                <a:solidFill>
                  <a:srgbClr val="0F172A"/>
                </a:solidFill>
                <a:latin typeface="Segoe UI"/>
              </a:rPr>
              <a:t>Model diekspor via Pickle dan diintegrasikan ke web app Streamlit untuk inferensi sentimen real-time.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PROJECT 02: BUSINESS INTELLIGENCE</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Tableau HR Analytics: Workforce &amp; Retention Dashboard</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Analisis komprehensif 8.950 catatan karyawan untuk mendeteksi tren retensi, kompensasi, dan performa.</a:t>
            </a:r>
          </a:p>
        </p:txBody>
      </p:sp>
      <p:sp>
        <p:nvSpPr>
          <p:cNvPr id="6" name="Rounded Rectangle 5"/>
          <p:cNvSpPr/>
          <p:nvPr/>
        </p:nvSpPr>
        <p:spPr>
          <a:xfrm>
            <a:off x="731520" y="1691640"/>
            <a:ext cx="6217920" cy="4709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ject-hr-analytics.png"/>
          <p:cNvPicPr>
            <a:picLocks noChangeAspect="1"/>
          </p:cNvPicPr>
          <p:nvPr/>
        </p:nvPicPr>
        <p:blipFill>
          <a:blip r:embed="rId2"/>
          <a:stretch>
            <a:fillRect/>
          </a:stretch>
        </p:blipFill>
        <p:spPr>
          <a:xfrm>
            <a:off x="868680" y="1828800"/>
            <a:ext cx="5943600" cy="4069080"/>
          </a:xfrm>
          <a:prstGeom prst="rect">
            <a:avLst/>
          </a:prstGeom>
        </p:spPr>
      </p:pic>
      <p:sp>
        <p:nvSpPr>
          <p:cNvPr id="8" name="TextBox 7"/>
          <p:cNvSpPr txBox="1"/>
          <p:nvPr/>
        </p:nvSpPr>
        <p:spPr>
          <a:xfrm>
            <a:off x="868680" y="5961888"/>
            <a:ext cx="5943600" cy="347472"/>
          </a:xfrm>
          <a:prstGeom prst="rect">
            <a:avLst/>
          </a:prstGeom>
          <a:noFill/>
        </p:spPr>
        <p:txBody>
          <a:bodyPr wrap="none" lIns="0" tIns="0">
            <a:spAutoFit/>
          </a:bodyPr>
          <a:lstStyle/>
          <a:p>
            <a:pPr algn="l">
              <a:spcBef>
                <a:spcPts val="0"/>
              </a:spcBef>
              <a:spcAft>
                <a:spcPts val="300"/>
              </a:spcAft>
              <a:defRPr sz="850" b="0" i="1">
                <a:solidFill>
                  <a:srgbClr val="475569"/>
                </a:solidFill>
                <a:latin typeface="Segoe UI"/>
              </a:defRPr>
            </a:pPr>
            <a:r>
              <a:rPr sz="850" b="0" i="1">
                <a:solidFill>
                  <a:srgbClr val="475569"/>
                </a:solidFill>
                <a:latin typeface="Segoe UI"/>
              </a:rPr>
              <a:t>Interactive Tableau Desktop Dashboard: Employee Retention, State Map &amp; Performance Scatter Plot.</a:t>
            </a:r>
          </a:p>
        </p:txBody>
      </p:sp>
      <p:sp>
        <p:nvSpPr>
          <p:cNvPr id="9" name="Rounded Rectangle 8"/>
          <p:cNvSpPr/>
          <p:nvPr/>
        </p:nvSpPr>
        <p:spPr>
          <a:xfrm>
            <a:off x="7132320" y="1691640"/>
            <a:ext cx="4297680" cy="4709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0" y="1828800"/>
            <a:ext cx="3931920" cy="749808"/>
          </a:xfrm>
          <a:prstGeom prst="roundRect">
            <a:avLst>
              <a:gd name="adj" fmla="val 4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1901952"/>
            <a:ext cx="3657600" cy="621792"/>
          </a:xfrm>
          <a:prstGeom prst="rect">
            <a:avLst/>
          </a:prstGeom>
          <a:noFill/>
        </p:spPr>
        <p:txBody>
          <a:bodyPr wrap="none" lIns="0" tIns="0">
            <a:spAutoFit/>
          </a:bodyPr>
          <a:lstStyle/>
          <a:p>
            <a:pPr>
              <a:defRPr sz="1600" b="1">
                <a:solidFill>
                  <a:srgbClr val="0F2437"/>
                </a:solidFill>
                <a:latin typeface="Segoe UI"/>
              </a:defRPr>
            </a:pPr>
            <a:r>
              <a:rPr sz="1600" b="1">
                <a:solidFill>
                  <a:srgbClr val="0F2437"/>
                </a:solidFill>
                <a:latin typeface="Segoe UI"/>
              </a:rPr>
              <a:t>8.950  </a:t>
            </a:r>
            <a:r>
              <a:rPr sz="950" b="1">
                <a:solidFill>
                  <a:srgbClr val="2563EB"/>
                </a:solidFill>
                <a:latin typeface="Segoe UI"/>
              </a:rPr>
              <a:t>— TOTAL EMPLOYEES</a:t>
            </a:r>
          </a:p>
          <a:p>
            <a:pPr algn="l">
              <a:spcBef>
                <a:spcPts val="0"/>
              </a:spcBef>
              <a:spcAft>
                <a:spcPts val="300"/>
              </a:spcAft>
              <a:defRPr sz="850" b="0" i="0">
                <a:solidFill>
                  <a:srgbClr val="475569"/>
                </a:solidFill>
                <a:latin typeface="Segoe UI"/>
              </a:defRPr>
            </a:pPr>
            <a:r>
              <a:rPr sz="850" b="0" i="0">
                <a:solidFill>
                  <a:srgbClr val="475569"/>
                </a:solidFill>
                <a:latin typeface="Segoe UI"/>
              </a:rPr>
              <a:t>Basis data tenaga kerja dianalisis</a:t>
            </a:r>
          </a:p>
        </p:txBody>
      </p:sp>
      <p:sp>
        <p:nvSpPr>
          <p:cNvPr id="12" name="Rounded Rectangle 11"/>
          <p:cNvSpPr/>
          <p:nvPr/>
        </p:nvSpPr>
        <p:spPr>
          <a:xfrm>
            <a:off x="7315200" y="2697480"/>
            <a:ext cx="3931920" cy="749808"/>
          </a:xfrm>
          <a:prstGeom prst="roundRect">
            <a:avLst>
              <a:gd name="adj" fmla="val 4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770632"/>
            <a:ext cx="3657600" cy="621792"/>
          </a:xfrm>
          <a:prstGeom prst="rect">
            <a:avLst/>
          </a:prstGeom>
          <a:noFill/>
        </p:spPr>
        <p:txBody>
          <a:bodyPr wrap="none" lIns="0" tIns="0">
            <a:spAutoFit/>
          </a:bodyPr>
          <a:lstStyle/>
          <a:p>
            <a:pPr>
              <a:defRPr sz="1600" b="1">
                <a:solidFill>
                  <a:srgbClr val="0F2437"/>
                </a:solidFill>
                <a:latin typeface="Segoe UI"/>
              </a:defRPr>
            </a:pPr>
            <a:r>
              <a:rPr sz="1600" b="1">
                <a:solidFill>
                  <a:srgbClr val="0F2437"/>
                </a:solidFill>
                <a:latin typeface="Segoe UI"/>
              </a:rPr>
              <a:t>89.2%  </a:t>
            </a:r>
            <a:r>
              <a:rPr sz="950" b="1">
                <a:solidFill>
                  <a:srgbClr val="2563EB"/>
                </a:solidFill>
                <a:latin typeface="Segoe UI"/>
              </a:rPr>
              <a:t>— RETENTION RATE</a:t>
            </a:r>
          </a:p>
          <a:p>
            <a:pPr algn="l">
              <a:spcBef>
                <a:spcPts val="0"/>
              </a:spcBef>
              <a:spcAft>
                <a:spcPts val="300"/>
              </a:spcAft>
              <a:defRPr sz="850" b="0" i="0">
                <a:solidFill>
                  <a:srgbClr val="475569"/>
                </a:solidFill>
                <a:latin typeface="Segoe UI"/>
              </a:defRPr>
            </a:pPr>
            <a:r>
              <a:rPr sz="850" b="0" i="0">
                <a:solidFill>
                  <a:srgbClr val="475569"/>
                </a:solidFill>
                <a:latin typeface="Segoe UI"/>
              </a:rPr>
              <a:t>Tingkat loyalitas karyawan aktif</a:t>
            </a:r>
          </a:p>
        </p:txBody>
      </p:sp>
      <p:sp>
        <p:nvSpPr>
          <p:cNvPr id="14" name="Rounded Rectangle 13"/>
          <p:cNvSpPr/>
          <p:nvPr/>
        </p:nvSpPr>
        <p:spPr>
          <a:xfrm>
            <a:off x="7315200" y="3566160"/>
            <a:ext cx="3931920" cy="749808"/>
          </a:xfrm>
          <a:prstGeom prst="roundRect">
            <a:avLst>
              <a:gd name="adj" fmla="val 4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3639312"/>
            <a:ext cx="3657600" cy="621792"/>
          </a:xfrm>
          <a:prstGeom prst="rect">
            <a:avLst/>
          </a:prstGeom>
          <a:noFill/>
        </p:spPr>
        <p:txBody>
          <a:bodyPr wrap="none" lIns="0" tIns="0">
            <a:spAutoFit/>
          </a:bodyPr>
          <a:lstStyle/>
          <a:p>
            <a:pPr>
              <a:defRPr sz="1600" b="1">
                <a:solidFill>
                  <a:srgbClr val="0F2437"/>
                </a:solidFill>
                <a:latin typeface="Segoe UI"/>
              </a:defRPr>
            </a:pPr>
            <a:r>
              <a:rPr sz="1600" b="1">
                <a:solidFill>
                  <a:srgbClr val="0F2437"/>
                </a:solidFill>
                <a:latin typeface="Segoe UI"/>
              </a:rPr>
              <a:t>10.8%  </a:t>
            </a:r>
            <a:r>
              <a:rPr sz="950" b="1">
                <a:solidFill>
                  <a:srgbClr val="2563EB"/>
                </a:solidFill>
                <a:latin typeface="Segoe UI"/>
              </a:rPr>
              <a:t>— TURNOVER RATE</a:t>
            </a:r>
          </a:p>
          <a:p>
            <a:pPr algn="l">
              <a:spcBef>
                <a:spcPts val="0"/>
              </a:spcBef>
              <a:spcAft>
                <a:spcPts val="300"/>
              </a:spcAft>
              <a:defRPr sz="850" b="0" i="0">
                <a:solidFill>
                  <a:srgbClr val="475569"/>
                </a:solidFill>
                <a:latin typeface="Segoe UI"/>
              </a:defRPr>
            </a:pPr>
            <a:r>
              <a:rPr sz="850" b="0" i="0">
                <a:solidFill>
                  <a:srgbClr val="475569"/>
                </a:solidFill>
                <a:latin typeface="Segoe UI"/>
              </a:rPr>
              <a:t>Tingkat atrisi teridentifikasi</a:t>
            </a:r>
          </a:p>
        </p:txBody>
      </p:sp>
      <p:sp>
        <p:nvSpPr>
          <p:cNvPr id="16" name="TextBox 15"/>
          <p:cNvSpPr txBox="1"/>
          <p:nvPr/>
        </p:nvSpPr>
        <p:spPr>
          <a:xfrm>
            <a:off x="7315200" y="4572000"/>
            <a:ext cx="3931920" cy="1737360"/>
          </a:xfrm>
          <a:prstGeom prst="rect">
            <a:avLst/>
          </a:prstGeom>
          <a:noFill/>
        </p:spPr>
        <p:txBody>
          <a:bodyPr wrap="square" lIns="0" tIns="0">
            <a:spAutoFit/>
          </a:bodyPr>
          <a:lstStyle/>
          <a:p>
            <a:pPr algn="l">
              <a:spcBef>
                <a:spcPts val="0"/>
              </a:spcBef>
              <a:spcAft>
                <a:spcPts val="300"/>
              </a:spcAft>
              <a:defRPr sz="1000" b="1" i="0">
                <a:solidFill>
                  <a:srgbClr val="0F2437"/>
                </a:solidFill>
                <a:latin typeface="Segoe UI"/>
              </a:defRPr>
            </a:pPr>
            <a:r>
              <a:rPr sz="1000" b="1" i="0">
                <a:solidFill>
                  <a:srgbClr val="0F2437"/>
                </a:solidFill>
                <a:latin typeface="Segoe UI"/>
              </a:rPr>
              <a:t>STRATEGIC HR INSIGHTS:</a:t>
            </a:r>
          </a:p>
          <a:p>
            <a:pPr algn="l">
              <a:spcBef>
                <a:spcPts val="0"/>
              </a:spcBef>
              <a:spcAft>
                <a:spcPts val="300"/>
              </a:spcAft>
              <a:defRPr sz="850" b="0" i="0">
                <a:solidFill>
                  <a:srgbClr val="0F172A"/>
                </a:solidFill>
                <a:latin typeface="Segoe UI"/>
              </a:defRPr>
            </a:pPr>
            <a:r>
              <a:rPr sz="850" b="0" i="0">
                <a:solidFill>
                  <a:srgbClr val="0F172A"/>
                </a:solidFill>
                <a:latin typeface="Segoe UI"/>
              </a:rPr>
              <a:t>• Kompensasi vs Performa: Analisis scatter plot mengidentifikasi retensi talenta berkinerja tinggi rentan terhadap stagnasi gaji.</a:t>
            </a:r>
          </a:p>
          <a:p>
            <a:pPr algn="l">
              <a:spcBef>
                <a:spcPts val="0"/>
              </a:spcBef>
              <a:spcAft>
                <a:spcPts val="300"/>
              </a:spcAft>
              <a:defRPr sz="850" b="0" i="0">
                <a:solidFill>
                  <a:srgbClr val="0F172A"/>
                </a:solidFill>
                <a:latin typeface="Segoe UI"/>
              </a:defRPr>
            </a:pPr>
            <a:r>
              <a:rPr sz="850" b="0" i="0">
                <a:solidFill>
                  <a:srgbClr val="0F172A"/>
                </a:solidFill>
                <a:latin typeface="Segoe UI"/>
              </a:rPr>
              <a:t>• Geographic Mapping: Visualisasi sebaran kantor cabang membantu pemerataan beban kerja dan perencanaan tunjangan regional.</a:t>
            </a:r>
          </a:p>
          <a:p>
            <a:pPr algn="l">
              <a:spcBef>
                <a:spcPts val="0"/>
              </a:spcBef>
              <a:spcAft>
                <a:spcPts val="300"/>
              </a:spcAft>
              <a:defRPr sz="850" b="0" i="0">
                <a:solidFill>
                  <a:srgbClr val="0F172A"/>
                </a:solidFill>
                <a:latin typeface="Segoe UI"/>
              </a:defRPr>
            </a:pPr>
            <a:r>
              <a:rPr sz="850" b="0" i="0">
                <a:solidFill>
                  <a:srgbClr val="0F172A"/>
                </a:solidFill>
                <a:latin typeface="Segoe UI"/>
              </a:rPr>
              <a:t>• Rekomendasi Kebijakan: Penyesuaian skema review performa semesteran untuk memitigasi turnover pada divisi berisiko tinggi.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PROJECT 03: AGENTIC AI AUTOMATION</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Autonomous Multi-Agent AI Video Pipeline</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Orkestrasi agen otonom dengan Google Antigravity untuk kurasi &amp; rendering video pendek berkecepatan tinggi.</a:t>
            </a:r>
          </a:p>
        </p:txBody>
      </p:sp>
      <p:sp>
        <p:nvSpPr>
          <p:cNvPr id="6" name="Rounded Rectangle 5"/>
          <p:cNvSpPr/>
          <p:nvPr/>
        </p:nvSpPr>
        <p:spPr>
          <a:xfrm>
            <a:off x="731520" y="1691640"/>
            <a:ext cx="3383280" cy="8686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55648"/>
            <a:ext cx="3108960" cy="731520"/>
          </a:xfrm>
          <a:prstGeom prst="rect">
            <a:avLst/>
          </a:prstGeom>
          <a:noFill/>
        </p:spPr>
        <p:txBody>
          <a:bodyPr wrap="square" lIns="0" tIns="0">
            <a:spAutoFit/>
          </a:bodyPr>
          <a:lstStyle/>
          <a:p>
            <a:pPr>
              <a:defRPr sz="1700" b="1">
                <a:solidFill>
                  <a:srgbClr val="2563EB"/>
                </a:solidFill>
                <a:latin typeface="Segoe UI"/>
              </a:defRPr>
            </a:pPr>
            <a:r>
              <a:rPr sz="1700" b="1">
                <a:solidFill>
                  <a:srgbClr val="2563EB"/>
                </a:solidFill>
                <a:latin typeface="Segoe UI"/>
              </a:rPr>
              <a:t>~70% </a:t>
            </a:r>
            <a:r>
              <a:rPr sz="950" b="1">
                <a:solidFill>
                  <a:srgbClr val="0F2437"/>
                </a:solidFill>
                <a:latin typeface="Segoe UI"/>
              </a:rPr>
              <a:t> REDUKSI TURNAROUND</a:t>
            </a:r>
          </a:p>
          <a:p>
            <a:pPr algn="l">
              <a:spcBef>
                <a:spcPts val="0"/>
              </a:spcBef>
              <a:spcAft>
                <a:spcPts val="300"/>
              </a:spcAft>
              <a:defRPr sz="800" b="0" i="0">
                <a:solidFill>
                  <a:srgbClr val="475569"/>
                </a:solidFill>
                <a:latin typeface="Segoe UI"/>
              </a:defRPr>
            </a:pPr>
            <a:r>
              <a:rPr sz="800" b="0" i="0">
                <a:solidFill>
                  <a:srgbClr val="475569"/>
                </a:solidFill>
                <a:latin typeface="Segoe UI"/>
              </a:rPr>
              <a:t>Penyusutan waktu dari transkrip mentah ke video siap tayang.</a:t>
            </a:r>
          </a:p>
        </p:txBody>
      </p:sp>
      <p:sp>
        <p:nvSpPr>
          <p:cNvPr id="8" name="Rounded Rectangle 7"/>
          <p:cNvSpPr/>
          <p:nvPr/>
        </p:nvSpPr>
        <p:spPr>
          <a:xfrm>
            <a:off x="4389120" y="1691640"/>
            <a:ext cx="3383280" cy="8686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55648"/>
            <a:ext cx="3108960" cy="731520"/>
          </a:xfrm>
          <a:prstGeom prst="rect">
            <a:avLst/>
          </a:prstGeom>
          <a:noFill/>
        </p:spPr>
        <p:txBody>
          <a:bodyPr wrap="square" lIns="0" tIns="0">
            <a:spAutoFit/>
          </a:bodyPr>
          <a:lstStyle/>
          <a:p>
            <a:pPr>
              <a:defRPr sz="1700" b="1">
                <a:solidFill>
                  <a:srgbClr val="2563EB"/>
                </a:solidFill>
                <a:latin typeface="Segoe UI"/>
              </a:defRPr>
            </a:pPr>
            <a:r>
              <a:rPr sz="1700" b="1">
                <a:solidFill>
                  <a:srgbClr val="2563EB"/>
                </a:solidFill>
                <a:latin typeface="Segoe UI"/>
              </a:rPr>
              <a:t>3x </a:t>
            </a:r>
            <a:r>
              <a:rPr sz="950" b="1">
                <a:solidFill>
                  <a:srgbClr val="0F2437"/>
                </a:solidFill>
                <a:latin typeface="Segoe UI"/>
              </a:rPr>
              <a:t> VOLUME PRODUKSI</a:t>
            </a:r>
          </a:p>
          <a:p>
            <a:pPr algn="l">
              <a:spcBef>
                <a:spcPts val="0"/>
              </a:spcBef>
              <a:spcAft>
                <a:spcPts val="300"/>
              </a:spcAft>
              <a:defRPr sz="800" b="0" i="0">
                <a:solidFill>
                  <a:srgbClr val="475569"/>
                </a:solidFill>
                <a:latin typeface="Segoe UI"/>
              </a:defRPr>
            </a:pPr>
            <a:r>
              <a:rPr sz="800" b="0" i="0">
                <a:solidFill>
                  <a:srgbClr val="475569"/>
                </a:solidFill>
                <a:latin typeface="Segoe UI"/>
              </a:rPr>
              <a:t>Peningkatan output klip pendek harian multi-platform.</a:t>
            </a:r>
          </a:p>
        </p:txBody>
      </p:sp>
      <p:sp>
        <p:nvSpPr>
          <p:cNvPr id="10" name="Rounded Rectangle 9"/>
          <p:cNvSpPr/>
          <p:nvPr/>
        </p:nvSpPr>
        <p:spPr>
          <a:xfrm>
            <a:off x="8046720" y="1691640"/>
            <a:ext cx="3383280" cy="8686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755648"/>
            <a:ext cx="3108960" cy="731520"/>
          </a:xfrm>
          <a:prstGeom prst="rect">
            <a:avLst/>
          </a:prstGeom>
          <a:noFill/>
        </p:spPr>
        <p:txBody>
          <a:bodyPr wrap="square" lIns="0" tIns="0">
            <a:spAutoFit/>
          </a:bodyPr>
          <a:lstStyle/>
          <a:p>
            <a:pPr>
              <a:defRPr sz="1700" b="1">
                <a:solidFill>
                  <a:srgbClr val="2563EB"/>
                </a:solidFill>
                <a:latin typeface="Segoe UI"/>
              </a:defRPr>
            </a:pPr>
            <a:r>
              <a:rPr sz="1700" b="1">
                <a:solidFill>
                  <a:srgbClr val="2563EB"/>
                </a:solidFill>
                <a:latin typeface="Segoe UI"/>
              </a:rPr>
              <a:t>100% </a:t>
            </a:r>
            <a:r>
              <a:rPr sz="950" b="1">
                <a:solidFill>
                  <a:srgbClr val="0F2437"/>
                </a:solidFill>
                <a:latin typeface="Segoe UI"/>
              </a:rPr>
              <a:t> KONSISTENSI BRANDING</a:t>
            </a:r>
          </a:p>
          <a:p>
            <a:pPr algn="l">
              <a:spcBef>
                <a:spcPts val="0"/>
              </a:spcBef>
              <a:spcAft>
                <a:spcPts val="300"/>
              </a:spcAft>
              <a:defRPr sz="800" b="0" i="0">
                <a:solidFill>
                  <a:srgbClr val="475569"/>
                </a:solidFill>
                <a:latin typeface="Segoe UI"/>
              </a:defRPr>
            </a:pPr>
            <a:r>
              <a:rPr sz="800" b="0" i="0">
                <a:solidFill>
                  <a:srgbClr val="475569"/>
                </a:solidFill>
                <a:latin typeface="Segoe UI"/>
              </a:rPr>
              <a:t>Automated subtitling, aspect ratio 9:16, and b-roll placement.</a:t>
            </a:r>
          </a:p>
        </p:txBody>
      </p:sp>
      <p:sp>
        <p:nvSpPr>
          <p:cNvPr id="12" name="Rounded Rectangle 11"/>
          <p:cNvSpPr/>
          <p:nvPr/>
        </p:nvSpPr>
        <p:spPr>
          <a:xfrm>
            <a:off x="731520" y="2697480"/>
            <a:ext cx="3383280" cy="37033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697480"/>
            <a:ext cx="33832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62072"/>
            <a:ext cx="3017520" cy="3429000"/>
          </a:xfrm>
          <a:prstGeom prst="rect">
            <a:avLst/>
          </a:prstGeom>
          <a:noFill/>
        </p:spPr>
        <p:txBody>
          <a:bodyPr wrap="square" lIns="0" tIns="0">
            <a:spAutoFit/>
          </a:bodyPr>
          <a:lstStyle/>
          <a:p>
            <a:pPr algn="l">
              <a:spcBef>
                <a:spcPts val="0"/>
              </a:spcBef>
              <a:spcAft>
                <a:spcPts val="100"/>
              </a:spcAft>
              <a:defRPr sz="900" b="1" i="0">
                <a:solidFill>
                  <a:srgbClr val="2563EB"/>
                </a:solidFill>
                <a:latin typeface="Segoe UI"/>
              </a:defRPr>
            </a:pPr>
            <a:r>
              <a:rPr sz="900" b="1" i="0">
                <a:solidFill>
                  <a:srgbClr val="2563EB"/>
                </a:solidFill>
                <a:latin typeface="Segoe UI"/>
              </a:rPr>
              <a:t>AGEN 01: INGESTION &amp; HOOK ANALYZER</a:t>
            </a:r>
          </a:p>
          <a:p>
            <a:pPr algn="l">
              <a:spcBef>
                <a:spcPts val="0"/>
              </a:spcBef>
              <a:spcAft>
                <a:spcPts val="400"/>
              </a:spcAft>
              <a:defRPr sz="1200" b="1" i="0">
                <a:solidFill>
                  <a:srgbClr val="0F2437"/>
                </a:solidFill>
                <a:latin typeface="Segoe UI"/>
              </a:defRPr>
            </a:pPr>
            <a:r>
              <a:rPr sz="1200" b="1" i="0">
                <a:solidFill>
                  <a:srgbClr val="0F2437"/>
                </a:solidFill>
                <a:latin typeface="Segoe UI"/>
              </a:rPr>
              <a:t>Content Intelligence &amp; Selection</a:t>
            </a:r>
          </a:p>
          <a:p>
            <a:pPr algn="l">
              <a:spcBef>
                <a:spcPts val="0"/>
              </a:spcBef>
              <a:spcAft>
                <a:spcPts val="800"/>
              </a:spcAft>
              <a:defRPr sz="850" b="0" i="0">
                <a:solidFill>
                  <a:srgbClr val="0F172A"/>
                </a:solidFill>
                <a:latin typeface="Segoe UI"/>
              </a:defRPr>
            </a:pPr>
            <a:r>
              <a:rPr sz="850" b="0" i="0">
                <a:solidFill>
                  <a:srgbClr val="0F172A"/>
                </a:solidFill>
                <a:latin typeface="Segoe UI"/>
              </a:rPr>
              <a:t>Mengekstrak transkrip audio podcast berdurasi panjang dengan timestamp presisi. Menganalisis densitas emosi, keyword virality, dan mengidentifikasi potensi 'golden moments' 30-60 detik.</a:t>
            </a:r>
          </a:p>
          <a:p>
            <a:pPr algn="l">
              <a:spcBef>
                <a:spcPts val="0"/>
              </a:spcBef>
              <a:spcAft>
                <a:spcPts val="200"/>
              </a:spcAft>
              <a:defRPr sz="800" b="1" i="0">
                <a:solidFill>
                  <a:srgbClr val="1E3A8A"/>
                </a:solidFill>
                <a:latin typeface="Segoe UI"/>
              </a:defRPr>
            </a:pPr>
            <a:r>
              <a:rPr sz="800" b="1" i="0">
                <a:solidFill>
                  <a:srgbClr val="1E3A8A"/>
                </a:solidFill>
                <a:latin typeface="Segoe UI"/>
              </a:rPr>
              <a:t>▸ Input: Audio/Video Podcast Mentah + Metadata</a:t>
            </a:r>
          </a:p>
          <a:p>
            <a:pPr algn="l">
              <a:spcBef>
                <a:spcPts val="0"/>
              </a:spcBef>
              <a:spcAft>
                <a:spcPts val="800"/>
              </a:spcAft>
              <a:defRPr sz="800" b="1" i="0">
                <a:solidFill>
                  <a:srgbClr val="059669"/>
                </a:solidFill>
                <a:latin typeface="Segoe UI"/>
              </a:defRPr>
            </a:pPr>
            <a:r>
              <a:rPr sz="800" b="1" i="0">
                <a:solidFill>
                  <a:srgbClr val="059669"/>
                </a:solidFill>
                <a:latin typeface="Segoe UI"/>
              </a:rPr>
              <a:t>▸ Output: Timestamped Golden Segments &amp; Hook Score</a:t>
            </a:r>
          </a:p>
          <a:p>
            <a:pPr algn="l">
              <a:spcBef>
                <a:spcPts val="0"/>
              </a:spcBef>
              <a:spcAft>
                <a:spcPts val="300"/>
              </a:spcAft>
              <a:defRPr sz="800" b="0" i="1">
                <a:solidFill>
                  <a:srgbClr val="475569"/>
                </a:solidFill>
                <a:latin typeface="Segoe UI"/>
              </a:defRPr>
            </a:pPr>
            <a:r>
              <a:rPr sz="800" b="0" i="1">
                <a:solidFill>
                  <a:srgbClr val="475569"/>
                </a:solidFill>
                <a:latin typeface="Segoe UI"/>
              </a:rPr>
              <a:t>Stack: Python, Speech-to-Text API, Semantic Scoring</a:t>
            </a:r>
          </a:p>
        </p:txBody>
      </p:sp>
      <p:sp>
        <p:nvSpPr>
          <p:cNvPr id="15" name="Rounded Rectangle 14"/>
          <p:cNvSpPr/>
          <p:nvPr/>
        </p:nvSpPr>
        <p:spPr>
          <a:xfrm>
            <a:off x="4389120" y="2697480"/>
            <a:ext cx="3383280" cy="37033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2697480"/>
            <a:ext cx="33832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2862072"/>
            <a:ext cx="3017520" cy="3429000"/>
          </a:xfrm>
          <a:prstGeom prst="rect">
            <a:avLst/>
          </a:prstGeom>
          <a:noFill/>
        </p:spPr>
        <p:txBody>
          <a:bodyPr wrap="square" lIns="0" tIns="0">
            <a:spAutoFit/>
          </a:bodyPr>
          <a:lstStyle/>
          <a:p>
            <a:pPr algn="l">
              <a:spcBef>
                <a:spcPts val="0"/>
              </a:spcBef>
              <a:spcAft>
                <a:spcPts val="100"/>
              </a:spcAft>
              <a:defRPr sz="900" b="1" i="0">
                <a:solidFill>
                  <a:srgbClr val="2563EB"/>
                </a:solidFill>
                <a:latin typeface="Segoe UI"/>
              </a:defRPr>
            </a:pPr>
            <a:r>
              <a:rPr sz="900" b="1" i="0">
                <a:solidFill>
                  <a:srgbClr val="2563EB"/>
                </a:solidFill>
                <a:latin typeface="Segoe UI"/>
              </a:rPr>
              <a:t>AGEN 02: ADAPTATION &amp; SCRIPT SYNTHESIS</a:t>
            </a:r>
          </a:p>
          <a:p>
            <a:pPr algn="l">
              <a:spcBef>
                <a:spcPts val="0"/>
              </a:spcBef>
              <a:spcAft>
                <a:spcPts val="400"/>
              </a:spcAft>
              <a:defRPr sz="1200" b="1" i="0">
                <a:solidFill>
                  <a:srgbClr val="0F2437"/>
                </a:solidFill>
                <a:latin typeface="Segoe UI"/>
              </a:defRPr>
            </a:pPr>
            <a:r>
              <a:rPr sz="1200" b="1" i="0">
                <a:solidFill>
                  <a:srgbClr val="0F2437"/>
                </a:solidFill>
                <a:latin typeface="Segoe UI"/>
              </a:rPr>
              <a:t>Narrative Structuring &amp; Pacing</a:t>
            </a:r>
          </a:p>
          <a:p>
            <a:pPr algn="l">
              <a:spcBef>
                <a:spcPts val="0"/>
              </a:spcBef>
              <a:spcAft>
                <a:spcPts val="800"/>
              </a:spcAft>
              <a:defRPr sz="850" b="0" i="0">
                <a:solidFill>
                  <a:srgbClr val="0F172A"/>
                </a:solidFill>
                <a:latin typeface="Segoe UI"/>
              </a:defRPr>
            </a:pPr>
            <a:r>
              <a:rPr sz="850" b="0" i="0">
                <a:solidFill>
                  <a:srgbClr val="0F172A"/>
                </a:solidFill>
                <a:latin typeface="Segoe UI"/>
              </a:rPr>
              <a:t>Mengolah transkrip mentah menjadi format vertical short-form (9:16). Menambahkan formula hook 3 detik pembuka, teks ringkas berdaya pikat tinggi, serta instruksi transisi visual.</a:t>
            </a:r>
          </a:p>
          <a:p>
            <a:pPr algn="l">
              <a:spcBef>
                <a:spcPts val="0"/>
              </a:spcBef>
              <a:spcAft>
                <a:spcPts val="200"/>
              </a:spcAft>
              <a:defRPr sz="800" b="1" i="0">
                <a:solidFill>
                  <a:srgbClr val="1E3A8A"/>
                </a:solidFill>
                <a:latin typeface="Segoe UI"/>
              </a:defRPr>
            </a:pPr>
            <a:r>
              <a:rPr sz="800" b="1" i="0">
                <a:solidFill>
                  <a:srgbClr val="1E3A8A"/>
                </a:solidFill>
                <a:latin typeface="Segoe UI"/>
              </a:rPr>
              <a:t>▸ Input: Golden Segments Transcripts</a:t>
            </a:r>
          </a:p>
          <a:p>
            <a:pPr algn="l">
              <a:spcBef>
                <a:spcPts val="0"/>
              </a:spcBef>
              <a:spcAft>
                <a:spcPts val="800"/>
              </a:spcAft>
              <a:defRPr sz="800" b="1" i="0">
                <a:solidFill>
                  <a:srgbClr val="059669"/>
                </a:solidFill>
                <a:latin typeface="Segoe UI"/>
              </a:defRPr>
            </a:pPr>
            <a:r>
              <a:rPr sz="800" b="1" i="0">
                <a:solidFill>
                  <a:srgbClr val="059669"/>
                </a:solidFill>
                <a:latin typeface="Segoe UI"/>
              </a:rPr>
              <a:t>▸ Output: 9:16 Structured Script + B-Roll Prompts</a:t>
            </a:r>
          </a:p>
          <a:p>
            <a:pPr algn="l">
              <a:spcBef>
                <a:spcPts val="0"/>
              </a:spcBef>
              <a:spcAft>
                <a:spcPts val="300"/>
              </a:spcAft>
              <a:defRPr sz="800" b="0" i="1">
                <a:solidFill>
                  <a:srgbClr val="475569"/>
                </a:solidFill>
                <a:latin typeface="Segoe UI"/>
              </a:defRPr>
            </a:pPr>
            <a:r>
              <a:rPr sz="800" b="0" i="1">
                <a:solidFill>
                  <a:srgbClr val="475569"/>
                </a:solidFill>
                <a:latin typeface="Segoe UI"/>
              </a:rPr>
              <a:t>Stack: Google Antigravity Multi-agent, Prompting</a:t>
            </a:r>
          </a:p>
        </p:txBody>
      </p:sp>
      <p:sp>
        <p:nvSpPr>
          <p:cNvPr id="18" name="Rounded Rectangle 17"/>
          <p:cNvSpPr/>
          <p:nvPr/>
        </p:nvSpPr>
        <p:spPr>
          <a:xfrm>
            <a:off x="8046720" y="2697480"/>
            <a:ext cx="3383280" cy="37033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2697480"/>
            <a:ext cx="3383280" cy="73152"/>
          </a:xfrm>
          <a:prstGeom prst="rect">
            <a:avLst/>
          </a:prstGeom>
          <a:solidFill>
            <a:srgbClr val="0F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2862072"/>
            <a:ext cx="3017520" cy="3429000"/>
          </a:xfrm>
          <a:prstGeom prst="rect">
            <a:avLst/>
          </a:prstGeom>
          <a:noFill/>
        </p:spPr>
        <p:txBody>
          <a:bodyPr wrap="square" lIns="0" tIns="0">
            <a:spAutoFit/>
          </a:bodyPr>
          <a:lstStyle/>
          <a:p>
            <a:pPr algn="l">
              <a:spcBef>
                <a:spcPts val="0"/>
              </a:spcBef>
              <a:spcAft>
                <a:spcPts val="100"/>
              </a:spcAft>
              <a:defRPr sz="900" b="1" i="0">
                <a:solidFill>
                  <a:srgbClr val="2563EB"/>
                </a:solidFill>
                <a:latin typeface="Segoe UI"/>
              </a:defRPr>
            </a:pPr>
            <a:r>
              <a:rPr sz="900" b="1" i="0">
                <a:solidFill>
                  <a:srgbClr val="2563EB"/>
                </a:solidFill>
                <a:latin typeface="Segoe UI"/>
              </a:rPr>
              <a:t>AGEN 03: PROGRAMMATIC VIDEO ASSEMBLER</a:t>
            </a:r>
          </a:p>
          <a:p>
            <a:pPr algn="l">
              <a:spcBef>
                <a:spcPts val="0"/>
              </a:spcBef>
              <a:spcAft>
                <a:spcPts val="400"/>
              </a:spcAft>
              <a:defRPr sz="1200" b="1" i="0">
                <a:solidFill>
                  <a:srgbClr val="0F2437"/>
                </a:solidFill>
                <a:latin typeface="Segoe UI"/>
              </a:defRPr>
            </a:pPr>
            <a:r>
              <a:rPr sz="1200" b="1" i="0">
                <a:solidFill>
                  <a:srgbClr val="0F2437"/>
                </a:solidFill>
                <a:latin typeface="Segoe UI"/>
              </a:rPr>
              <a:t>Automated Editing Execution</a:t>
            </a:r>
          </a:p>
          <a:p>
            <a:pPr algn="l">
              <a:spcBef>
                <a:spcPts val="0"/>
              </a:spcBef>
              <a:spcAft>
                <a:spcPts val="800"/>
              </a:spcAft>
              <a:defRPr sz="850" b="0" i="0">
                <a:solidFill>
                  <a:srgbClr val="0F172A"/>
                </a:solidFill>
                <a:latin typeface="Segoe UI"/>
              </a:defRPr>
            </a:pPr>
            <a:r>
              <a:rPr sz="850" b="0" i="0">
                <a:solidFill>
                  <a:srgbClr val="0F172A"/>
                </a:solidFill>
                <a:latin typeface="Segoe UI"/>
              </a:rPr>
              <a:t>Mengeksekusi otomasi editing melalui script CapCut &amp; FFmpeg. Menghasilkan automated dynamic subtitles, visual sound effects, auto-framing pembicara, dan ekspor batch resolusi tinggi.</a:t>
            </a:r>
          </a:p>
          <a:p>
            <a:pPr algn="l">
              <a:spcBef>
                <a:spcPts val="0"/>
              </a:spcBef>
              <a:spcAft>
                <a:spcPts val="200"/>
              </a:spcAft>
              <a:defRPr sz="800" b="1" i="0">
                <a:solidFill>
                  <a:srgbClr val="1E3A8A"/>
                </a:solidFill>
                <a:latin typeface="Segoe UI"/>
              </a:defRPr>
            </a:pPr>
            <a:r>
              <a:rPr sz="800" b="1" i="0">
                <a:solidFill>
                  <a:srgbClr val="1E3A8A"/>
                </a:solidFill>
                <a:latin typeface="Segoe UI"/>
              </a:rPr>
              <a:t>▸ Input: Structured Script + Timeline Directives</a:t>
            </a:r>
          </a:p>
          <a:p>
            <a:pPr algn="l">
              <a:spcBef>
                <a:spcPts val="0"/>
              </a:spcBef>
              <a:spcAft>
                <a:spcPts val="800"/>
              </a:spcAft>
              <a:defRPr sz="800" b="1" i="0">
                <a:solidFill>
                  <a:srgbClr val="059669"/>
                </a:solidFill>
                <a:latin typeface="Segoe UI"/>
              </a:defRPr>
            </a:pPr>
            <a:r>
              <a:rPr sz="800" b="1" i="0">
                <a:solidFill>
                  <a:srgbClr val="059669"/>
                </a:solidFill>
                <a:latin typeface="Segoe UI"/>
              </a:rPr>
              <a:t>▸ Output: Final 1080x1920 MP4 Ready-to-Publish</a:t>
            </a:r>
          </a:p>
          <a:p>
            <a:pPr algn="l">
              <a:spcBef>
                <a:spcPts val="0"/>
              </a:spcBef>
              <a:spcAft>
                <a:spcPts val="300"/>
              </a:spcAft>
              <a:defRPr sz="800" b="0" i="1">
                <a:solidFill>
                  <a:srgbClr val="475569"/>
                </a:solidFill>
                <a:latin typeface="Segoe UI"/>
              </a:defRPr>
            </a:pPr>
            <a:r>
              <a:rPr sz="800" b="0" i="1">
                <a:solidFill>
                  <a:srgbClr val="475569"/>
                </a:solidFill>
                <a:latin typeface="Segoe UI"/>
              </a:rPr>
              <a:t>Stack: FFmpeg Engine, CapCut API / Scripting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PROJECT 04: COMMERCIAL ANALYTICS</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Amazon Commercial Sales &amp; Regional Profitability</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Eksplorasi data transaksi e-commerce multi-regional untuk optimalisasi marjin dan logistik.</a:t>
            </a:r>
          </a:p>
        </p:txBody>
      </p:sp>
      <p:sp>
        <p:nvSpPr>
          <p:cNvPr id="6" name="Rounded Rectangle 5"/>
          <p:cNvSpPr/>
          <p:nvPr/>
        </p:nvSpPr>
        <p:spPr>
          <a:xfrm>
            <a:off x="731520" y="1691640"/>
            <a:ext cx="3383280" cy="33375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56232"/>
            <a:ext cx="3017520" cy="3063240"/>
          </a:xfrm>
          <a:prstGeom prst="rect">
            <a:avLst/>
          </a:prstGeom>
          <a:noFill/>
        </p:spPr>
        <p:txBody>
          <a:bodyPr wrap="square" lIns="0" tIns="0">
            <a:spAutoFit/>
          </a:bodyPr>
          <a:lstStyle/>
          <a:p>
            <a:pPr algn="l">
              <a:spcBef>
                <a:spcPts val="0"/>
              </a:spcBef>
              <a:spcAft>
                <a:spcPts val="100"/>
              </a:spcAft>
              <a:defRPr sz="900" b="1" i="0">
                <a:solidFill>
                  <a:srgbClr val="2563EB"/>
                </a:solidFill>
                <a:latin typeface="Segoe UI"/>
              </a:defRPr>
            </a:pPr>
            <a:r>
              <a:rPr sz="900" b="1" i="0">
                <a:solidFill>
                  <a:srgbClr val="2563EB"/>
                </a:solidFill>
                <a:latin typeface="Segoe UI"/>
              </a:rPr>
              <a:t>ANALISIS 01</a:t>
            </a:r>
          </a:p>
          <a:p>
            <a:pPr algn="l">
              <a:spcBef>
                <a:spcPts val="0"/>
              </a:spcBef>
              <a:spcAft>
                <a:spcPts val="400"/>
              </a:spcAft>
              <a:defRPr sz="1200" b="1" i="0">
                <a:solidFill>
                  <a:srgbClr val="0F2437"/>
                </a:solidFill>
                <a:latin typeface="Segoe UI"/>
              </a:defRPr>
            </a:pPr>
            <a:r>
              <a:rPr sz="1200" b="1" i="0">
                <a:solidFill>
                  <a:srgbClr val="0F2437"/>
                </a:solidFill>
                <a:latin typeface="Segoe UI"/>
              </a:rPr>
              <a:t>Profitabilitas Regional &amp; Logistik</a:t>
            </a:r>
          </a:p>
          <a:p>
            <a:pPr algn="l">
              <a:spcBef>
                <a:spcPts val="0"/>
              </a:spcBef>
              <a:spcAft>
                <a:spcPts val="300"/>
              </a:spcAft>
              <a:defRPr sz="850" b="0" i="0">
                <a:solidFill>
                  <a:srgbClr val="0F172A"/>
                </a:solidFill>
                <a:latin typeface="Segoe UI"/>
              </a:defRPr>
            </a:pPr>
            <a:r>
              <a:rPr sz="850" b="0" i="0">
                <a:solidFill>
                  <a:srgbClr val="0F172A"/>
                </a:solidFill>
                <a:latin typeface="Segoe UI"/>
              </a:rPr>
              <a:t>• Pemetaan pendapatan kotor vs net margin di seluruh regional pasar komersial.</a:t>
            </a:r>
          </a:p>
          <a:p>
            <a:pPr algn="l">
              <a:spcBef>
                <a:spcPts val="0"/>
              </a:spcBef>
              <a:spcAft>
                <a:spcPts val="300"/>
              </a:spcAft>
              <a:defRPr sz="850" b="0" i="0">
                <a:solidFill>
                  <a:srgbClr val="0F172A"/>
                </a:solidFill>
                <a:latin typeface="Segoe UI"/>
              </a:defRPr>
            </a:pPr>
            <a:r>
              <a:rPr sz="850" b="0" i="0">
                <a:solidFill>
                  <a:srgbClr val="0F172A"/>
                </a:solidFill>
                <a:latin typeface="Segoe UI"/>
              </a:rPr>
              <a:t>• Mengidentifikasi anomali di mana volume transaksi tinggi pada state tertentu mengalami erosi profit akibat tingginya biaya ongkos kirim (shipping freight).</a:t>
            </a:r>
          </a:p>
          <a:p>
            <a:pPr algn="l">
              <a:spcBef>
                <a:spcPts val="0"/>
              </a:spcBef>
              <a:spcAft>
                <a:spcPts val="300"/>
              </a:spcAft>
              <a:defRPr sz="850" b="0" i="0">
                <a:solidFill>
                  <a:srgbClr val="0F172A"/>
                </a:solidFill>
                <a:latin typeface="Segoe UI"/>
              </a:defRPr>
            </a:pPr>
            <a:r>
              <a:rPr sz="850" b="0" i="0">
                <a:solidFill>
                  <a:srgbClr val="0F172A"/>
                </a:solidFill>
                <a:latin typeface="Segoe UI"/>
              </a:rPr>
              <a:t>• Rekomendasi: Penyesuaian threshold minimum basket size untuk gratis ongkir di zona logistik jauh.</a:t>
            </a:r>
          </a:p>
          <a:p>
            <a:pPr algn="l">
              <a:spcBef>
                <a:spcPts val="600"/>
              </a:spcBef>
              <a:spcAft>
                <a:spcPts val="300"/>
              </a:spcAft>
              <a:defRPr sz="900" b="1" i="0">
                <a:solidFill>
                  <a:srgbClr val="1E3A8A"/>
                </a:solidFill>
                <a:latin typeface="Segoe UI"/>
              </a:defRPr>
            </a:pPr>
            <a:r>
              <a:rPr sz="900" b="1" i="0">
                <a:solidFill>
                  <a:srgbClr val="1E3A8A"/>
                </a:solidFill>
                <a:latin typeface="Segoe UI"/>
              </a:rPr>
              <a:t>★ +4.2% Potensi Pemulihan Margin</a:t>
            </a:r>
          </a:p>
        </p:txBody>
      </p:sp>
      <p:sp>
        <p:nvSpPr>
          <p:cNvPr id="8" name="Rounded Rectangle 7"/>
          <p:cNvSpPr/>
          <p:nvPr/>
        </p:nvSpPr>
        <p:spPr>
          <a:xfrm>
            <a:off x="4389120" y="1691640"/>
            <a:ext cx="3383280" cy="33375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56232"/>
            <a:ext cx="3017520" cy="3063240"/>
          </a:xfrm>
          <a:prstGeom prst="rect">
            <a:avLst/>
          </a:prstGeom>
          <a:noFill/>
        </p:spPr>
        <p:txBody>
          <a:bodyPr wrap="square" lIns="0" tIns="0">
            <a:spAutoFit/>
          </a:bodyPr>
          <a:lstStyle/>
          <a:p>
            <a:pPr algn="l">
              <a:spcBef>
                <a:spcPts val="0"/>
              </a:spcBef>
              <a:spcAft>
                <a:spcPts val="100"/>
              </a:spcAft>
              <a:defRPr sz="900" b="1" i="0">
                <a:solidFill>
                  <a:srgbClr val="2563EB"/>
                </a:solidFill>
                <a:latin typeface="Segoe UI"/>
              </a:defRPr>
            </a:pPr>
            <a:r>
              <a:rPr sz="900" b="1" i="0">
                <a:solidFill>
                  <a:srgbClr val="2563EB"/>
                </a:solidFill>
                <a:latin typeface="Segoe UI"/>
              </a:rPr>
              <a:t>ANALISIS 02</a:t>
            </a:r>
          </a:p>
          <a:p>
            <a:pPr algn="l">
              <a:spcBef>
                <a:spcPts val="0"/>
              </a:spcBef>
              <a:spcAft>
                <a:spcPts val="400"/>
              </a:spcAft>
              <a:defRPr sz="1200" b="1" i="0">
                <a:solidFill>
                  <a:srgbClr val="0F2437"/>
                </a:solidFill>
                <a:latin typeface="Segoe UI"/>
              </a:defRPr>
            </a:pPr>
            <a:r>
              <a:rPr sz="1200" b="1" i="0">
                <a:solidFill>
                  <a:srgbClr val="0F2437"/>
                </a:solidFill>
                <a:latin typeface="Segoe UI"/>
              </a:rPr>
              <a:t>Kategori Produk &amp; Kontribusi Marjin</a:t>
            </a:r>
          </a:p>
          <a:p>
            <a:pPr algn="l">
              <a:spcBef>
                <a:spcPts val="0"/>
              </a:spcBef>
              <a:spcAft>
                <a:spcPts val="300"/>
              </a:spcAft>
              <a:defRPr sz="850" b="0" i="0">
                <a:solidFill>
                  <a:srgbClr val="0F172A"/>
                </a:solidFill>
                <a:latin typeface="Segoe UI"/>
              </a:defRPr>
            </a:pPr>
            <a:r>
              <a:rPr sz="850" b="0" i="0">
                <a:solidFill>
                  <a:srgbClr val="0F172A"/>
                </a:solidFill>
                <a:latin typeface="Segoe UI"/>
              </a:rPr>
              <a:t>• Penerapan Analisis Pareto (80/20) pada kategori produk (Technology, Office Supplies, Furniture).</a:t>
            </a:r>
          </a:p>
          <a:p>
            <a:pPr algn="l">
              <a:spcBef>
                <a:spcPts val="0"/>
              </a:spcBef>
              <a:spcAft>
                <a:spcPts val="300"/>
              </a:spcAft>
              <a:defRPr sz="850" b="0" i="0">
                <a:solidFill>
                  <a:srgbClr val="0F172A"/>
                </a:solidFill>
                <a:latin typeface="Segoe UI"/>
              </a:defRPr>
            </a:pPr>
            <a:r>
              <a:rPr sz="850" b="0" i="0">
                <a:solidFill>
                  <a:srgbClr val="0F172A"/>
                </a:solidFill>
                <a:latin typeface="Segoe UI"/>
              </a:rPr>
              <a:t>• Memisahkan produk kategori 'High-Volume High-Margin' dari produk 'Cash Trap' yang over-diskon namun menghasilkan profit negatif.</a:t>
            </a:r>
          </a:p>
          <a:p>
            <a:pPr algn="l">
              <a:spcBef>
                <a:spcPts val="0"/>
              </a:spcBef>
              <a:spcAft>
                <a:spcPts val="300"/>
              </a:spcAft>
              <a:defRPr sz="850" b="0" i="0">
                <a:solidFill>
                  <a:srgbClr val="0F172A"/>
                </a:solidFill>
                <a:latin typeface="Segoe UI"/>
              </a:defRPr>
            </a:pPr>
            <a:r>
              <a:rPr sz="850" b="0" i="0">
                <a:solidFill>
                  <a:srgbClr val="0F172A"/>
                </a:solidFill>
                <a:latin typeface="Segoe UI"/>
              </a:rPr>
              <a:t>• Rekomendasi: Re-alokasi anggaran promosi ke sub-kategori bernilai tambah tinggi.</a:t>
            </a:r>
          </a:p>
          <a:p>
            <a:pPr algn="l">
              <a:spcBef>
                <a:spcPts val="600"/>
              </a:spcBef>
              <a:spcAft>
                <a:spcPts val="300"/>
              </a:spcAft>
              <a:defRPr sz="900" b="1" i="0">
                <a:solidFill>
                  <a:srgbClr val="1E3A8A"/>
                </a:solidFill>
                <a:latin typeface="Segoe UI"/>
              </a:defRPr>
            </a:pPr>
            <a:r>
              <a:rPr sz="900" b="1" i="0">
                <a:solidFill>
                  <a:srgbClr val="1E3A8A"/>
                </a:solidFill>
                <a:latin typeface="Segoe UI"/>
              </a:rPr>
              <a:t>★ 80/20 Prinsip Optimalisasi Diskon</a:t>
            </a:r>
          </a:p>
        </p:txBody>
      </p:sp>
      <p:sp>
        <p:nvSpPr>
          <p:cNvPr id="10" name="Rounded Rectangle 9"/>
          <p:cNvSpPr/>
          <p:nvPr/>
        </p:nvSpPr>
        <p:spPr>
          <a:xfrm>
            <a:off x="8046720" y="1691640"/>
            <a:ext cx="3383280" cy="33375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56232"/>
            <a:ext cx="3017520" cy="3063240"/>
          </a:xfrm>
          <a:prstGeom prst="rect">
            <a:avLst/>
          </a:prstGeom>
          <a:noFill/>
        </p:spPr>
        <p:txBody>
          <a:bodyPr wrap="square" lIns="0" tIns="0">
            <a:spAutoFit/>
          </a:bodyPr>
          <a:lstStyle/>
          <a:p>
            <a:pPr algn="l">
              <a:spcBef>
                <a:spcPts val="0"/>
              </a:spcBef>
              <a:spcAft>
                <a:spcPts val="100"/>
              </a:spcAft>
              <a:defRPr sz="900" b="1" i="0">
                <a:solidFill>
                  <a:srgbClr val="2563EB"/>
                </a:solidFill>
                <a:latin typeface="Segoe UI"/>
              </a:defRPr>
            </a:pPr>
            <a:r>
              <a:rPr sz="900" b="1" i="0">
                <a:solidFill>
                  <a:srgbClr val="2563EB"/>
                </a:solidFill>
                <a:latin typeface="Segoe UI"/>
              </a:rPr>
              <a:t>ANALISIS 03</a:t>
            </a:r>
          </a:p>
          <a:p>
            <a:pPr algn="l">
              <a:spcBef>
                <a:spcPts val="0"/>
              </a:spcBef>
              <a:spcAft>
                <a:spcPts val="400"/>
              </a:spcAft>
              <a:defRPr sz="1200" b="1" i="0">
                <a:solidFill>
                  <a:srgbClr val="0F2437"/>
                </a:solidFill>
                <a:latin typeface="Segoe UI"/>
              </a:defRPr>
            </a:pPr>
            <a:r>
              <a:rPr sz="1200" b="1" i="0">
                <a:solidFill>
                  <a:srgbClr val="0F2437"/>
                </a:solidFill>
                <a:latin typeface="Segoe UI"/>
              </a:rPr>
              <a:t>Segmentasi Pelanggan (B2B vs B2C)</a:t>
            </a:r>
          </a:p>
          <a:p>
            <a:pPr algn="l">
              <a:spcBef>
                <a:spcPts val="0"/>
              </a:spcBef>
              <a:spcAft>
                <a:spcPts val="300"/>
              </a:spcAft>
              <a:defRPr sz="850" b="0" i="0">
                <a:solidFill>
                  <a:srgbClr val="0F172A"/>
                </a:solidFill>
                <a:latin typeface="Segoe UI"/>
              </a:defRPr>
            </a:pPr>
            <a:r>
              <a:rPr sz="850" b="0" i="0">
                <a:solidFill>
                  <a:srgbClr val="0F172A"/>
                </a:solidFill>
                <a:latin typeface="Segoe UI"/>
              </a:rPr>
              <a:t>• Eksplorasi perilaku pembelian antara segmen Korporasi, Home Office, dan Konsumen Langsung.</a:t>
            </a:r>
          </a:p>
          <a:p>
            <a:pPr algn="l">
              <a:spcBef>
                <a:spcPts val="0"/>
              </a:spcBef>
              <a:spcAft>
                <a:spcPts val="300"/>
              </a:spcAft>
              <a:defRPr sz="850" b="0" i="0">
                <a:solidFill>
                  <a:srgbClr val="0F172A"/>
                </a:solidFill>
                <a:latin typeface="Segoe UI"/>
              </a:defRPr>
            </a:pPr>
            <a:r>
              <a:rPr sz="850" b="0" i="0">
                <a:solidFill>
                  <a:srgbClr val="0F172A"/>
                </a:solidFill>
                <a:latin typeface="Segoe UI"/>
              </a:rPr>
              <a:t>• Menemukan segmen Korporat memiliki repeat order rate 38% lebih konsisten dengan margin stabil.</a:t>
            </a:r>
          </a:p>
          <a:p>
            <a:pPr algn="l">
              <a:spcBef>
                <a:spcPts val="0"/>
              </a:spcBef>
              <a:spcAft>
                <a:spcPts val="300"/>
              </a:spcAft>
              <a:defRPr sz="850" b="0" i="0">
                <a:solidFill>
                  <a:srgbClr val="0F172A"/>
                </a:solidFill>
                <a:latin typeface="Segoe UI"/>
              </a:defRPr>
            </a:pPr>
            <a:r>
              <a:rPr sz="850" b="0" i="0">
                <a:solidFill>
                  <a:srgbClr val="0F172A"/>
                </a:solidFill>
                <a:latin typeface="Segoe UI"/>
              </a:rPr>
              <a:t>• Rekomendasi: Perancangan skema dedicated account support dan tiering harga B2B berbasis volume.</a:t>
            </a:r>
          </a:p>
          <a:p>
            <a:pPr algn="l">
              <a:spcBef>
                <a:spcPts val="600"/>
              </a:spcBef>
              <a:spcAft>
                <a:spcPts val="300"/>
              </a:spcAft>
              <a:defRPr sz="900" b="1" i="0">
                <a:solidFill>
                  <a:srgbClr val="1E3A8A"/>
                </a:solidFill>
                <a:latin typeface="Segoe UI"/>
              </a:defRPr>
            </a:pPr>
            <a:r>
              <a:rPr sz="900" b="1" i="0">
                <a:solidFill>
                  <a:srgbClr val="1E3A8A"/>
                </a:solidFill>
                <a:latin typeface="Segoe UI"/>
              </a:rPr>
              <a:t>★ 38% Repeat Order Lebih Tinggi di B2B</a:t>
            </a:r>
          </a:p>
        </p:txBody>
      </p:sp>
      <p:sp>
        <p:nvSpPr>
          <p:cNvPr id="12" name="Rounded Rectangle 11"/>
          <p:cNvSpPr/>
          <p:nvPr/>
        </p:nvSpPr>
        <p:spPr>
          <a:xfrm>
            <a:off x="731520" y="5166360"/>
            <a:ext cx="10698480" cy="1234440"/>
          </a:xfrm>
          <a:prstGeom prst="roundRect">
            <a:avLst>
              <a:gd name="adj" fmla="val 15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257800"/>
            <a:ext cx="10241280" cy="1051560"/>
          </a:xfrm>
          <a:prstGeom prst="rect">
            <a:avLst/>
          </a:prstGeom>
          <a:noFill/>
        </p:spPr>
        <p:txBody>
          <a:bodyPr wrap="square" lIns="0" tIns="0">
            <a:spAutoFit/>
          </a:bodyPr>
          <a:lstStyle/>
          <a:p>
            <a:pPr algn="l">
              <a:spcBef>
                <a:spcPts val="0"/>
              </a:spcBef>
              <a:spcAft>
                <a:spcPts val="200"/>
              </a:spcAft>
              <a:defRPr sz="1050" b="1" i="0">
                <a:solidFill>
                  <a:srgbClr val="0F2437"/>
                </a:solidFill>
                <a:latin typeface="Segoe UI"/>
              </a:defRPr>
            </a:pPr>
            <a:r>
              <a:rPr sz="1050" b="1" i="0">
                <a:solidFill>
                  <a:srgbClr val="0F2437"/>
                </a:solidFill>
                <a:latin typeface="Segoe UI"/>
              </a:rPr>
              <a:t>DAMPAK STRATEGIS BISNIS YANG DIHASILKAN:</a:t>
            </a:r>
          </a:p>
          <a:p>
            <a:pPr algn="l">
              <a:spcBef>
                <a:spcPts val="0"/>
              </a:spcBef>
              <a:spcAft>
                <a:spcPts val="300"/>
              </a:spcAft>
              <a:defRPr sz="950" b="0" i="0">
                <a:solidFill>
                  <a:srgbClr val="475569"/>
                </a:solidFill>
                <a:latin typeface="Segoe UI"/>
              </a:defRPr>
            </a:pPr>
            <a:r>
              <a:rPr sz="950" b="0" i="0">
                <a:solidFill>
                  <a:srgbClr val="475569"/>
                </a:solidFill>
                <a:latin typeface="Segoe UI"/>
              </a:rPr>
              <a:t>Dashboard Tableau ini mentransformasi ratusan ribu data transaksi mentah menjadi insight aksi komersial nyata. Manajemen dapat langsung mendeteksi kebocoran margin, memangkas diskon kontraproduktif, serta mengoptimalkan jalur pengiriman antar-negara bagian untuk memulihkan profitabilitas e-commerce secara terukur.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CREDENTIALS &amp; HONORS</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Pendidikan, Prestasi Akademik &amp; Sertifikasi</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Fondasi akademis kuat berpredikat Magna Cum Laude dipadukan dengan sertifikasi industri.</a:t>
            </a:r>
          </a:p>
        </p:txBody>
      </p:sp>
      <p:sp>
        <p:nvSpPr>
          <p:cNvPr id="6" name="Rounded Rectangle 5"/>
          <p:cNvSpPr/>
          <p:nvPr/>
        </p:nvSpPr>
        <p:spPr>
          <a:xfrm>
            <a:off x="731520" y="1691640"/>
            <a:ext cx="5212080" cy="4709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4754880" cy="4389120"/>
          </a:xfrm>
          <a:prstGeom prst="rect">
            <a:avLst/>
          </a:prstGeom>
          <a:noFill/>
        </p:spPr>
        <p:txBody>
          <a:bodyPr wrap="square" lIns="0" tIns="0">
            <a:spAutoFit/>
          </a:bodyPr>
          <a:lstStyle/>
          <a:p>
            <a:pPr algn="l">
              <a:spcBef>
                <a:spcPts val="0"/>
              </a:spcBef>
              <a:spcAft>
                <a:spcPts val="200"/>
              </a:spcAft>
              <a:defRPr sz="1000" b="1" i="0">
                <a:solidFill>
                  <a:srgbClr val="2563EB"/>
                </a:solidFill>
                <a:latin typeface="Segoe UI"/>
              </a:defRPr>
            </a:pPr>
            <a:r>
              <a:rPr sz="1000" b="1" i="0">
                <a:solidFill>
                  <a:srgbClr val="2563EB"/>
                </a:solidFill>
                <a:latin typeface="Segoe UI"/>
              </a:rPr>
              <a:t>PENDIDIKAN FORMAL</a:t>
            </a:r>
          </a:p>
          <a:p>
            <a:pPr algn="l">
              <a:spcBef>
                <a:spcPts val="0"/>
              </a:spcBef>
              <a:spcAft>
                <a:spcPts val="100"/>
              </a:spcAft>
              <a:defRPr sz="1600" b="1" i="0">
                <a:solidFill>
                  <a:srgbClr val="0F2437"/>
                </a:solidFill>
                <a:latin typeface="Segoe UI"/>
              </a:defRPr>
            </a:pPr>
            <a:r>
              <a:rPr sz="1600" b="1" i="0">
                <a:solidFill>
                  <a:srgbClr val="0F2437"/>
                </a:solidFill>
                <a:latin typeface="Segoe UI"/>
              </a:rPr>
              <a:t>Universitas Budi Luhur Jakarta</a:t>
            </a:r>
          </a:p>
          <a:p>
            <a:pPr algn="l">
              <a:spcBef>
                <a:spcPts val="0"/>
              </a:spcBef>
              <a:spcAft>
                <a:spcPts val="600"/>
              </a:spcAft>
              <a:defRPr sz="1050" b="0" i="0">
                <a:solidFill>
                  <a:srgbClr val="475569"/>
                </a:solidFill>
                <a:latin typeface="Segoe UI"/>
              </a:defRPr>
            </a:pPr>
            <a:r>
              <a:rPr sz="1050" b="0" i="0">
                <a:solidFill>
                  <a:srgbClr val="475569"/>
                </a:solidFill>
                <a:latin typeface="Segoe UI"/>
              </a:rPr>
              <a:t>Sarjana Sistem Informasi (S.Kom.) — Peminatan Data Science</a:t>
            </a:r>
            <a:br/>
            <a:r>
              <a:rPr sz="1050" b="0" i="0">
                <a:solidFill>
                  <a:srgbClr val="475569"/>
                </a:solidFill>
                <a:latin typeface="Segoe UI"/>
              </a:rPr>
              <a:t>Periode Studi: 2022 – 2026</a:t>
            </a:r>
          </a:p>
        </p:txBody>
      </p:sp>
      <p:sp>
        <p:nvSpPr>
          <p:cNvPr id="9" name="Rounded Rectangle 8"/>
          <p:cNvSpPr/>
          <p:nvPr/>
        </p:nvSpPr>
        <p:spPr>
          <a:xfrm>
            <a:off x="960120" y="2926080"/>
            <a:ext cx="4754880" cy="384048"/>
          </a:xfrm>
          <a:prstGeom prst="roundRect">
            <a:avLst>
              <a:gd name="adj" fmla="val 15000"/>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37160" tIns="54864"/>
          <a:lstStyle/>
          <a:p>
            <a:pPr algn="l">
              <a:spcBef>
                <a:spcPts val="0"/>
              </a:spcBef>
              <a:spcAft>
                <a:spcPts val="300"/>
              </a:spcAft>
              <a:defRPr sz="1100" b="1" i="0">
                <a:solidFill>
                  <a:srgbClr val="B45309"/>
                </a:solidFill>
                <a:latin typeface="Segoe UI"/>
              </a:defRPr>
            </a:pPr>
            <a:r>
              <a:rPr sz="1100" b="1" i="0">
                <a:solidFill>
                  <a:srgbClr val="B45309"/>
                </a:solidFill>
                <a:latin typeface="Segoe UI"/>
              </a:rPr>
              <a:t>★ PREDIKAT: MAGNA CUM LAUDE (IPK 3.88 / 4.00)</a:t>
            </a:r>
          </a:p>
        </p:txBody>
      </p:sp>
      <p:sp>
        <p:nvSpPr>
          <p:cNvPr id="10" name="TextBox 9"/>
          <p:cNvSpPr txBox="1"/>
          <p:nvPr/>
        </p:nvSpPr>
        <p:spPr>
          <a:xfrm>
            <a:off x="960120" y="3474720"/>
            <a:ext cx="4754880" cy="2743200"/>
          </a:xfrm>
          <a:prstGeom prst="rect">
            <a:avLst/>
          </a:prstGeom>
          <a:noFill/>
        </p:spPr>
        <p:txBody>
          <a:bodyPr wrap="square" lIns="0" tIns="0">
            <a:spAutoFit/>
          </a:bodyPr>
          <a:lstStyle/>
          <a:p>
            <a:pPr algn="l">
              <a:spcBef>
                <a:spcPts val="0"/>
              </a:spcBef>
              <a:spcAft>
                <a:spcPts val="300"/>
              </a:spcAft>
              <a:defRPr sz="900" b="0" i="0">
                <a:solidFill>
                  <a:srgbClr val="0F172A"/>
                </a:solidFill>
                <a:latin typeface="Segoe UI"/>
              </a:defRPr>
            </a:pPr>
            <a:r>
              <a:rPr sz="900" b="0" i="0">
                <a:solidFill>
                  <a:srgbClr val="0F172A"/>
                </a:solidFill>
                <a:latin typeface="Segoe UI"/>
              </a:rPr>
              <a:t>• Fokus Kurikulum: Algoritma &amp; Pemrograman, Database Relasional, Data Mining, Machine Learning, Statistika Komputasi, Business Intelligence.</a:t>
            </a:r>
          </a:p>
          <a:p>
            <a:pPr algn="l">
              <a:spcBef>
                <a:spcPts val="0"/>
              </a:spcBef>
              <a:spcAft>
                <a:spcPts val="300"/>
              </a:spcAft>
              <a:defRPr sz="900" b="0" i="0">
                <a:solidFill>
                  <a:srgbClr val="0F172A"/>
                </a:solidFill>
                <a:latin typeface="Segoe UI"/>
              </a:defRPr>
            </a:pPr>
            <a:r>
              <a:rPr sz="900" b="0" i="0">
                <a:solidFill>
                  <a:srgbClr val="0F172A"/>
                </a:solidFill>
                <a:latin typeface="Segoe UI"/>
              </a:rPr>
              <a:t>• Publikasi Skripsi: Komparasi SVM, Naive Bayes dan KNN dalam Analisis Sentimen Respons Netizen YouTube Kasus Korupsi (Nilai Sidang: A).</a:t>
            </a:r>
          </a:p>
          <a:p>
            <a:pPr algn="l">
              <a:spcBef>
                <a:spcPts val="0"/>
              </a:spcBef>
              <a:spcAft>
                <a:spcPts val="300"/>
              </a:spcAft>
              <a:defRPr sz="900" b="0" i="0">
                <a:solidFill>
                  <a:srgbClr val="0F172A"/>
                </a:solidFill>
                <a:latin typeface="Segoe UI"/>
              </a:defRPr>
            </a:pPr>
            <a:r>
              <a:rPr sz="900" b="0" i="0">
                <a:solidFill>
                  <a:srgbClr val="0F172A"/>
                </a:solidFill>
                <a:latin typeface="Segoe UI"/>
              </a:rPr>
              <a:t>• Riset Terapan: Pengembangan arsitektur NLP presisi tinggi dan dashboard analitika bisnis interaktif.</a:t>
            </a:r>
          </a:p>
          <a:p>
            <a:br/>
            <a:pPr algn="l">
              <a:spcBef>
                <a:spcPts val="0"/>
              </a:spcBef>
              <a:spcAft>
                <a:spcPts val="300"/>
              </a:spcAft>
              <a:defRPr sz="950" b="1" i="0">
                <a:solidFill>
                  <a:srgbClr val="0F2437"/>
                </a:solidFill>
                <a:latin typeface="Segoe UI"/>
              </a:defRPr>
            </a:pPr>
            <a:r>
              <a:rPr sz="950" b="1" i="0">
                <a:solidFill>
                  <a:srgbClr val="0F2437"/>
                </a:solidFill>
                <a:latin typeface="Segoe UI"/>
              </a:rPr>
              <a:t>MATA KULIAH UNGGULAN:</a:t>
            </a:r>
          </a:p>
          <a:p>
            <a:pPr algn="l">
              <a:spcBef>
                <a:spcPts val="0"/>
              </a:spcBef>
              <a:spcAft>
                <a:spcPts val="200"/>
              </a:spcAft>
              <a:defRPr sz="850" b="0" i="1">
                <a:solidFill>
                  <a:srgbClr val="1E3A8A"/>
                </a:solidFill>
                <a:latin typeface="Segoe UI"/>
              </a:defRPr>
            </a:pPr>
            <a:r>
              <a:rPr sz="850" b="0" i="1">
                <a:solidFill>
                  <a:srgbClr val="1E3A8A"/>
                </a:solidFill>
                <a:latin typeface="Segoe UI"/>
              </a:rPr>
              <a:t>Data Mining • Machine Learning • Database Systems • Business Intelligence • Statistika Terapan • Metodologi Penelitian Data</a:t>
            </a:r>
          </a:p>
        </p:txBody>
      </p:sp>
      <p:sp>
        <p:nvSpPr>
          <p:cNvPr id="11" name="Rounded Rectangle 10"/>
          <p:cNvSpPr/>
          <p:nvPr/>
        </p:nvSpPr>
        <p:spPr>
          <a:xfrm>
            <a:off x="6217920" y="1691640"/>
            <a:ext cx="5212080" cy="4709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91640"/>
            <a:ext cx="52120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74519"/>
            <a:ext cx="4754880" cy="4389120"/>
          </a:xfrm>
          <a:prstGeom prst="rect">
            <a:avLst/>
          </a:prstGeom>
          <a:noFill/>
        </p:spPr>
        <p:txBody>
          <a:bodyPr wrap="square" lIns="0" tIns="0">
            <a:spAutoFit/>
          </a:bodyPr>
          <a:lstStyle/>
          <a:p>
            <a:pPr algn="l">
              <a:spcBef>
                <a:spcPts val="0"/>
              </a:spcBef>
              <a:spcAft>
                <a:spcPts val="400"/>
              </a:spcAft>
              <a:defRPr sz="1000" b="1" i="0">
                <a:solidFill>
                  <a:srgbClr val="2563EB"/>
                </a:solidFill>
                <a:latin typeface="Segoe UI"/>
              </a:defRPr>
            </a:pPr>
            <a:r>
              <a:rPr sz="1000" b="1" i="0">
                <a:solidFill>
                  <a:srgbClr val="2563EB"/>
                </a:solidFill>
                <a:latin typeface="Segoe UI"/>
              </a:rPr>
              <a:t>SERTIFIKASI &amp; KOMPETENSI INDUSTRI</a:t>
            </a:r>
          </a:p>
          <a:p>
            <a:pPr>
              <a:spcAft>
                <a:spcPts val="100"/>
              </a:spcAft>
              <a:defRPr sz="1000" b="1">
                <a:solidFill>
                  <a:srgbClr val="0F2437"/>
                </a:solidFill>
                <a:latin typeface="Segoe UI"/>
              </a:defRPr>
            </a:pPr>
            <a:r>
              <a:rPr sz="1000" b="1">
                <a:solidFill>
                  <a:srgbClr val="0F2437"/>
                </a:solidFill>
                <a:latin typeface="Segoe UI"/>
              </a:rPr>
              <a:t>✓ RevoU Data Analytics Specialization </a:t>
            </a:r>
            <a:r>
              <a:rPr sz="850" b="1">
                <a:solidFill>
                  <a:srgbClr val="059669"/>
                </a:solidFill>
                <a:latin typeface="Segoe UI"/>
              </a:rPr>
              <a:t>[Credential Verified]</a:t>
            </a:r>
          </a:p>
          <a:p>
            <a:pPr algn="l">
              <a:spcBef>
                <a:spcPts val="0"/>
              </a:spcBef>
              <a:spcAft>
                <a:spcPts val="600"/>
              </a:spcAft>
              <a:defRPr sz="850" b="0" i="0">
                <a:solidFill>
                  <a:srgbClr val="475569"/>
                </a:solidFill>
                <a:latin typeface="Segoe UI"/>
              </a:defRPr>
            </a:pPr>
            <a:r>
              <a:rPr sz="850" b="0" i="0">
                <a:solidFill>
                  <a:srgbClr val="475569"/>
                </a:solidFill>
                <a:latin typeface="Segoe UI"/>
              </a:rPr>
              <a:t>Business Analytics, SQL Querying, Tableau Storytelling, and Data-Driven Strategy formulation.</a:t>
            </a:r>
          </a:p>
          <a:p>
            <a:pPr>
              <a:spcAft>
                <a:spcPts val="100"/>
              </a:spcAft>
              <a:defRPr sz="1000" b="1">
                <a:solidFill>
                  <a:srgbClr val="0F2437"/>
                </a:solidFill>
                <a:latin typeface="Segoe UI"/>
              </a:defRPr>
            </a:pPr>
            <a:r>
              <a:rPr sz="1000" b="1">
                <a:solidFill>
                  <a:srgbClr val="0F2437"/>
                </a:solidFill>
                <a:latin typeface="Segoe UI"/>
              </a:rPr>
              <a:t>✓ DQLab: Python for Data Science &amp; Viz </a:t>
            </a:r>
            <a:r>
              <a:rPr sz="850" b="1">
                <a:solidFill>
                  <a:srgbClr val="059669"/>
                </a:solidFill>
                <a:latin typeface="Segoe UI"/>
              </a:rPr>
              <a:t>[Verified Certificate]</a:t>
            </a:r>
          </a:p>
          <a:p>
            <a:pPr algn="l">
              <a:spcBef>
                <a:spcPts val="0"/>
              </a:spcBef>
              <a:spcAft>
                <a:spcPts val="600"/>
              </a:spcAft>
              <a:defRPr sz="850" b="0" i="0">
                <a:solidFill>
                  <a:srgbClr val="475569"/>
                </a:solidFill>
                <a:latin typeface="Segoe UI"/>
              </a:defRPr>
            </a:pPr>
            <a:r>
              <a:rPr sz="850" b="0" i="0">
                <a:solidFill>
                  <a:srgbClr val="475569"/>
                </a:solidFill>
                <a:latin typeface="Segoe UI"/>
              </a:rPr>
              <a:t>Data wrangling with Pandas/NumPy, exploratory data analysis, and statistical visualization.</a:t>
            </a:r>
          </a:p>
          <a:p>
            <a:pPr>
              <a:spcAft>
                <a:spcPts val="100"/>
              </a:spcAft>
              <a:defRPr sz="1000" b="1">
                <a:solidFill>
                  <a:srgbClr val="0F2437"/>
                </a:solidFill>
                <a:latin typeface="Segoe UI"/>
              </a:defRPr>
            </a:pPr>
            <a:r>
              <a:rPr sz="1000" b="1">
                <a:solidFill>
                  <a:srgbClr val="0F2437"/>
                </a:solidFill>
                <a:latin typeface="Segoe UI"/>
              </a:rPr>
              <a:t>✓ Google Antigravity Agentic AI Mastery </a:t>
            </a:r>
            <a:r>
              <a:rPr sz="850" b="1">
                <a:solidFill>
                  <a:srgbClr val="059669"/>
                </a:solidFill>
                <a:latin typeface="Segoe UI"/>
              </a:rPr>
              <a:t>[Industry Applied]</a:t>
            </a:r>
          </a:p>
          <a:p>
            <a:pPr algn="l">
              <a:spcBef>
                <a:spcPts val="0"/>
              </a:spcBef>
              <a:spcAft>
                <a:spcPts val="600"/>
              </a:spcAft>
              <a:defRPr sz="850" b="0" i="0">
                <a:solidFill>
                  <a:srgbClr val="475569"/>
                </a:solidFill>
                <a:latin typeface="Segoe UI"/>
              </a:defRPr>
            </a:pPr>
            <a:r>
              <a:rPr sz="850" b="0" i="0">
                <a:solidFill>
                  <a:srgbClr val="475569"/>
                </a:solidFill>
                <a:latin typeface="Segoe UI"/>
              </a:rPr>
              <a:t>Autonomous multi-agent orchestration, LLM prompt engineering, and end-to-end automated pipelines.</a:t>
            </a:r>
          </a:p>
          <a:p>
            <a:pPr>
              <a:spcAft>
                <a:spcPts val="100"/>
              </a:spcAft>
              <a:defRPr sz="1000" b="1">
                <a:solidFill>
                  <a:srgbClr val="0F2437"/>
                </a:solidFill>
                <a:latin typeface="Segoe UI"/>
              </a:defRPr>
            </a:pPr>
            <a:r>
              <a:rPr sz="1000" b="1">
                <a:solidFill>
                  <a:srgbClr val="0F2437"/>
                </a:solidFill>
                <a:latin typeface="Segoe UI"/>
              </a:rPr>
              <a:t>✓ Database Relasional &amp; SQL Mastery </a:t>
            </a:r>
            <a:r>
              <a:rPr sz="850" b="1">
                <a:solidFill>
                  <a:srgbClr val="059669"/>
                </a:solidFill>
                <a:latin typeface="Segoe UI"/>
              </a:rPr>
              <a:t>[Hands-on Project]</a:t>
            </a:r>
          </a:p>
          <a:p>
            <a:pPr algn="l">
              <a:spcBef>
                <a:spcPts val="0"/>
              </a:spcBef>
              <a:spcAft>
                <a:spcPts val="600"/>
              </a:spcAft>
              <a:defRPr sz="850" b="0" i="0">
                <a:solidFill>
                  <a:srgbClr val="475569"/>
                </a:solidFill>
                <a:latin typeface="Segoe UI"/>
              </a:defRPr>
            </a:pPr>
            <a:r>
              <a:rPr sz="850" b="0" i="0">
                <a:solidFill>
                  <a:srgbClr val="475569"/>
                </a:solidFill>
                <a:latin typeface="Segoe UI"/>
              </a:rPr>
              <a:t>Skema relational database design, CTEs, Window Functions, and query optimization.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20624"/>
            <a:ext cx="3474720" cy="292608"/>
          </a:xfrm>
          <a:prstGeom prst="roundRect">
            <a:avLst>
              <a:gd name="adj" fmla="val 25000"/>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900" b="1">
                <a:solidFill>
                  <a:srgbClr val="2563EB"/>
                </a:solidFill>
                <a:latin typeface="Segoe UI"/>
              </a:defRPr>
            </a:pPr>
            <a:r>
              <a:rPr sz="900" b="1">
                <a:solidFill>
                  <a:srgbClr val="2563EB"/>
                </a:solidFill>
                <a:latin typeface="Segoe UI"/>
              </a:rPr>
              <a:t>LET'S COLLABORATE</a:t>
            </a:r>
          </a:p>
        </p:txBody>
      </p:sp>
      <p:sp>
        <p:nvSpPr>
          <p:cNvPr id="4" name="TextBox 3"/>
          <p:cNvSpPr txBox="1"/>
          <p:nvPr/>
        </p:nvSpPr>
        <p:spPr>
          <a:xfrm>
            <a:off x="731520" y="768096"/>
            <a:ext cx="10698480" cy="502920"/>
          </a:xfrm>
          <a:prstGeom prst="rect">
            <a:avLst/>
          </a:prstGeom>
          <a:noFill/>
        </p:spPr>
        <p:txBody>
          <a:bodyPr wrap="square" lIns="0" tIns="0" rIns="0" bIns="0">
            <a:spAutoFit/>
          </a:bodyPr>
          <a:lstStyle/>
          <a:p>
            <a:pPr algn="l">
              <a:spcBef>
                <a:spcPts val="0"/>
              </a:spcBef>
              <a:spcAft>
                <a:spcPts val="200"/>
              </a:spcAft>
              <a:defRPr sz="2100" b="1" i="0">
                <a:solidFill>
                  <a:srgbClr val="0F2437"/>
                </a:solidFill>
                <a:latin typeface="Segoe UI"/>
              </a:defRPr>
            </a:pPr>
            <a:r>
              <a:rPr sz="2100" b="1" i="0">
                <a:solidFill>
                  <a:srgbClr val="0F2437"/>
                </a:solidFill>
                <a:latin typeface="Segoe UI"/>
              </a:rPr>
              <a:t>Nilai Tambah, Target Peran &amp; Kontak Profesional</a:t>
            </a:r>
          </a:p>
        </p:txBody>
      </p:sp>
      <p:sp>
        <p:nvSpPr>
          <p:cNvPr id="5" name="TextBox 4"/>
          <p:cNvSpPr txBox="1"/>
          <p:nvPr/>
        </p:nvSpPr>
        <p:spPr>
          <a:xfrm>
            <a:off x="731520" y="1280160"/>
            <a:ext cx="10698480" cy="320040"/>
          </a:xfrm>
          <a:prstGeom prst="rect">
            <a:avLst/>
          </a:prstGeom>
          <a:noFill/>
        </p:spPr>
        <p:txBody>
          <a:bodyPr wrap="square" lIns="0" tIns="0" rIns="0" bIns="0">
            <a:spAutoFit/>
          </a:bodyPr>
          <a:lstStyle/>
          <a:p>
            <a:pPr algn="l">
              <a:spcBef>
                <a:spcPts val="0"/>
              </a:spcBef>
              <a:spcAft>
                <a:spcPts val="300"/>
              </a:spcAft>
              <a:defRPr sz="1150" b="0" i="0">
                <a:solidFill>
                  <a:srgbClr val="475569"/>
                </a:solidFill>
                <a:latin typeface="Segoe UI"/>
              </a:defRPr>
            </a:pPr>
            <a:r>
              <a:rPr sz="1150" b="0" i="0">
                <a:solidFill>
                  <a:srgbClr val="475569"/>
                </a:solidFill>
                <a:latin typeface="Segoe UI"/>
              </a:rPr>
              <a:t>Siap berkontribusi langsung memberikan dampak bisnis nyata melalui analitika data dan otomasi AI.</a:t>
            </a:r>
          </a:p>
        </p:txBody>
      </p:sp>
      <p:sp>
        <p:nvSpPr>
          <p:cNvPr id="6" name="Rounded Rectangle 5"/>
          <p:cNvSpPr/>
          <p:nvPr/>
        </p:nvSpPr>
        <p:spPr>
          <a:xfrm>
            <a:off x="731520" y="1691640"/>
            <a:ext cx="5486400" cy="47091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5029200" cy="4389120"/>
          </a:xfrm>
          <a:prstGeom prst="rect">
            <a:avLst/>
          </a:prstGeom>
          <a:noFill/>
        </p:spPr>
        <p:txBody>
          <a:bodyPr wrap="square" lIns="0" tIns="0">
            <a:spAutoFit/>
          </a:bodyPr>
          <a:lstStyle/>
          <a:p>
            <a:pPr algn="l">
              <a:spcBef>
                <a:spcPts val="0"/>
              </a:spcBef>
              <a:spcAft>
                <a:spcPts val="400"/>
              </a:spcAft>
              <a:defRPr sz="1050" b="1" i="0">
                <a:solidFill>
                  <a:srgbClr val="2563EB"/>
                </a:solidFill>
                <a:latin typeface="Segoe UI"/>
              </a:defRPr>
            </a:pPr>
            <a:r>
              <a:rPr sz="1050" b="1" i="0">
                <a:solidFill>
                  <a:srgbClr val="2563EB"/>
                </a:solidFill>
                <a:latin typeface="Segoe UI"/>
              </a:rPr>
              <a:t>APA YANG SAYA HADIRKAN BAGI TIM ANDA?</a:t>
            </a:r>
          </a:p>
          <a:p>
            <a:pPr>
              <a:spcAft>
                <a:spcPts val="200"/>
              </a:spcAft>
              <a:defRPr sz="950" b="1">
                <a:solidFill>
                  <a:srgbClr val="0F2437"/>
                </a:solidFill>
                <a:latin typeface="Segoe UI"/>
              </a:defRPr>
            </a:pPr>
            <a:r>
              <a:rPr sz="950" b="1">
                <a:solidFill>
                  <a:srgbClr val="0F2437"/>
                </a:solidFill>
                <a:latin typeface="Segoe UI"/>
              </a:rPr>
              <a:t>❖ Kombinasi Teknis &amp; Bisnis: </a:t>
            </a:r>
            <a:r>
              <a:rPr sz="850" b="0">
                <a:solidFill>
                  <a:srgbClr val="475569"/>
                </a:solidFill>
                <a:latin typeface="Segoe UI"/>
              </a:rPr>
              <a:t>Tidak hanya mengolah angka, tetapi mampu mengartikulasikan insight analitika menjadi rekomendasi keputusan strategis bagi manajemen.</a:t>
            </a:r>
          </a:p>
          <a:p>
            <a:pPr>
              <a:spcAft>
                <a:spcPts val="200"/>
              </a:spcAft>
              <a:defRPr sz="950" b="1">
                <a:solidFill>
                  <a:srgbClr val="0F2437"/>
                </a:solidFill>
                <a:latin typeface="Segoe UI"/>
              </a:defRPr>
            </a:pPr>
            <a:r>
              <a:rPr sz="950" b="1">
                <a:solidFill>
                  <a:srgbClr val="0F2437"/>
                </a:solidFill>
                <a:latin typeface="Segoe UI"/>
              </a:rPr>
              <a:t>❖ Riset Machine Learning Teruji: </a:t>
            </a:r>
            <a:r>
              <a:rPr sz="850" b="0">
                <a:solidFill>
                  <a:srgbClr val="475569"/>
                </a:solidFill>
                <a:latin typeface="Segoe UI"/>
              </a:rPr>
              <a:t>Terbukti mampu merancang pipeline ML NLP akurasi tinggi (88.4%) dengan metodologi evaluasi yang valid dan bebas bias.</a:t>
            </a:r>
          </a:p>
          <a:p>
            <a:pPr>
              <a:spcAft>
                <a:spcPts val="200"/>
              </a:spcAft>
              <a:defRPr sz="950" b="1">
                <a:solidFill>
                  <a:srgbClr val="0F2437"/>
                </a:solidFill>
                <a:latin typeface="Segoe UI"/>
              </a:defRPr>
            </a:pPr>
            <a:r>
              <a:rPr sz="950" b="1">
                <a:solidFill>
                  <a:srgbClr val="0F2437"/>
                </a:solidFill>
                <a:latin typeface="Segoe UI"/>
              </a:rPr>
              <a:t>❖ Adopsi Teknologi Agentic AI Terdepan: </a:t>
            </a:r>
            <a:r>
              <a:rPr sz="850" b="0">
                <a:solidFill>
                  <a:srgbClr val="475569"/>
                </a:solidFill>
                <a:latin typeface="Segoe UI"/>
              </a:rPr>
              <a:t>Membawa kapabilitas otomatisasi masa depan untuk menghemat biaya operasional dan mempercepat time-to-delivery proyek.</a:t>
            </a:r>
          </a:p>
          <a:p>
            <a:pPr algn="l">
              <a:spcBef>
                <a:spcPts val="600"/>
              </a:spcBef>
              <a:spcAft>
                <a:spcPts val="300"/>
              </a:spcAft>
              <a:defRPr sz="1000" b="1" i="0">
                <a:solidFill>
                  <a:srgbClr val="0F2437"/>
                </a:solidFill>
                <a:latin typeface="Segoe UI"/>
              </a:defRPr>
            </a:pPr>
            <a:r>
              <a:rPr sz="1000" b="1" i="0">
                <a:solidFill>
                  <a:srgbClr val="0F2437"/>
                </a:solidFill>
                <a:latin typeface="Segoe UI"/>
              </a:rPr>
              <a:t>TARGET PERAN &amp; KESIAPAN KERJA:</a:t>
            </a:r>
          </a:p>
          <a:p>
            <a:pPr>
              <a:spcAft>
                <a:spcPts val="100"/>
              </a:spcAft>
              <a:defRPr sz="900" b="1">
                <a:solidFill>
                  <a:srgbClr val="2563EB"/>
                </a:solidFill>
                <a:latin typeface="Segoe UI"/>
              </a:defRPr>
            </a:pPr>
            <a:r>
              <a:rPr sz="900" b="1">
                <a:solidFill>
                  <a:srgbClr val="2563EB"/>
                </a:solidFill>
                <a:latin typeface="Segoe UI"/>
              </a:rPr>
              <a:t>• Data Analyst: </a:t>
            </a:r>
            <a:r>
              <a:rPr sz="850" b="0">
                <a:solidFill>
                  <a:srgbClr val="475569"/>
                </a:solidFill>
                <a:latin typeface="Segoe UI"/>
              </a:rPr>
              <a:t>EDA, SQL complex queries, Tableau reporting, KPI metrics tracking.</a:t>
            </a:r>
          </a:p>
          <a:p>
            <a:pPr>
              <a:spcAft>
                <a:spcPts val="100"/>
              </a:spcAft>
              <a:defRPr sz="900" b="1">
                <a:solidFill>
                  <a:srgbClr val="2563EB"/>
                </a:solidFill>
                <a:latin typeface="Segoe UI"/>
              </a:defRPr>
            </a:pPr>
            <a:r>
              <a:rPr sz="900" b="1">
                <a:solidFill>
                  <a:srgbClr val="2563EB"/>
                </a:solidFill>
                <a:latin typeface="Segoe UI"/>
              </a:rPr>
              <a:t>• Business Intelligence Analyst: </a:t>
            </a:r>
            <a:r>
              <a:rPr sz="850" b="0">
                <a:solidFill>
                  <a:srgbClr val="475569"/>
                </a:solidFill>
                <a:latin typeface="Segoe UI"/>
              </a:rPr>
              <a:t>Dashboard architecture, data storytelling, executive insights.</a:t>
            </a:r>
          </a:p>
          <a:p>
            <a:pPr>
              <a:spcAft>
                <a:spcPts val="100"/>
              </a:spcAft>
              <a:defRPr sz="900" b="1">
                <a:solidFill>
                  <a:srgbClr val="2563EB"/>
                </a:solidFill>
                <a:latin typeface="Segoe UI"/>
              </a:defRPr>
            </a:pPr>
            <a:r>
              <a:rPr sz="900" b="1">
                <a:solidFill>
                  <a:srgbClr val="2563EB"/>
                </a:solidFill>
                <a:latin typeface="Segoe UI"/>
              </a:rPr>
              <a:t>• Junior Data Scientist: </a:t>
            </a:r>
            <a:r>
              <a:rPr sz="850" b="0">
                <a:solidFill>
                  <a:srgbClr val="475569"/>
                </a:solidFill>
                <a:latin typeface="Segoe UI"/>
              </a:rPr>
              <a:t>Predictive modeling, NLP pipelines, Scikit-Learn, model deployment.</a:t>
            </a:r>
          </a:p>
          <a:p>
            <a:pPr>
              <a:spcAft>
                <a:spcPts val="100"/>
              </a:spcAft>
              <a:defRPr sz="900" b="1">
                <a:solidFill>
                  <a:srgbClr val="2563EB"/>
                </a:solidFill>
                <a:latin typeface="Segoe UI"/>
              </a:defRPr>
            </a:pPr>
            <a:r>
              <a:rPr sz="900" b="1">
                <a:solidFill>
                  <a:srgbClr val="2563EB"/>
                </a:solidFill>
                <a:latin typeface="Segoe UI"/>
              </a:rPr>
              <a:t>• Agentic AI Specialist: </a:t>
            </a:r>
            <a:r>
              <a:rPr sz="850" b="0">
                <a:solidFill>
                  <a:srgbClr val="475569"/>
                </a:solidFill>
                <a:latin typeface="Segoe UI"/>
              </a:rPr>
              <a:t>Workflow orchestration, multi-agent frameworks, task automation.</a:t>
            </a:r>
          </a:p>
        </p:txBody>
      </p:sp>
      <p:sp>
        <p:nvSpPr>
          <p:cNvPr id="8" name="Rounded Rectangle 7"/>
          <p:cNvSpPr/>
          <p:nvPr/>
        </p:nvSpPr>
        <p:spPr>
          <a:xfrm>
            <a:off x="6492240" y="1691640"/>
            <a:ext cx="4937760" cy="4709160"/>
          </a:xfrm>
          <a:prstGeom prst="roundRect">
            <a:avLst>
              <a:gd name="adj" fmla="val 2000"/>
            </a:avLst>
          </a:prstGeom>
          <a:solidFill>
            <a:srgbClr val="0F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1874519"/>
            <a:ext cx="4480560" cy="4389120"/>
          </a:xfrm>
          <a:prstGeom prst="rect">
            <a:avLst/>
          </a:prstGeom>
          <a:noFill/>
        </p:spPr>
        <p:txBody>
          <a:bodyPr wrap="square" lIns="0" tIns="0">
            <a:spAutoFit/>
          </a:bodyPr>
          <a:lstStyle/>
          <a:p>
            <a:pPr algn="l">
              <a:spcBef>
                <a:spcPts val="0"/>
              </a:spcBef>
              <a:spcAft>
                <a:spcPts val="100"/>
              </a:spcAft>
              <a:defRPr sz="1200" b="1" i="0">
                <a:solidFill>
                  <a:srgbClr val="0EA5E9"/>
                </a:solidFill>
                <a:latin typeface="Segoe UI"/>
              </a:defRPr>
            </a:pPr>
            <a:r>
              <a:rPr sz="1200" b="1" i="0">
                <a:solidFill>
                  <a:srgbClr val="0EA5E9"/>
                </a:solidFill>
                <a:latin typeface="Segoe UI"/>
              </a:rPr>
              <a:t>HUBUNGI SAYA LANGSUNG</a:t>
            </a:r>
          </a:p>
          <a:p>
            <a:pPr algn="l">
              <a:spcBef>
                <a:spcPts val="0"/>
              </a:spcBef>
              <a:spcAft>
                <a:spcPts val="400"/>
              </a:spcAft>
              <a:defRPr sz="850" b="0" i="0">
                <a:solidFill>
                  <a:srgbClr val="E2E8F0"/>
                </a:solidFill>
                <a:latin typeface="Segoe UI"/>
              </a:defRPr>
            </a:pPr>
            <a:r>
              <a:rPr sz="850" b="0" i="0">
                <a:solidFill>
                  <a:srgbClr val="E2E8F0"/>
                </a:solidFill>
                <a:latin typeface="Segoe UI"/>
              </a:rPr>
              <a:t>Terbuka untuk peluang kerja Full-time, Kontrak, atau Kolaborasi Proyek Strategis.</a:t>
            </a:r>
          </a:p>
        </p:txBody>
      </p:sp>
      <p:sp>
        <p:nvSpPr>
          <p:cNvPr id="10" name="Rounded Rectangle 9"/>
          <p:cNvSpPr/>
          <p:nvPr/>
        </p:nvSpPr>
        <p:spPr>
          <a:xfrm>
            <a:off x="6720840" y="2450592"/>
            <a:ext cx="4480560" cy="320040"/>
          </a:xfrm>
          <a:prstGeom prst="roundRect">
            <a:avLst>
              <a:gd name="adj" fmla="val 20000"/>
            </a:avLst>
          </a:prstGeom>
          <a:solidFill>
            <a:srgbClr val="064E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09728" tIns="36576"/>
          <a:lstStyle/>
          <a:p>
            <a:pPr algn="l">
              <a:spcBef>
                <a:spcPts val="0"/>
              </a:spcBef>
              <a:spcAft>
                <a:spcPts val="300"/>
              </a:spcAft>
              <a:defRPr sz="850" b="1" i="0">
                <a:solidFill>
                  <a:srgbClr val="A7F3D0"/>
                </a:solidFill>
                <a:latin typeface="Segoe UI"/>
              </a:defRPr>
            </a:pPr>
            <a:r>
              <a:rPr sz="850" b="1" i="0">
                <a:solidFill>
                  <a:srgbClr val="A7F3D0"/>
                </a:solidFill>
                <a:latin typeface="Segoe UI"/>
              </a:rPr>
              <a:t>● TERSEDIA SEGERA (IMMEDIATE AVAILABILITY) — JAKARTA / HYBRID / REMOTE</a:t>
            </a:r>
          </a:p>
        </p:txBody>
      </p:sp>
      <p:sp>
        <p:nvSpPr>
          <p:cNvPr id="11" name="TextBox 10"/>
          <p:cNvSpPr txBox="1"/>
          <p:nvPr/>
        </p:nvSpPr>
        <p:spPr>
          <a:xfrm>
            <a:off x="6720840" y="2852928"/>
            <a:ext cx="4480560" cy="3383280"/>
          </a:xfrm>
          <a:prstGeom prst="rect">
            <a:avLst/>
          </a:prstGeom>
          <a:noFill/>
        </p:spPr>
        <p:txBody>
          <a:bodyPr wrap="square" lIns="0" tIns="0">
            <a:spAutoFit/>
          </a:bodyPr>
          <a:lstStyle/>
          <a:p>
            <a:pPr algn="l">
              <a:spcBef>
                <a:spcPts val="0"/>
              </a:spcBef>
              <a:spcAft>
                <a:spcPts val="0"/>
              </a:spcAft>
              <a:defRPr sz="750" b="1" i="0">
                <a:solidFill>
                  <a:srgbClr val="0EA5E9"/>
                </a:solidFill>
                <a:latin typeface="Segoe UI"/>
              </a:defRPr>
            </a:pPr>
            <a:r>
              <a:rPr sz="750" b="1" i="0">
                <a:solidFill>
                  <a:srgbClr val="0EA5E9"/>
                </a:solidFill>
                <a:latin typeface="Segoe UI"/>
              </a:rPr>
              <a:t>EMAIL UTAMA</a:t>
            </a:r>
          </a:p>
          <a:p>
            <a:pPr algn="l">
              <a:spcBef>
                <a:spcPts val="0"/>
              </a:spcBef>
              <a:spcAft>
                <a:spcPts val="400"/>
              </a:spcAft>
              <a:defRPr sz="900" b="0" i="0">
                <a:solidFill>
                  <a:srgbClr val="FFFFFF"/>
                </a:solidFill>
                <a:latin typeface="Segoe UI"/>
              </a:defRPr>
            </a:pPr>
            <a:r>
              <a:rPr sz="900" b="0" i="0">
                <a:solidFill>
                  <a:srgbClr val="FFFFFF"/>
                </a:solidFill>
                <a:latin typeface="Segoe UI"/>
              </a:rPr>
              <a:t>khairulraihan1204@gmail.com</a:t>
            </a:r>
          </a:p>
          <a:p>
            <a:pPr algn="l">
              <a:spcBef>
                <a:spcPts val="0"/>
              </a:spcBef>
              <a:spcAft>
                <a:spcPts val="0"/>
              </a:spcAft>
              <a:defRPr sz="750" b="1" i="0">
                <a:solidFill>
                  <a:srgbClr val="0EA5E9"/>
                </a:solidFill>
                <a:latin typeface="Segoe UI"/>
              </a:defRPr>
            </a:pPr>
            <a:r>
              <a:rPr sz="750" b="1" i="0">
                <a:solidFill>
                  <a:srgbClr val="0EA5E9"/>
                </a:solidFill>
                <a:latin typeface="Segoe UI"/>
              </a:rPr>
              <a:t>WHATSAPP / SELULER</a:t>
            </a:r>
          </a:p>
          <a:p>
            <a:pPr algn="l">
              <a:spcBef>
                <a:spcPts val="0"/>
              </a:spcBef>
              <a:spcAft>
                <a:spcPts val="400"/>
              </a:spcAft>
              <a:defRPr sz="900" b="0" i="0">
                <a:solidFill>
                  <a:srgbClr val="FFFFFF"/>
                </a:solidFill>
                <a:latin typeface="Segoe UI"/>
              </a:defRPr>
            </a:pPr>
            <a:r>
              <a:rPr sz="900" b="0" i="0">
                <a:solidFill>
                  <a:srgbClr val="FFFFFF"/>
                </a:solidFill>
                <a:latin typeface="Segoe UI"/>
              </a:rPr>
              <a:t>+62 822-1081-3652</a:t>
            </a:r>
          </a:p>
          <a:p>
            <a:pPr algn="l">
              <a:spcBef>
                <a:spcPts val="0"/>
              </a:spcBef>
              <a:spcAft>
                <a:spcPts val="0"/>
              </a:spcAft>
              <a:defRPr sz="750" b="1" i="0">
                <a:solidFill>
                  <a:srgbClr val="0EA5E9"/>
                </a:solidFill>
                <a:latin typeface="Segoe UI"/>
              </a:defRPr>
            </a:pPr>
            <a:r>
              <a:rPr sz="750" b="1" i="0">
                <a:solidFill>
                  <a:srgbClr val="0EA5E9"/>
                </a:solidFill>
                <a:latin typeface="Segoe UI"/>
              </a:rPr>
              <a:t>PROFIL LINKEDIN</a:t>
            </a:r>
          </a:p>
          <a:p>
            <a:pPr algn="l">
              <a:spcBef>
                <a:spcPts val="0"/>
              </a:spcBef>
              <a:spcAft>
                <a:spcPts val="400"/>
              </a:spcAft>
              <a:defRPr sz="900" b="0" i="0">
                <a:solidFill>
                  <a:srgbClr val="FFFFFF"/>
                </a:solidFill>
                <a:latin typeface="Segoe UI"/>
              </a:defRPr>
            </a:pPr>
            <a:r>
              <a:rPr sz="900" b="0" i="0">
                <a:solidFill>
                  <a:srgbClr val="FFFFFF"/>
                </a:solidFill>
                <a:latin typeface="Segoe UI"/>
              </a:rPr>
              <a:t>linkedin.com/in/khairulraihan</a:t>
            </a:r>
          </a:p>
          <a:p>
            <a:pPr algn="l">
              <a:spcBef>
                <a:spcPts val="0"/>
              </a:spcBef>
              <a:spcAft>
                <a:spcPts val="0"/>
              </a:spcAft>
              <a:defRPr sz="750" b="1" i="0">
                <a:solidFill>
                  <a:srgbClr val="0EA5E9"/>
                </a:solidFill>
                <a:latin typeface="Segoe UI"/>
              </a:defRPr>
            </a:pPr>
            <a:r>
              <a:rPr sz="750" b="1" i="0">
                <a:solidFill>
                  <a:srgbClr val="0EA5E9"/>
                </a:solidFill>
                <a:latin typeface="Segoe UI"/>
              </a:rPr>
              <a:t>REPOSITORI GITHUB</a:t>
            </a:r>
          </a:p>
          <a:p>
            <a:pPr algn="l">
              <a:spcBef>
                <a:spcPts val="0"/>
              </a:spcBef>
              <a:spcAft>
                <a:spcPts val="400"/>
              </a:spcAft>
              <a:defRPr sz="900" b="0" i="0">
                <a:solidFill>
                  <a:srgbClr val="FFFFFF"/>
                </a:solidFill>
                <a:latin typeface="Segoe UI"/>
              </a:defRPr>
            </a:pPr>
            <a:r>
              <a:rPr sz="900" b="0" i="0">
                <a:solidFill>
                  <a:srgbClr val="FFFFFF"/>
                </a:solidFill>
                <a:latin typeface="Segoe UI"/>
              </a:rPr>
              <a:t>github.com/KhairulRaihan</a:t>
            </a:r>
          </a:p>
          <a:p>
            <a:pPr algn="l">
              <a:spcBef>
                <a:spcPts val="0"/>
              </a:spcBef>
              <a:spcAft>
                <a:spcPts val="0"/>
              </a:spcAft>
              <a:defRPr sz="750" b="1" i="0">
                <a:solidFill>
                  <a:srgbClr val="0EA5E9"/>
                </a:solidFill>
                <a:latin typeface="Segoe UI"/>
              </a:defRPr>
            </a:pPr>
            <a:r>
              <a:rPr sz="750" b="1" i="0">
                <a:solidFill>
                  <a:srgbClr val="0EA5E9"/>
                </a:solidFill>
                <a:latin typeface="Segoe UI"/>
              </a:rPr>
              <a:t>WEB PORTOFOLIO</a:t>
            </a:r>
          </a:p>
          <a:p>
            <a:pPr algn="l">
              <a:spcBef>
                <a:spcPts val="0"/>
              </a:spcBef>
              <a:spcAft>
                <a:spcPts val="400"/>
              </a:spcAft>
              <a:defRPr sz="900" b="0" i="0">
                <a:solidFill>
                  <a:srgbClr val="FFFFFF"/>
                </a:solidFill>
                <a:latin typeface="Segoe UI"/>
              </a:defRPr>
            </a:pPr>
            <a:r>
              <a:rPr sz="900" b="0" i="0">
                <a:solidFill>
                  <a:srgbClr val="FFFFFF"/>
                </a:solidFill>
                <a:latin typeface="Segoe UI"/>
              </a:rPr>
              <a:t>khairulraihan.github.io</a:t>
            </a:r>
          </a:p>
          <a:p>
            <a:pPr algn="l">
              <a:spcBef>
                <a:spcPts val="0"/>
              </a:spcBef>
              <a:spcAft>
                <a:spcPts val="0"/>
              </a:spcAft>
              <a:defRPr sz="750" b="1" i="0">
                <a:solidFill>
                  <a:srgbClr val="0EA5E9"/>
                </a:solidFill>
                <a:latin typeface="Segoe UI"/>
              </a:defRPr>
            </a:pPr>
            <a:r>
              <a:rPr sz="750" b="1" i="0">
                <a:solidFill>
                  <a:srgbClr val="0EA5E9"/>
                </a:solidFill>
                <a:latin typeface="Segoe UI"/>
              </a:rPr>
              <a:t>BAHASA &amp; LOKASI</a:t>
            </a:r>
          </a:p>
          <a:p>
            <a:pPr algn="l">
              <a:spcBef>
                <a:spcPts val="0"/>
              </a:spcBef>
              <a:spcAft>
                <a:spcPts val="400"/>
              </a:spcAft>
              <a:defRPr sz="900" b="0" i="0">
                <a:solidFill>
                  <a:srgbClr val="FFFFFF"/>
                </a:solidFill>
                <a:latin typeface="Segoe UI"/>
              </a:defRPr>
            </a:pPr>
            <a:r>
              <a:rPr sz="900" b="0" i="0">
                <a:solidFill>
                  <a:srgbClr val="FFFFFF"/>
                </a:solidFill>
                <a:latin typeface="Segoe UI"/>
              </a:rPr>
              <a:t>Indonesia (Native), English (Professional) | Jakarta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